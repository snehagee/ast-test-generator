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ba83b4c-9ef5-c788-0f74-d71aa1611ce8}">
          <p14:sldIdLst>
            <p14:sldId id="256"/>
            <p14:sldId id="257"/>
            <p14:sldId id="258"/>
          </p14:sldIdLst>
        </p14:section>
        <p14:section name="Completion and demo" id="{11f0c78b-ee48-bbed-4ee3-ae2a97de066e}">
          <p14:sldIdLst>
            <p14:sldId id="259"/>
            <p14:sldId id="260"/>
            <p14:sldId id="261"/>
            <p14:sldId id="262"/>
            <p14:sldId id="263"/>
            <p14:sldId id="264"/>
          </p14:sldIdLst>
        </p14:section>
        <p14:section name="Individual contribution" id="{c065227d-f50f-eabd-f48f-de68a169260d}">
          <p14:sldIdLst>
            <p14:sldId id="265"/>
            <p14:sldId id="266"/>
          </p14:sldIdLst>
        </p14:section>
        <p14:section name="Project outcome" id="{1180d2f3-3cab-bbad-c803-4ea5b542b0ea}">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BranchLab reads a program's syntax tree, finds the conditions that decide each branch, and generates and runs tests aimed at the boundary of every condition, for C, Java and Python. At Review III the project is complete, deployed online, and written up as a research manuscript.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III is marked on three parts, and this talk follows them. First, completion and a working demo: every objective is done, and the tool runs live online. Second, my individual contribution and technical understanding: what I built and the design decisions behind it. Third, the project outcome: a research manuscript with a full evaluation, which carries the most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Bugs cluster at the edge of conditions, and random inputs almost never land on that edge. BranchLab parses the program, finds each comparison like age &gt;= 18, and generates the boundary values 17, 18 and 19. A read map delivers each value to the input read it belongs to, along that test's own path. For C and Java, probes inserted into the source measure branch and statement coverage. No constraint solver, no search, no language model: generation takes milliseconds and every test traces back to one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objectives from Review I. All five are complete. The one item Review II listed as in progress, a wider evaluation, is now done too: the benchmark grew from 9 to 15 programs. The project goes beyond the plan with Java and Python support, a web interface, and a public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changed since Review II. The benchmark grew to 15 programs, adding six common lab exercises; three of them were chosen because they contain conditions the tool cannot target, so the study shows the method's limits as well as its strengths. The comparison now has a statistical test. The tool is deployed: a Docker image with GCC and a JDK runs on Render, so anyone can use it from a browser. And the work is written up as a research manuscript.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branchlab-ggon.onrender.com two minutes early, since the free server sleeps when idle. Run 1: the Python starter shows tests 17, 18 and 19 and full coverage. Run 2: paste the C bank program; every menu option runs, and the coverage tab shows what was missed and why. Run 3: set the maximum tests to 1 on nested_login.py to show a verified and a not-reached suggestion. Run 4: the triangle benchmark, to show an honest limit: the tool generates no targeted values for a + b &lt;= c. If the network fails, run it locally as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15 programs, with exactly as many tests on both sides: branch coverage 90.0% against 57.6%, statement coverage 93.4% against 70.1%, and boundary faults detected 91.0% against 14.1%. The fault-detection gap is the largest because covering a branch is not enough: a random suite can run both sides of age &gt;= 18 without ever testing 17, 18 or 19. Generation takes about 4 milliseconds per program; 153 mutants were used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program; squares are BranchLab, circles are random suites of the same size. A square to the right of its circle means BranchLab did better; where only a square shows, both scored the same. On branch coverage and fault detection it is never worse. The one place random wins is statement coverage on the electricity bill, explained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deliberately includes programs where the method fails. Triangle: a + b &lt;= c compares variables with each other, so both approaches tie at 50.0% branch coverage. Leap year: year % 400 == 0 has arithmetic in the condition. Electricity bill: the surcharge depends on bill, which is computed from the input; random wins on statements here, 93.0% against 89.5%. Bank: many branches need several actions in one run. Each of these points to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the only team member, so every part is my work: the analysis, generation, execution and coverage engine, the web interface, the evaluation, the deployment and the manuscript. The Git history records 49 commits from 6 to 28 October. The phases: first the Python AST parser and boundary generator; then Tree-sitter support for Java and C and the multi-language runner; then probes, the read map, statement coverage, the interface and the evaluation; and finally the benchmarks, deployment and manuscript. 252 automated tests check the tool, always against real outputs rather than reported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decisions I would expect questions on. Boundary values: off-by-one faults only show at the edge. The read map: programs read by position, so values must follow each test's path. Probes: compiled programs cannot be traced like Python, so the source is instrumented; outcomes are written immediately so they survive crashes. Compile once: compiling is the slow part. Pinning Tree-sitter 0.25.2: version 0.26.0 corrupted memory on large switch statements, which was reproduced and turned into a regression test. Equal test counts: the comparison with random isolates which values are chosen, not how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outcome is a research manuscript in IEEE conference format, titled BranchLab: Lightweight AST-Guided Boundary Test Generation for C, Java and Python. It has four contributions: the AST-guided generator, path-aware input delivery, probe-based coverage for compiled languages, and the empirical comparison on 15 programs with four research questions on coverage, fault detection, cost and limits. Every number in it comes from the reproducible evaluation script, and it reports threats to validity, including that the mutation operators match the faults the method targets. Next steps: review with my guide, then choose a venue and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then demo. Open https://branchlab-ggon.onrender.com two minutes before the review; the free server sleeps when idle and takes about a minute to wake. If the network fails, run it locally: python -m uvicorn api:app, and npm run dev in the frontend folder, then open localhost:5173.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F234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rtlCol="0"/>
          <a:lstStyle>
            <a:lvl1pPr indent="0" marL="0">
              <a:buNone/>
              <a:defRPr lang="en-US" sz="1300" b="1" spc="200" kern="0" dirty="0">
                <a:solidFill>
                  <a:srgbClr val="AAB6FF"/>
                </a:solidFill>
              </a:defRPr>
            </a:lvl1pPr>
          </a:lstStyle>
          <a:p>
            <a:pPr indent="0" marL="0">
              <a:buNone/>
            </a:pP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9AA0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ECEE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10728655" cy="411480"/>
          </a:xfrm>
          <a:prstGeom prst="rect">
            <a:avLst/>
          </a:prstGeom>
          <a:noFill/>
          <a:ln/>
        </p:spPr>
        <p:txBody>
          <a:bodyPr wrap="square" rtlCol="0"/>
          <a:lstStyle>
            <a:lvl1pPr indent="0" marL="0">
              <a:buNone/>
              <a:defRPr lang="en-US" sz="1600" b="1" spc="200" kern="0"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1828800"/>
            <a:ext cx="10728655" cy="1234440"/>
          </a:xfrm>
          <a:prstGeom prst="rect">
            <a:avLst/>
          </a:prstGeom>
          <a:noFill/>
          <a:ln/>
        </p:spPr>
        <p:txBody>
          <a:bodyPr wrap="square" rtlCol="0"/>
          <a:lstStyle>
            <a:lvl1pPr algn="l" indent="0" marL="0">
              <a:buNone/>
              <a:defRPr lang="en-US" sz="6600" b="1" dirty="0">
                <a:solidFill>
                  <a:schemeClr val="tx1"/>
                </a:solidFill>
              </a:defRPr>
            </a:lvl1pPr>
          </a:lstStyle>
          <a:p>
            <a:pPr algn="l" indent="0" marL="0">
              <a:buNone/>
            </a:pPr>
            <a:endParaRPr lang="en-US" sz="6600" dirty="0"/>
          </a:p>
        </p:txBody>
      </p:sp>
      <p:sp>
        <p:nvSpPr>
          <p:cNvPr id="4" name="Text 0"/>
          <p:cNvSpPr/>
          <p:nvPr>
            <p:ph idx="102" type="body" hasCustomPrompt="1"/>
          </p:nvPr>
        </p:nvSpPr>
        <p:spPr>
          <a:xfrm>
            <a:off x="731520" y="3154680"/>
            <a:ext cx="9601200" cy="960120"/>
          </a:xfrm>
          <a:prstGeom prst="rect">
            <a:avLst/>
          </a:prstGeom>
          <a:noFill/>
          <a:ln/>
        </p:spPr>
        <p:txBody>
          <a:bodyPr wrap="square" rtlCol="0"/>
          <a:lstStyle>
            <a:lvl1pPr indent="0" marL="0">
              <a:buNone/>
              <a:defRPr lang="en-US" sz="2600" dirty="0">
                <a:solidFill>
                  <a:schemeClr val="tx2"/>
                </a:solidFill>
              </a:defRPr>
            </a:lvl1pPr>
          </a:lstStyle>
          <a:p>
            <a:pPr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branchlab-ggon.onrender.com" TargetMode="External"/><Relationship Id="rId2" Type="http://schemas.openxmlformats.org/officeDocument/2006/relationships/hyperlink" Target="https://github.com/SnehaGEE/ast-test-generator" TargetMode="External"/><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10728655" cy="411480"/>
          </a:xfrm>
          <a:prstGeom prst="rect">
            <a:avLst/>
          </a:prstGeom>
          <a:noFill/>
          <a:ln/>
        </p:spPr>
        <p:txBody>
          <a:bodyPr wrap="square" lIns="0" tIns="0" rIns="0" bIns="0" rtlCol="0"/>
          <a:lstStyle/>
          <a:p>
            <a:pPr indent="0" marL="0">
              <a:buNone/>
            </a:pPr>
            <a:r>
              <a:rPr lang="en-US" sz="1600" b="1" spc="200" kern="0" dirty="0">
                <a:solidFill>
                  <a:schemeClr val="accent1"/>
                </a:solidFill>
              </a:rPr>
              <a:t>BCSE307P COMPILER DESIGN LAB · PROJECT REVIEW III</a:t>
            </a:r>
            <a:endParaRPr lang="en-US" sz="1600" dirty="0"/>
          </a:p>
        </p:txBody>
      </p:sp>
      <p:sp>
        <p:nvSpPr>
          <p:cNvPr id="3" name="Text 0"/>
          <p:cNvSpPr/>
          <p:nvPr>
            <p:ph idx="101" type="title" hasCustomPrompt="1"/>
          </p:nvPr>
        </p:nvSpPr>
        <p:spPr>
          <a:xfrm>
            <a:off x="731520" y="1828800"/>
            <a:ext cx="10728655" cy="1234440"/>
          </a:xfrm>
          <a:prstGeom prst="rect">
            <a:avLst/>
          </a:prstGeom>
          <a:noFill/>
          <a:ln/>
        </p:spPr>
        <p:txBody>
          <a:bodyPr wrap="square" lIns="0" tIns="0" rIns="0" bIns="0" rtlCol="0" anchor="t"/>
          <a:lstStyle/>
          <a:p>
            <a:pPr algn="l" indent="0" marL="0">
              <a:buNone/>
            </a:pPr>
            <a:r>
              <a:rPr lang="en-US" sz="6600" b="1" dirty="0">
                <a:solidFill>
                  <a:schemeClr val="tx1"/>
                </a:solidFill>
              </a:rPr>
              <a:t>BranchLab</a:t>
            </a:r>
            <a:endParaRPr lang="en-US" sz="6600" dirty="0"/>
          </a:p>
        </p:txBody>
      </p:sp>
      <p:sp>
        <p:nvSpPr>
          <p:cNvPr id="4" name="Text 0"/>
          <p:cNvSpPr/>
          <p:nvPr>
            <p:ph idx="102" type="body" hasCustomPrompt="1"/>
          </p:nvPr>
        </p:nvSpPr>
        <p:spPr>
          <a:xfrm>
            <a:off x="731520" y="3154680"/>
            <a:ext cx="9601200" cy="960120"/>
          </a:xfrm>
          <a:prstGeom prst="rect">
            <a:avLst/>
          </a:prstGeom>
          <a:noFill/>
          <a:ln/>
        </p:spPr>
        <p:txBody>
          <a:bodyPr wrap="square" lIns="0" tIns="0" rIns="0" bIns="0" rtlCol="0" anchor="t"/>
          <a:lstStyle/>
          <a:p>
            <a:pPr indent="0" marL="0">
              <a:buNone/>
            </a:pPr>
            <a:r>
              <a:rPr lang="en-US" sz="2600" dirty="0">
                <a:solidFill>
                  <a:schemeClr val="tx2"/>
                </a:solidFill>
              </a:rPr>
              <a:t>Lightweight AST-Guided Boundary Test Generation for C, Java and Python</a:t>
            </a:r>
            <a:endParaRPr lang="en-US" sz="2600" dirty="0"/>
          </a:p>
        </p:txBody>
      </p:sp>
      <p:sp>
        <p:nvSpPr>
          <p:cNvPr id="5" name="pill-1"/>
          <p:cNvSpPr/>
          <p:nvPr/>
        </p:nvSpPr>
        <p:spPr>
          <a:xfrm>
            <a:off x="731520" y="4343400"/>
            <a:ext cx="1463040" cy="384048"/>
          </a:xfrm>
          <a:prstGeom prst="roundRect">
            <a:avLst>
              <a:gd name="adj" fmla="val 50000"/>
            </a:avLst>
          </a:prstGeom>
          <a:solidFill>
            <a:srgbClr val="DCF7E7"/>
          </a:solidFill>
          <a:ln/>
        </p:spPr>
      </p:sp>
      <p:sp>
        <p:nvSpPr>
          <p:cNvPr id="6" name="text-2"/>
          <p:cNvSpPr txBox="1"/>
          <p:nvPr/>
        </p:nvSpPr>
        <p:spPr>
          <a:xfrm>
            <a:off x="731520" y="4343400"/>
            <a:ext cx="1463040" cy="384048"/>
          </a:xfrm>
          <a:prstGeom prst="rect">
            <a:avLst/>
          </a:prstGeom>
          <a:noFill/>
          <a:ln/>
        </p:spPr>
        <p:txBody>
          <a:bodyPr wrap="square" lIns="0" tIns="0" rIns="0" bIns="0" rtlCol="0" anchor="ctr"/>
          <a:lstStyle/>
          <a:p>
            <a:pPr algn="ctr" indent="0" marL="0">
              <a:buNone/>
            </a:pPr>
            <a:r>
              <a:rPr lang="en-US" sz="1400" b="1" dirty="0">
                <a:solidFill>
                  <a:srgbClr val="19673F"/>
                </a:solidFill>
              </a:rPr>
              <a:t>Complete</a:t>
            </a:r>
            <a:endParaRPr lang="en-US" sz="1400" dirty="0"/>
          </a:p>
        </p:txBody>
      </p:sp>
      <p:sp>
        <p:nvSpPr>
          <p:cNvPr id="7" name="pill-3"/>
          <p:cNvSpPr/>
          <p:nvPr/>
        </p:nvSpPr>
        <p:spPr>
          <a:xfrm>
            <a:off x="2331720" y="4343400"/>
            <a:ext cx="1600200" cy="384048"/>
          </a:xfrm>
          <a:prstGeom prst="roundRect">
            <a:avLst>
              <a:gd name="adj" fmla="val 50000"/>
            </a:avLst>
          </a:prstGeom>
          <a:solidFill>
            <a:srgbClr val="E6EBFF"/>
          </a:solidFill>
          <a:ln/>
        </p:spPr>
      </p:sp>
      <p:sp>
        <p:nvSpPr>
          <p:cNvPr id="8" name="text-4"/>
          <p:cNvSpPr txBox="1"/>
          <p:nvPr/>
        </p:nvSpPr>
        <p:spPr>
          <a:xfrm>
            <a:off x="2331720" y="4343400"/>
            <a:ext cx="1600200" cy="384048"/>
          </a:xfrm>
          <a:prstGeom prst="rect">
            <a:avLst/>
          </a:prstGeom>
          <a:noFill/>
          <a:ln/>
        </p:spPr>
        <p:txBody>
          <a:bodyPr wrap="square" lIns="0" tIns="0" rIns="0" bIns="0" rtlCol="0" anchor="ctr"/>
          <a:lstStyle/>
          <a:p>
            <a:pPr algn="ctr" indent="0" marL="0">
              <a:buNone/>
            </a:pPr>
            <a:r>
              <a:rPr lang="en-US" sz="1400" b="1" dirty="0">
                <a:solidFill>
                  <a:srgbClr val="3B3F9E"/>
                </a:solidFill>
              </a:rPr>
              <a:t>Live online</a:t>
            </a:r>
            <a:endParaRPr lang="en-US" sz="1400" dirty="0"/>
          </a:p>
        </p:txBody>
      </p:sp>
      <p:sp>
        <p:nvSpPr>
          <p:cNvPr id="9" name="pill-5"/>
          <p:cNvSpPr/>
          <p:nvPr/>
        </p:nvSpPr>
        <p:spPr>
          <a:xfrm>
            <a:off x="4069080" y="4343400"/>
            <a:ext cx="1645920" cy="384048"/>
          </a:xfrm>
          <a:prstGeom prst="roundRect">
            <a:avLst>
              <a:gd name="adj" fmla="val 50000"/>
            </a:avLst>
          </a:prstGeom>
          <a:solidFill>
            <a:srgbClr val="EFE9FF"/>
          </a:solidFill>
          <a:ln/>
        </p:spPr>
      </p:sp>
      <p:sp>
        <p:nvSpPr>
          <p:cNvPr id="10" name="text-6"/>
          <p:cNvSpPr txBox="1"/>
          <p:nvPr/>
        </p:nvSpPr>
        <p:spPr>
          <a:xfrm>
            <a:off x="4069080" y="4343400"/>
            <a:ext cx="1645920" cy="384048"/>
          </a:xfrm>
          <a:prstGeom prst="rect">
            <a:avLst/>
          </a:prstGeom>
          <a:noFill/>
          <a:ln/>
        </p:spPr>
        <p:txBody>
          <a:bodyPr wrap="square" lIns="0" tIns="0" rIns="0" bIns="0" rtlCol="0" anchor="ctr"/>
          <a:lstStyle/>
          <a:p>
            <a:pPr algn="ctr" indent="0" marL="0">
              <a:buNone/>
            </a:pPr>
            <a:r>
              <a:rPr lang="en-US" sz="1400" b="1" dirty="0">
                <a:solidFill>
                  <a:srgbClr val="5B2FAE"/>
                </a:solidFill>
              </a:rPr>
              <a:t>Manuscript</a:t>
            </a:r>
            <a:endParaRPr lang="en-US" sz="1400" dirty="0"/>
          </a:p>
        </p:txBody>
      </p:sp>
      <p:sp>
        <p:nvSpPr>
          <p:cNvPr id="11" name="text-7"/>
          <p:cNvSpPr txBox="1"/>
          <p:nvPr/>
        </p:nvSpPr>
        <p:spPr>
          <a:xfrm>
            <a:off x="731520" y="5669280"/>
            <a:ext cx="9144000" cy="411480"/>
          </a:xfrm>
          <a:prstGeom prst="rect">
            <a:avLst/>
          </a:prstGeom>
          <a:noFill/>
          <a:ln/>
        </p:spPr>
        <p:txBody>
          <a:bodyPr wrap="square" lIns="0" tIns="0" rIns="0" bIns="0" rtlCol="0" anchor="t"/>
          <a:lstStyle/>
          <a:p>
            <a:pPr indent="0" marL="0">
              <a:buNone/>
            </a:pPr>
            <a:r>
              <a:rPr lang="en-US" sz="1800" dirty="0">
                <a:solidFill>
                  <a:schemeClr val="tx2"/>
                </a:solidFill>
              </a:rPr>
              <a:t>Sneha Geevargis  ·  24BCB0149  ·  Vellore Institute of Technology</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REVIEW III</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Three things to show today</a:t>
            </a:r>
            <a:endParaRPr lang="en-US" sz="3400" dirty="0"/>
          </a:p>
        </p:txBody>
      </p:sp>
      <p:sp>
        <p:nvSpPr>
          <p:cNvPr id="5" name="card-8"/>
          <p:cNvSpPr/>
          <p:nvPr/>
        </p:nvSpPr>
        <p:spPr>
          <a:xfrm>
            <a:off x="731520" y="2011680"/>
            <a:ext cx="3393338" cy="3108960"/>
          </a:xfrm>
          <a:prstGeom prst="roundRect">
            <a:avLst>
              <a:gd name="adj" fmla="val 3529"/>
            </a:avLst>
          </a:prstGeom>
          <a:solidFill>
            <a:srgbClr val="DCF7E7"/>
          </a:solidFill>
          <a:ln/>
        </p:spPr>
      </p:sp>
      <p:sp>
        <p:nvSpPr>
          <p:cNvPr id="6" name="text-9"/>
          <p:cNvSpPr txBox="1"/>
          <p:nvPr/>
        </p:nvSpPr>
        <p:spPr>
          <a:xfrm>
            <a:off x="1005840" y="2240280"/>
            <a:ext cx="2844698" cy="502920"/>
          </a:xfrm>
          <a:prstGeom prst="rect">
            <a:avLst/>
          </a:prstGeom>
          <a:noFill/>
          <a:ln/>
        </p:spPr>
        <p:txBody>
          <a:bodyPr wrap="square" lIns="0" tIns="0" rIns="0" bIns="0" rtlCol="0" anchor="t"/>
          <a:lstStyle/>
          <a:p>
            <a:pPr indent="0" marL="0">
              <a:buNone/>
            </a:pPr>
            <a:r>
              <a:rPr lang="en-US" sz="2200" b="1" dirty="0">
                <a:solidFill>
                  <a:srgbClr val="19673F"/>
                </a:solidFill>
              </a:rPr>
              <a:t>Completion &amp; demo</a:t>
            </a:r>
            <a:endParaRPr lang="en-US" sz="2200" dirty="0"/>
          </a:p>
        </p:txBody>
      </p:sp>
      <p:sp>
        <p:nvSpPr>
          <p:cNvPr id="7" name="text-10"/>
          <p:cNvSpPr txBox="1"/>
          <p:nvPr/>
        </p:nvSpPr>
        <p:spPr>
          <a:xfrm>
            <a:off x="1005840" y="2788920"/>
            <a:ext cx="2844698" cy="2194560"/>
          </a:xfrm>
          <a:prstGeom prst="rect">
            <a:avLst/>
          </a:prstGeom>
          <a:noFill/>
          <a:ln/>
        </p:spPr>
        <p:txBody>
          <a:bodyPr wrap="square" lIns="0" tIns="0" rIns="0" bIns="0" rtlCol="0" anchor="t"/>
          <a:lstStyle/>
          <a:p>
            <a:pPr indent="0" marL="0">
              <a:buNone/>
            </a:pPr>
            <a:r>
              <a:rPr lang="en-US" sz="1800" dirty="0">
                <a:solidFill>
                  <a:srgbClr val="19673F"/>
                </a:solidFill>
              </a:rPr>
              <a:t>Every objective met, a wider evaluation, and the tool running live online.</a:t>
            </a:r>
            <a:endParaRPr lang="en-US" sz="1800" dirty="0"/>
          </a:p>
          <a:p>
            <a:pPr indent="0" marL="0">
              <a:buNone/>
            </a:pPr>
            <a:endParaRPr lang="en-US" sz="1800" dirty="0"/>
          </a:p>
          <a:p>
            <a:pPr indent="0" marL="0">
              <a:buNone/>
            </a:pPr>
            <a:r>
              <a:rPr lang="en-US" sz="1800" dirty="0">
                <a:solidFill>
                  <a:srgbClr val="19673F"/>
                </a:solidFill>
              </a:rPr>
              <a:t>Slides 4–9</a:t>
            </a:r>
            <a:endParaRPr lang="en-US" sz="1800" dirty="0"/>
          </a:p>
        </p:txBody>
      </p:sp>
      <p:sp>
        <p:nvSpPr>
          <p:cNvPr id="8" name="card-11"/>
          <p:cNvSpPr/>
          <p:nvPr/>
        </p:nvSpPr>
        <p:spPr>
          <a:xfrm>
            <a:off x="4399178" y="2011680"/>
            <a:ext cx="3393338" cy="3108960"/>
          </a:xfrm>
          <a:prstGeom prst="roundRect">
            <a:avLst>
              <a:gd name="adj" fmla="val 3529"/>
            </a:avLst>
          </a:prstGeom>
          <a:solidFill>
            <a:srgbClr val="E6EBFF"/>
          </a:solidFill>
          <a:ln/>
        </p:spPr>
      </p:sp>
      <p:sp>
        <p:nvSpPr>
          <p:cNvPr id="9" name="text-12"/>
          <p:cNvSpPr txBox="1"/>
          <p:nvPr/>
        </p:nvSpPr>
        <p:spPr>
          <a:xfrm>
            <a:off x="4673498" y="2240280"/>
            <a:ext cx="2844698" cy="502920"/>
          </a:xfrm>
          <a:prstGeom prst="rect">
            <a:avLst/>
          </a:prstGeom>
          <a:noFill/>
          <a:ln/>
        </p:spPr>
        <p:txBody>
          <a:bodyPr wrap="square" lIns="0" tIns="0" rIns="0" bIns="0" rtlCol="0" anchor="t"/>
          <a:lstStyle/>
          <a:p>
            <a:pPr indent="0" marL="0">
              <a:buNone/>
            </a:pPr>
            <a:r>
              <a:rPr lang="en-US" sz="2200" b="1" dirty="0">
                <a:solidFill>
                  <a:srgbClr val="3B3F9E"/>
                </a:solidFill>
              </a:rPr>
              <a:t>Individual contribution</a:t>
            </a:r>
            <a:endParaRPr lang="en-US" sz="2200" dirty="0"/>
          </a:p>
        </p:txBody>
      </p:sp>
      <p:sp>
        <p:nvSpPr>
          <p:cNvPr id="10" name="text-13"/>
          <p:cNvSpPr txBox="1"/>
          <p:nvPr/>
        </p:nvSpPr>
        <p:spPr>
          <a:xfrm>
            <a:off x="4673498" y="2788920"/>
            <a:ext cx="2844698" cy="2194560"/>
          </a:xfrm>
          <a:prstGeom prst="rect">
            <a:avLst/>
          </a:prstGeom>
          <a:noFill/>
          <a:ln/>
        </p:spPr>
        <p:txBody>
          <a:bodyPr wrap="square" lIns="0" tIns="0" rIns="0" bIns="0" rtlCol="0" anchor="t"/>
          <a:lstStyle/>
          <a:p>
            <a:pPr indent="0" marL="0">
              <a:buNone/>
            </a:pPr>
            <a:r>
              <a:rPr lang="en-US" sz="1800" dirty="0">
                <a:solidFill>
                  <a:srgbClr val="3B3F9E"/>
                </a:solidFill>
              </a:rPr>
              <a:t>What I built, when, and the design decisions I can explain.</a:t>
            </a:r>
            <a:endParaRPr lang="en-US" sz="1800" dirty="0"/>
          </a:p>
          <a:p>
            <a:pPr indent="0" marL="0">
              <a:buNone/>
            </a:pPr>
            <a:endParaRPr lang="en-US" sz="1800" dirty="0"/>
          </a:p>
          <a:p>
            <a:pPr indent="0" marL="0">
              <a:buNone/>
            </a:pPr>
            <a:r>
              <a:rPr lang="en-US" sz="1800" dirty="0">
                <a:solidFill>
                  <a:srgbClr val="3B3F9E"/>
                </a:solidFill>
              </a:rPr>
              <a:t>Slides 10–11</a:t>
            </a:r>
            <a:endParaRPr lang="en-US" sz="1800" dirty="0"/>
          </a:p>
        </p:txBody>
      </p:sp>
      <p:sp>
        <p:nvSpPr>
          <p:cNvPr id="11" name="card-14"/>
          <p:cNvSpPr/>
          <p:nvPr/>
        </p:nvSpPr>
        <p:spPr>
          <a:xfrm>
            <a:off x="8066837" y="2011680"/>
            <a:ext cx="3393338" cy="3108960"/>
          </a:xfrm>
          <a:prstGeom prst="roundRect">
            <a:avLst>
              <a:gd name="adj" fmla="val 3529"/>
            </a:avLst>
          </a:prstGeom>
          <a:solidFill>
            <a:srgbClr val="EFE9FF"/>
          </a:solidFill>
          <a:ln/>
        </p:spPr>
      </p:sp>
      <p:sp>
        <p:nvSpPr>
          <p:cNvPr id="12" name="text-15"/>
          <p:cNvSpPr txBox="1"/>
          <p:nvPr/>
        </p:nvSpPr>
        <p:spPr>
          <a:xfrm>
            <a:off x="8341157" y="2240280"/>
            <a:ext cx="2844698" cy="502920"/>
          </a:xfrm>
          <a:prstGeom prst="rect">
            <a:avLst/>
          </a:prstGeom>
          <a:noFill/>
          <a:ln/>
        </p:spPr>
        <p:txBody>
          <a:bodyPr wrap="square" lIns="0" tIns="0" rIns="0" bIns="0" rtlCol="0" anchor="t"/>
          <a:lstStyle/>
          <a:p>
            <a:pPr indent="0" marL="0">
              <a:buNone/>
            </a:pPr>
            <a:r>
              <a:rPr lang="en-US" sz="2200" b="1" dirty="0">
                <a:solidFill>
                  <a:srgbClr val="5B2FAE"/>
                </a:solidFill>
              </a:rPr>
              <a:t>Research manuscript</a:t>
            </a:r>
            <a:endParaRPr lang="en-US" sz="2200" dirty="0"/>
          </a:p>
        </p:txBody>
      </p:sp>
      <p:sp>
        <p:nvSpPr>
          <p:cNvPr id="13" name="text-16"/>
          <p:cNvSpPr txBox="1"/>
          <p:nvPr/>
        </p:nvSpPr>
        <p:spPr>
          <a:xfrm>
            <a:off x="8341157" y="2788920"/>
            <a:ext cx="2844698" cy="2194560"/>
          </a:xfrm>
          <a:prstGeom prst="rect">
            <a:avLst/>
          </a:prstGeom>
          <a:noFill/>
          <a:ln/>
        </p:spPr>
        <p:txBody>
          <a:bodyPr wrap="square" lIns="0" tIns="0" rIns="0" bIns="0" rtlCol="0" anchor="t"/>
          <a:lstStyle/>
          <a:p>
            <a:pPr indent="0" marL="0">
              <a:buNone/>
            </a:pPr>
            <a:r>
              <a:rPr lang="en-US" sz="1800" dirty="0">
                <a:solidFill>
                  <a:srgbClr val="5B2FAE"/>
                </a:solidFill>
              </a:rPr>
              <a:t>An IEEE-style paper: approach, 15-program evaluation, statistics and limits.</a:t>
            </a:r>
            <a:endParaRPr lang="en-US" sz="1800" dirty="0"/>
          </a:p>
          <a:p>
            <a:pPr indent="0" marL="0">
              <a:buNone/>
            </a:pPr>
            <a:endParaRPr lang="en-US" sz="1800" dirty="0"/>
          </a:p>
          <a:p>
            <a:pPr indent="0" marL="0">
              <a:buNone/>
            </a:pPr>
            <a:r>
              <a:rPr lang="en-US" sz="1800" dirty="0">
                <a:solidFill>
                  <a:srgbClr val="5B2FAE"/>
                </a:solidFill>
              </a:rPr>
              <a:t>Slide 12</a:t>
            </a:r>
            <a:endParaRPr lang="en-US" sz="18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RECAP</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Tests read straight from the syntax tree</a:t>
            </a:r>
            <a:endParaRPr lang="en-US" sz="3400" dirty="0"/>
          </a:p>
        </p:txBody>
      </p:sp>
      <p:sp>
        <p:nvSpPr>
          <p:cNvPr id="5" name="card-17"/>
          <p:cNvSpPr/>
          <p:nvPr/>
        </p:nvSpPr>
        <p:spPr>
          <a:xfrm>
            <a:off x="731520" y="2057400"/>
            <a:ext cx="1498549" cy="2011680"/>
          </a:xfrm>
          <a:prstGeom prst="roundRect">
            <a:avLst>
              <a:gd name="adj" fmla="val 7322"/>
            </a:avLst>
          </a:prstGeom>
          <a:solidFill>
            <a:srgbClr val="E6EBFF"/>
          </a:solidFill>
          <a:ln/>
        </p:spPr>
      </p:sp>
      <p:sp>
        <p:nvSpPr>
          <p:cNvPr id="6" name="text-18"/>
          <p:cNvSpPr txBox="1"/>
          <p:nvPr/>
        </p:nvSpPr>
        <p:spPr>
          <a:xfrm>
            <a:off x="896112" y="2240280"/>
            <a:ext cx="1169365" cy="411480"/>
          </a:xfrm>
          <a:prstGeom prst="rect">
            <a:avLst/>
          </a:prstGeom>
          <a:noFill/>
          <a:ln/>
        </p:spPr>
        <p:txBody>
          <a:bodyPr wrap="square" lIns="0" tIns="0" rIns="0" bIns="0" rtlCol="0" anchor="t"/>
          <a:lstStyle/>
          <a:p>
            <a:pPr indent="0" marL="0">
              <a:buNone/>
            </a:pPr>
            <a:r>
              <a:rPr lang="en-US" sz="2000" b="1" dirty="0">
                <a:solidFill>
                  <a:srgbClr val="3B3F9E"/>
                </a:solidFill>
              </a:rPr>
              <a:t>Parse</a:t>
            </a:r>
            <a:endParaRPr lang="en-US" sz="2000" dirty="0"/>
          </a:p>
        </p:txBody>
      </p:sp>
      <p:sp>
        <p:nvSpPr>
          <p:cNvPr id="7" name="text-19"/>
          <p:cNvSpPr txBox="1"/>
          <p:nvPr/>
        </p:nvSpPr>
        <p:spPr>
          <a:xfrm>
            <a:off x="896112" y="2697480"/>
            <a:ext cx="1169365" cy="640080"/>
          </a:xfrm>
          <a:prstGeom prst="rect">
            <a:avLst/>
          </a:prstGeom>
          <a:noFill/>
          <a:ln/>
        </p:spPr>
        <p:txBody>
          <a:bodyPr wrap="square" lIns="0" tIns="0" rIns="0" bIns="0" rtlCol="0" anchor="t"/>
          <a:lstStyle/>
          <a:p>
            <a:pPr indent="0" marL="0">
              <a:buNone/>
            </a:pPr>
            <a:r>
              <a:rPr lang="en-US" sz="1500" dirty="0">
                <a:solidFill>
                  <a:srgbClr val="3B3F9E"/>
                </a:solidFill>
              </a:rPr>
              <a:t>Source to AST</a:t>
            </a:r>
            <a:endParaRPr lang="en-US" sz="1500" dirty="0"/>
          </a:p>
        </p:txBody>
      </p:sp>
      <p:sp>
        <p:nvSpPr>
          <p:cNvPr id="8" name="text-20"/>
          <p:cNvSpPr txBox="1"/>
          <p:nvPr/>
        </p:nvSpPr>
        <p:spPr>
          <a:xfrm>
            <a:off x="896112" y="3429000"/>
            <a:ext cx="1169365" cy="4114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age &gt;= 18</a:t>
            </a:r>
            <a:endParaRPr lang="en-US" sz="1300" dirty="0"/>
          </a:p>
        </p:txBody>
      </p:sp>
      <p:sp>
        <p:nvSpPr>
          <p:cNvPr id="9" name="arrow-21"/>
          <p:cNvSpPr/>
          <p:nvPr/>
        </p:nvSpPr>
        <p:spPr>
          <a:xfrm>
            <a:off x="2230069" y="2926080"/>
            <a:ext cx="384048" cy="237744"/>
          </a:xfrm>
          <a:prstGeom prst="rightArrow">
            <a:avLst/>
          </a:prstGeom>
          <a:solidFill>
            <a:srgbClr val="AAB6FF"/>
          </a:solidFill>
          <a:ln/>
        </p:spPr>
      </p:sp>
      <p:sp>
        <p:nvSpPr>
          <p:cNvPr id="10" name="card-22"/>
          <p:cNvSpPr/>
          <p:nvPr/>
        </p:nvSpPr>
        <p:spPr>
          <a:xfrm>
            <a:off x="2577541" y="2057400"/>
            <a:ext cx="1498549" cy="2011680"/>
          </a:xfrm>
          <a:prstGeom prst="roundRect">
            <a:avLst>
              <a:gd name="adj" fmla="val 7322"/>
            </a:avLst>
          </a:prstGeom>
          <a:solidFill>
            <a:srgbClr val="E6EBFF"/>
          </a:solidFill>
          <a:ln/>
        </p:spPr>
      </p:sp>
      <p:sp>
        <p:nvSpPr>
          <p:cNvPr id="11" name="text-23"/>
          <p:cNvSpPr txBox="1"/>
          <p:nvPr/>
        </p:nvSpPr>
        <p:spPr>
          <a:xfrm>
            <a:off x="2742133" y="2240280"/>
            <a:ext cx="1169365" cy="411480"/>
          </a:xfrm>
          <a:prstGeom prst="rect">
            <a:avLst/>
          </a:prstGeom>
          <a:noFill/>
          <a:ln/>
        </p:spPr>
        <p:txBody>
          <a:bodyPr wrap="square" lIns="0" tIns="0" rIns="0" bIns="0" rtlCol="0" anchor="t"/>
          <a:lstStyle/>
          <a:p>
            <a:pPr indent="0" marL="0">
              <a:buNone/>
            </a:pPr>
            <a:r>
              <a:rPr lang="en-US" sz="2000" b="1" dirty="0">
                <a:solidFill>
                  <a:srgbClr val="3B3F9E"/>
                </a:solidFill>
              </a:rPr>
              <a:t>Analyze</a:t>
            </a:r>
            <a:endParaRPr lang="en-US" sz="2000" dirty="0"/>
          </a:p>
        </p:txBody>
      </p:sp>
      <p:sp>
        <p:nvSpPr>
          <p:cNvPr id="12" name="text-24"/>
          <p:cNvSpPr txBox="1"/>
          <p:nvPr/>
        </p:nvSpPr>
        <p:spPr>
          <a:xfrm>
            <a:off x="2742133" y="2697480"/>
            <a:ext cx="1169365" cy="640080"/>
          </a:xfrm>
          <a:prstGeom prst="rect">
            <a:avLst/>
          </a:prstGeom>
          <a:noFill/>
          <a:ln/>
        </p:spPr>
        <p:txBody>
          <a:bodyPr wrap="square" lIns="0" tIns="0" rIns="0" bIns="0" rtlCol="0" anchor="t"/>
          <a:lstStyle/>
          <a:p>
            <a:pPr indent="0" marL="0">
              <a:buNone/>
            </a:pPr>
            <a:r>
              <a:rPr lang="en-US" sz="1500" dirty="0">
                <a:solidFill>
                  <a:srgbClr val="3B3F9E"/>
                </a:solidFill>
              </a:rPr>
              <a:t>Find conditions</a:t>
            </a:r>
            <a:endParaRPr lang="en-US" sz="1500" dirty="0"/>
          </a:p>
        </p:txBody>
      </p:sp>
      <p:sp>
        <p:nvSpPr>
          <p:cNvPr id="13" name="text-25"/>
          <p:cNvSpPr txBox="1"/>
          <p:nvPr/>
        </p:nvSpPr>
        <p:spPr>
          <a:xfrm>
            <a:off x="2742133" y="3429000"/>
            <a:ext cx="1169365" cy="4114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(age,&gt;=,18)</a:t>
            </a:r>
            <a:endParaRPr lang="en-US" sz="1300" dirty="0"/>
          </a:p>
        </p:txBody>
      </p:sp>
      <p:sp>
        <p:nvSpPr>
          <p:cNvPr id="14" name="arrow-26"/>
          <p:cNvSpPr/>
          <p:nvPr/>
        </p:nvSpPr>
        <p:spPr>
          <a:xfrm>
            <a:off x="4076090" y="2926080"/>
            <a:ext cx="384048" cy="237744"/>
          </a:xfrm>
          <a:prstGeom prst="rightArrow">
            <a:avLst/>
          </a:prstGeom>
          <a:solidFill>
            <a:srgbClr val="AAB6FF"/>
          </a:solidFill>
          <a:ln/>
        </p:spPr>
      </p:sp>
      <p:sp>
        <p:nvSpPr>
          <p:cNvPr id="15" name="card-27"/>
          <p:cNvSpPr/>
          <p:nvPr/>
        </p:nvSpPr>
        <p:spPr>
          <a:xfrm>
            <a:off x="4423562" y="2057400"/>
            <a:ext cx="1498549" cy="2011680"/>
          </a:xfrm>
          <a:prstGeom prst="roundRect">
            <a:avLst>
              <a:gd name="adj" fmla="val 7322"/>
            </a:avLst>
          </a:prstGeom>
          <a:solidFill>
            <a:srgbClr val="EFE9FF"/>
          </a:solidFill>
          <a:ln/>
        </p:spPr>
      </p:sp>
      <p:sp>
        <p:nvSpPr>
          <p:cNvPr id="16" name="text-28"/>
          <p:cNvSpPr txBox="1"/>
          <p:nvPr/>
        </p:nvSpPr>
        <p:spPr>
          <a:xfrm>
            <a:off x="4588154" y="2240280"/>
            <a:ext cx="1169365" cy="411480"/>
          </a:xfrm>
          <a:prstGeom prst="rect">
            <a:avLst/>
          </a:prstGeom>
          <a:noFill/>
          <a:ln/>
        </p:spPr>
        <p:txBody>
          <a:bodyPr wrap="square" lIns="0" tIns="0" rIns="0" bIns="0" rtlCol="0" anchor="t"/>
          <a:lstStyle/>
          <a:p>
            <a:pPr indent="0" marL="0">
              <a:buNone/>
            </a:pPr>
            <a:r>
              <a:rPr lang="en-US" sz="2000" b="1" dirty="0">
                <a:solidFill>
                  <a:srgbClr val="5B2FAE"/>
                </a:solidFill>
              </a:rPr>
              <a:t>Generate</a:t>
            </a:r>
            <a:endParaRPr lang="en-US" sz="2000" dirty="0"/>
          </a:p>
        </p:txBody>
      </p:sp>
      <p:sp>
        <p:nvSpPr>
          <p:cNvPr id="17" name="text-29"/>
          <p:cNvSpPr txBox="1"/>
          <p:nvPr/>
        </p:nvSpPr>
        <p:spPr>
          <a:xfrm>
            <a:off x="4588154" y="2697480"/>
            <a:ext cx="1169365" cy="640080"/>
          </a:xfrm>
          <a:prstGeom prst="rect">
            <a:avLst/>
          </a:prstGeom>
          <a:noFill/>
          <a:ln/>
        </p:spPr>
        <p:txBody>
          <a:bodyPr wrap="square" lIns="0" tIns="0" rIns="0" bIns="0" rtlCol="0" anchor="t"/>
          <a:lstStyle/>
          <a:p>
            <a:pPr indent="0" marL="0">
              <a:buNone/>
            </a:pPr>
            <a:r>
              <a:rPr lang="en-US" sz="1500" dirty="0">
                <a:solidFill>
                  <a:srgbClr val="5B2FAE"/>
                </a:solidFill>
              </a:rPr>
              <a:t>Boundary values</a:t>
            </a:r>
            <a:endParaRPr lang="en-US" sz="1500" dirty="0"/>
          </a:p>
        </p:txBody>
      </p:sp>
      <p:sp>
        <p:nvSpPr>
          <p:cNvPr id="18" name="text-30"/>
          <p:cNvSpPr txBox="1"/>
          <p:nvPr/>
        </p:nvSpPr>
        <p:spPr>
          <a:xfrm>
            <a:off x="4588154" y="3429000"/>
            <a:ext cx="1169365" cy="4114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17, 18, 19</a:t>
            </a:r>
            <a:endParaRPr lang="en-US" sz="1300" dirty="0"/>
          </a:p>
        </p:txBody>
      </p:sp>
      <p:sp>
        <p:nvSpPr>
          <p:cNvPr id="19" name="arrow-31"/>
          <p:cNvSpPr/>
          <p:nvPr/>
        </p:nvSpPr>
        <p:spPr>
          <a:xfrm>
            <a:off x="5922112" y="2926080"/>
            <a:ext cx="384048" cy="237744"/>
          </a:xfrm>
          <a:prstGeom prst="rightArrow">
            <a:avLst/>
          </a:prstGeom>
          <a:solidFill>
            <a:srgbClr val="AAB6FF"/>
          </a:solidFill>
          <a:ln/>
        </p:spPr>
      </p:sp>
      <p:sp>
        <p:nvSpPr>
          <p:cNvPr id="20" name="card-32"/>
          <p:cNvSpPr/>
          <p:nvPr/>
        </p:nvSpPr>
        <p:spPr>
          <a:xfrm>
            <a:off x="6269584" y="2057400"/>
            <a:ext cx="1498549" cy="2011680"/>
          </a:xfrm>
          <a:prstGeom prst="roundRect">
            <a:avLst>
              <a:gd name="adj" fmla="val 7322"/>
            </a:avLst>
          </a:prstGeom>
          <a:solidFill>
            <a:srgbClr val="EFE9FF"/>
          </a:solidFill>
          <a:ln/>
        </p:spPr>
      </p:sp>
      <p:sp>
        <p:nvSpPr>
          <p:cNvPr id="21" name="text-33"/>
          <p:cNvSpPr txBox="1"/>
          <p:nvPr/>
        </p:nvSpPr>
        <p:spPr>
          <a:xfrm>
            <a:off x="6434176" y="2240280"/>
            <a:ext cx="1169365" cy="411480"/>
          </a:xfrm>
          <a:prstGeom prst="rect">
            <a:avLst/>
          </a:prstGeom>
          <a:noFill/>
          <a:ln/>
        </p:spPr>
        <p:txBody>
          <a:bodyPr wrap="square" lIns="0" tIns="0" rIns="0" bIns="0" rtlCol="0" anchor="t"/>
          <a:lstStyle/>
          <a:p>
            <a:pPr indent="0" marL="0">
              <a:buNone/>
            </a:pPr>
            <a:r>
              <a:rPr lang="en-US" sz="2000" b="1" dirty="0">
                <a:solidFill>
                  <a:srgbClr val="5B2FAE"/>
                </a:solidFill>
              </a:rPr>
              <a:t>Deliver</a:t>
            </a:r>
            <a:endParaRPr lang="en-US" sz="2000" dirty="0"/>
          </a:p>
        </p:txBody>
      </p:sp>
      <p:sp>
        <p:nvSpPr>
          <p:cNvPr id="22" name="text-34"/>
          <p:cNvSpPr txBox="1"/>
          <p:nvPr/>
        </p:nvSpPr>
        <p:spPr>
          <a:xfrm>
            <a:off x="6434176" y="2697480"/>
            <a:ext cx="1169365" cy="640080"/>
          </a:xfrm>
          <a:prstGeom prst="rect">
            <a:avLst/>
          </a:prstGeom>
          <a:noFill/>
          <a:ln/>
        </p:spPr>
        <p:txBody>
          <a:bodyPr wrap="square" lIns="0" tIns="0" rIns="0" bIns="0" rtlCol="0" anchor="t"/>
          <a:lstStyle/>
          <a:p>
            <a:pPr indent="0" marL="0">
              <a:buNone/>
            </a:pPr>
            <a:r>
              <a:rPr lang="en-US" sz="1500" dirty="0">
                <a:solidFill>
                  <a:srgbClr val="5B2FAE"/>
                </a:solidFill>
              </a:rPr>
              <a:t>Read map per path</a:t>
            </a:r>
            <a:endParaRPr lang="en-US" sz="1500" dirty="0"/>
          </a:p>
        </p:txBody>
      </p:sp>
      <p:sp>
        <p:nvSpPr>
          <p:cNvPr id="23" name="text-35"/>
          <p:cNvSpPr txBox="1"/>
          <p:nvPr/>
        </p:nvSpPr>
        <p:spPr>
          <a:xfrm>
            <a:off x="6434176" y="3429000"/>
            <a:ext cx="1169365" cy="4114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stdin: 17</a:t>
            </a:r>
            <a:endParaRPr lang="en-US" sz="1300" dirty="0"/>
          </a:p>
        </p:txBody>
      </p:sp>
      <p:sp>
        <p:nvSpPr>
          <p:cNvPr id="24" name="arrow-36"/>
          <p:cNvSpPr/>
          <p:nvPr/>
        </p:nvSpPr>
        <p:spPr>
          <a:xfrm>
            <a:off x="7768133" y="2926080"/>
            <a:ext cx="384048" cy="237744"/>
          </a:xfrm>
          <a:prstGeom prst="rightArrow">
            <a:avLst/>
          </a:prstGeom>
          <a:solidFill>
            <a:srgbClr val="AAB6FF"/>
          </a:solidFill>
          <a:ln/>
        </p:spPr>
      </p:sp>
      <p:sp>
        <p:nvSpPr>
          <p:cNvPr id="25" name="card-37"/>
          <p:cNvSpPr/>
          <p:nvPr/>
        </p:nvSpPr>
        <p:spPr>
          <a:xfrm>
            <a:off x="8115605" y="2057400"/>
            <a:ext cx="1498549" cy="2011680"/>
          </a:xfrm>
          <a:prstGeom prst="roundRect">
            <a:avLst>
              <a:gd name="adj" fmla="val 7322"/>
            </a:avLst>
          </a:prstGeom>
          <a:solidFill>
            <a:srgbClr val="DCF7E7"/>
          </a:solidFill>
          <a:ln/>
        </p:spPr>
      </p:sp>
      <p:sp>
        <p:nvSpPr>
          <p:cNvPr id="26" name="text-38"/>
          <p:cNvSpPr txBox="1"/>
          <p:nvPr/>
        </p:nvSpPr>
        <p:spPr>
          <a:xfrm>
            <a:off x="8280197" y="2240280"/>
            <a:ext cx="1169365" cy="411480"/>
          </a:xfrm>
          <a:prstGeom prst="rect">
            <a:avLst/>
          </a:prstGeom>
          <a:noFill/>
          <a:ln/>
        </p:spPr>
        <p:txBody>
          <a:bodyPr wrap="square" lIns="0" tIns="0" rIns="0" bIns="0" rtlCol="0" anchor="t"/>
          <a:lstStyle/>
          <a:p>
            <a:pPr indent="0" marL="0">
              <a:buNone/>
            </a:pPr>
            <a:r>
              <a:rPr lang="en-US" sz="2000" b="1" dirty="0">
                <a:solidFill>
                  <a:srgbClr val="19673F"/>
                </a:solidFill>
              </a:rPr>
              <a:t>Execute</a:t>
            </a:r>
            <a:endParaRPr lang="en-US" sz="2000" dirty="0"/>
          </a:p>
        </p:txBody>
      </p:sp>
      <p:sp>
        <p:nvSpPr>
          <p:cNvPr id="27" name="text-39"/>
          <p:cNvSpPr txBox="1"/>
          <p:nvPr/>
        </p:nvSpPr>
        <p:spPr>
          <a:xfrm>
            <a:off x="8280197" y="2697480"/>
            <a:ext cx="1169365" cy="640080"/>
          </a:xfrm>
          <a:prstGeom prst="rect">
            <a:avLst/>
          </a:prstGeom>
          <a:noFill/>
          <a:ln/>
        </p:spPr>
        <p:txBody>
          <a:bodyPr wrap="square" lIns="0" tIns="0" rIns="0" bIns="0" rtlCol="0" anchor="t"/>
          <a:lstStyle/>
          <a:p>
            <a:pPr indent="0" marL="0">
              <a:buNone/>
            </a:pPr>
            <a:r>
              <a:rPr lang="en-US" sz="1500" dirty="0">
                <a:solidFill>
                  <a:srgbClr val="19673F"/>
                </a:solidFill>
              </a:rPr>
              <a:t>Probed, isolated run</a:t>
            </a:r>
            <a:endParaRPr lang="en-US" sz="1500" dirty="0"/>
          </a:p>
        </p:txBody>
      </p:sp>
      <p:sp>
        <p:nvSpPr>
          <p:cNvPr id="28" name="text-40"/>
          <p:cNvSpPr txBox="1"/>
          <p:nvPr/>
        </p:nvSpPr>
        <p:spPr>
          <a:xfrm>
            <a:off x="8280197" y="3429000"/>
            <a:ext cx="1169365" cy="4114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__probe(…)</a:t>
            </a:r>
            <a:endParaRPr lang="en-US" sz="1300" dirty="0"/>
          </a:p>
        </p:txBody>
      </p:sp>
      <p:sp>
        <p:nvSpPr>
          <p:cNvPr id="29" name="arrow-41"/>
          <p:cNvSpPr/>
          <p:nvPr/>
        </p:nvSpPr>
        <p:spPr>
          <a:xfrm>
            <a:off x="9614154" y="2926080"/>
            <a:ext cx="384048" cy="237744"/>
          </a:xfrm>
          <a:prstGeom prst="rightArrow">
            <a:avLst/>
          </a:prstGeom>
          <a:solidFill>
            <a:srgbClr val="AAB6FF"/>
          </a:solidFill>
          <a:ln/>
        </p:spPr>
      </p:sp>
      <p:sp>
        <p:nvSpPr>
          <p:cNvPr id="30" name="card-42"/>
          <p:cNvSpPr/>
          <p:nvPr/>
        </p:nvSpPr>
        <p:spPr>
          <a:xfrm>
            <a:off x="9961626" y="2057400"/>
            <a:ext cx="1498549" cy="2011680"/>
          </a:xfrm>
          <a:prstGeom prst="roundRect">
            <a:avLst>
              <a:gd name="adj" fmla="val 7322"/>
            </a:avLst>
          </a:prstGeom>
          <a:solidFill>
            <a:srgbClr val="FDF1D3"/>
          </a:solidFill>
          <a:ln/>
        </p:spPr>
      </p:sp>
      <p:sp>
        <p:nvSpPr>
          <p:cNvPr id="31" name="text-43"/>
          <p:cNvSpPr txBox="1"/>
          <p:nvPr/>
        </p:nvSpPr>
        <p:spPr>
          <a:xfrm>
            <a:off x="10126218" y="2240280"/>
            <a:ext cx="1169365" cy="411480"/>
          </a:xfrm>
          <a:prstGeom prst="rect">
            <a:avLst/>
          </a:prstGeom>
          <a:noFill/>
          <a:ln/>
        </p:spPr>
        <p:txBody>
          <a:bodyPr wrap="square" lIns="0" tIns="0" rIns="0" bIns="0" rtlCol="0" anchor="t"/>
          <a:lstStyle/>
          <a:p>
            <a:pPr indent="0" marL="0">
              <a:buNone/>
            </a:pPr>
            <a:r>
              <a:rPr lang="en-US" sz="2000" b="1" dirty="0">
                <a:solidFill>
                  <a:srgbClr val="8A4B0F"/>
                </a:solidFill>
              </a:rPr>
              <a:t>Measure</a:t>
            </a:r>
            <a:endParaRPr lang="en-US" sz="2000" dirty="0"/>
          </a:p>
        </p:txBody>
      </p:sp>
      <p:sp>
        <p:nvSpPr>
          <p:cNvPr id="32" name="text-44"/>
          <p:cNvSpPr txBox="1"/>
          <p:nvPr/>
        </p:nvSpPr>
        <p:spPr>
          <a:xfrm>
            <a:off x="10126218" y="2697480"/>
            <a:ext cx="1169365" cy="640080"/>
          </a:xfrm>
          <a:prstGeom prst="rect">
            <a:avLst/>
          </a:prstGeom>
          <a:noFill/>
          <a:ln/>
        </p:spPr>
        <p:txBody>
          <a:bodyPr wrap="square" lIns="0" tIns="0" rIns="0" bIns="0" rtlCol="0" anchor="t"/>
          <a:lstStyle/>
          <a:p>
            <a:pPr indent="0" marL="0">
              <a:buNone/>
            </a:pPr>
            <a:r>
              <a:rPr lang="en-US" sz="1500" dirty="0">
                <a:solidFill>
                  <a:srgbClr val="8A4B0F"/>
                </a:solidFill>
              </a:rPr>
              <a:t>Coverage, faults</a:t>
            </a:r>
            <a:endParaRPr lang="en-US" sz="1500" dirty="0"/>
          </a:p>
        </p:txBody>
      </p:sp>
      <p:sp>
        <p:nvSpPr>
          <p:cNvPr id="33" name="text-45"/>
          <p:cNvSpPr txBox="1"/>
          <p:nvPr/>
        </p:nvSpPr>
        <p:spPr>
          <a:xfrm>
            <a:off x="10126218" y="3429000"/>
            <a:ext cx="1169365" cy="41148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branch 2/2</a:t>
            </a:r>
            <a:endParaRPr lang="en-US" sz="1300" dirty="0"/>
          </a:p>
        </p:txBody>
      </p:sp>
      <p:sp>
        <p:nvSpPr>
          <p:cNvPr id="34" name="text-46"/>
          <p:cNvSpPr txBox="1"/>
          <p:nvPr/>
        </p:nvSpPr>
        <p:spPr>
          <a:xfrm>
            <a:off x="731520" y="4526280"/>
            <a:ext cx="10728655" cy="731520"/>
          </a:xfrm>
          <a:prstGeom prst="rect">
            <a:avLst/>
          </a:prstGeom>
          <a:noFill/>
          <a:ln/>
        </p:spPr>
        <p:txBody>
          <a:bodyPr wrap="square" lIns="0" tIns="0" rIns="0" bIns="0" rtlCol="0" anchor="t"/>
          <a:lstStyle/>
          <a:p>
            <a:pPr indent="0" marL="0">
              <a:buNone/>
            </a:pPr>
            <a:r>
              <a:rPr lang="en-US" sz="1900" b="1" dirty="0">
                <a:solidFill>
                  <a:schemeClr val="tx1"/>
                </a:solidFill>
              </a:rPr>
              <a:t>No solver, no search, no language model</a:t>
            </a:r>
            <a:pPr indent="0" marL="0">
              <a:buNone/>
            </a:pPr>
            <a:r>
              <a:rPr lang="en-US" sz="1900" dirty="0">
                <a:solidFill>
                  <a:schemeClr val="tx2"/>
                </a:solidFill>
              </a:rPr>
              <a:t>: generation takes milliseconds, and every test traces back to one condition on one line.</a:t>
            </a:r>
            <a:endParaRPr lang="en-US" sz="19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PROJECT COMPLETION</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Every Review I objective is done</a:t>
            </a:r>
            <a:endParaRPr lang="en-US" sz="3400" dirty="0"/>
          </a:p>
        </p:txBody>
      </p:sp>
      <p:graphicFrame>
        <p:nvGraphicFramePr>
          <p:cNvPr id="5" name="table-47"/>
          <p:cNvGraphicFramePr>
            <a:graphicFrameLocks noGrp="1"/>
          </p:cNvGraphicFramePr>
          <p:nvPr>
            <p:extLst>
              <p:ext uri="{D42A27DB-BD31-4B8C-83A1-F6EECF244321}">
                <p14:modId xmlns:p14="http://schemas.microsoft.com/office/powerpoint/2010/main" val="1579011935"/>
              </p:ext>
            </p:extLst>
          </p:nvPr>
        </p:nvGraphicFramePr>
        <p:xfrm>
          <a:off x="731520" y="1920240"/>
          <a:ext cx="10728655" cy="914400"/>
        </p:xfrm>
        <a:graphic>
          <a:graphicData uri="http://schemas.openxmlformats.org/drawingml/2006/table">
            <a:tbl>
              <a:tblPr/>
              <a:tblGrid>
                <a:gridCol w="5669280"/>
                <a:gridCol w="5059375"/>
              </a:tblGrid>
              <a:tr h="475488">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Objective (Review I)</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700" b="1" dirty="0">
                          <a:solidFill>
                            <a:schemeClr val="tx1"/>
                          </a:solidFill>
                          <a:latin typeface="Calibri" pitchFamily="34" charset="0"/>
                          <a:ea typeface="Calibri" pitchFamily="34" charset="-122"/>
                          <a:cs typeface="Calibri" pitchFamily="34" charset="-120"/>
                        </a:rPr>
                        <a:t>Final status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Parse C programs and build an AST</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plus Python and Java</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Find branches, conditions and boundary cases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if, while, switch, match</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Generate targeted test cases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plus invalid-input and fuzz tests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Branch, statement coverage and fault detection</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in all three languages</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75488">
                <a:tc>
                  <a:txBody>
                    <a:bodyPr/>
                    <a:lstStyle/>
                    <a:p>
                      <a:pPr indent="0" marL="0">
                        <a:buNone/>
                      </a:pPr>
                      <a:r>
                        <a:rPr lang="en-US" sz="1700" dirty="0">
                          <a:solidFill>
                            <a:schemeClr val="tx1"/>
                          </a:solidFill>
                          <a:latin typeface="Calibri" pitchFamily="34" charset="0"/>
                          <a:ea typeface="Calibri" pitchFamily="34" charset="-122"/>
                          <a:cs typeface="Calibri" pitchFamily="34" charset="-120"/>
                        </a:rPr>
                        <a:t>Compare with random generation</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700" b="1" dirty="0">
                          <a:solidFill>
                            <a:srgbClr val="19673F"/>
                          </a:solidFill>
                          <a:latin typeface="Calibri" pitchFamily="34" charset="0"/>
                          <a:ea typeface="Calibri" pitchFamily="34" charset="-122"/>
                          <a:cs typeface="Calibri" pitchFamily="34" charset="-120"/>
                        </a:rPr>
                        <a:t>Done on 15 programs, with a significance test</a:t>
                      </a:r>
                      <a:endParaRPr lang="en-US" sz="17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6" name="text-48"/>
          <p:cNvSpPr txBox="1"/>
          <p:nvPr/>
        </p:nvSpPr>
        <p:spPr>
          <a:xfrm>
            <a:off x="731520" y="5120640"/>
            <a:ext cx="10728655" cy="457200"/>
          </a:xfrm>
          <a:prstGeom prst="rect">
            <a:avLst/>
          </a:prstGeom>
          <a:noFill/>
          <a:ln/>
        </p:spPr>
        <p:txBody>
          <a:bodyPr wrap="square" lIns="0" tIns="0" rIns="0" bIns="0" rtlCol="0" anchor="t"/>
          <a:lstStyle/>
          <a:p>
            <a:pPr indent="0" marL="0">
              <a:buNone/>
            </a:pPr>
            <a:r>
              <a:rPr lang="en-US" sz="1800" b="1" dirty="0">
                <a:solidFill>
                  <a:schemeClr val="tx1"/>
                </a:solidFill>
              </a:rPr>
              <a:t>Beyond the plan: </a:t>
            </a:r>
            <a:pPr indent="0" marL="0">
              <a:buNone/>
            </a:pPr>
            <a:r>
              <a:rPr lang="en-US" sz="1800" dirty="0">
                <a:solidFill>
                  <a:schemeClr val="tx2"/>
                </a:solidFill>
              </a:rPr>
              <a:t>three languages · web interface · Docker deployment · live at </a:t>
            </a:r>
            <a:pPr indent="0" marL="0">
              <a:buNone/>
            </a:pPr>
            <a:r>
              <a:rPr lang="en-US" sz="1800" b="1" dirty="0">
                <a:solidFill>
                  <a:schemeClr val="accent1"/>
                </a:solidFill>
              </a:rPr>
              <a:t>branchlab-ggon.onrender.com</a:t>
            </a:r>
            <a:endParaRPr lang="en-US" sz="18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SINCE REVIEW II</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From prototype to finished study</a:t>
            </a:r>
            <a:endParaRPr lang="en-US" sz="3400" dirty="0"/>
          </a:p>
        </p:txBody>
      </p:sp>
      <p:sp>
        <p:nvSpPr>
          <p:cNvPr id="5" name="card-49"/>
          <p:cNvSpPr/>
          <p:nvPr/>
        </p:nvSpPr>
        <p:spPr>
          <a:xfrm>
            <a:off x="731520" y="1920240"/>
            <a:ext cx="5227168" cy="1645920"/>
          </a:xfrm>
          <a:prstGeom prst="roundRect">
            <a:avLst>
              <a:gd name="adj" fmla="val 6667"/>
            </a:avLst>
          </a:prstGeom>
          <a:solidFill>
            <a:srgbClr val="E6EBFF"/>
          </a:solidFill>
          <a:ln/>
        </p:spPr>
      </p:sp>
      <p:sp>
        <p:nvSpPr>
          <p:cNvPr id="6" name="text-50"/>
          <p:cNvSpPr txBox="1"/>
          <p:nvPr/>
        </p:nvSpPr>
        <p:spPr>
          <a:xfrm>
            <a:off x="1051560" y="2148840"/>
            <a:ext cx="4587088" cy="457200"/>
          </a:xfrm>
          <a:prstGeom prst="rect">
            <a:avLst/>
          </a:prstGeom>
          <a:noFill/>
          <a:ln/>
        </p:spPr>
        <p:txBody>
          <a:bodyPr wrap="square" lIns="0" tIns="0" rIns="0" bIns="0" rtlCol="0" anchor="t"/>
          <a:lstStyle/>
          <a:p>
            <a:pPr indent="0" marL="0">
              <a:buNone/>
            </a:pPr>
            <a:r>
              <a:rPr lang="en-US" sz="2100" b="1" dirty="0">
                <a:solidFill>
                  <a:srgbClr val="3B3F9E"/>
                </a:solidFill>
              </a:rPr>
              <a:t>Wider benchmark</a:t>
            </a:r>
            <a:endParaRPr lang="en-US" sz="2100" dirty="0"/>
          </a:p>
        </p:txBody>
      </p:sp>
      <p:sp>
        <p:nvSpPr>
          <p:cNvPr id="7" name="text-51"/>
          <p:cNvSpPr txBox="1"/>
          <p:nvPr/>
        </p:nvSpPr>
        <p:spPr>
          <a:xfrm>
            <a:off x="1051560" y="2651760"/>
            <a:ext cx="4587088" cy="822960"/>
          </a:xfrm>
          <a:prstGeom prst="rect">
            <a:avLst/>
          </a:prstGeom>
          <a:noFill/>
          <a:ln/>
        </p:spPr>
        <p:txBody>
          <a:bodyPr wrap="square" lIns="0" tIns="0" rIns="0" bIns="0" rtlCol="0" anchor="t"/>
          <a:lstStyle/>
          <a:p>
            <a:pPr indent="0" marL="0">
              <a:buNone/>
            </a:pPr>
            <a:r>
              <a:rPr lang="en-US" sz="1700" dirty="0">
                <a:solidFill>
                  <a:srgbClr val="3B3F9E"/>
                </a:solidFill>
              </a:rPr>
              <a:t>15 programs (was 9): six lab exercises, three chosen to expose the method's limits</a:t>
            </a:r>
            <a:endParaRPr lang="en-US" sz="1700" dirty="0"/>
          </a:p>
        </p:txBody>
      </p:sp>
      <p:sp>
        <p:nvSpPr>
          <p:cNvPr id="8" name="card-52"/>
          <p:cNvSpPr/>
          <p:nvPr/>
        </p:nvSpPr>
        <p:spPr>
          <a:xfrm>
            <a:off x="6233008" y="1920240"/>
            <a:ext cx="5227168" cy="1645920"/>
          </a:xfrm>
          <a:prstGeom prst="roundRect">
            <a:avLst>
              <a:gd name="adj" fmla="val 6667"/>
            </a:avLst>
          </a:prstGeom>
          <a:solidFill>
            <a:srgbClr val="EFE9FF"/>
          </a:solidFill>
          <a:ln/>
        </p:spPr>
      </p:sp>
      <p:sp>
        <p:nvSpPr>
          <p:cNvPr id="9" name="text-53"/>
          <p:cNvSpPr txBox="1"/>
          <p:nvPr/>
        </p:nvSpPr>
        <p:spPr>
          <a:xfrm>
            <a:off x="6553048" y="2148840"/>
            <a:ext cx="4587088" cy="457200"/>
          </a:xfrm>
          <a:prstGeom prst="rect">
            <a:avLst/>
          </a:prstGeom>
          <a:noFill/>
          <a:ln/>
        </p:spPr>
        <p:txBody>
          <a:bodyPr wrap="square" lIns="0" tIns="0" rIns="0" bIns="0" rtlCol="0" anchor="t"/>
          <a:lstStyle/>
          <a:p>
            <a:pPr indent="0" marL="0">
              <a:buNone/>
            </a:pPr>
            <a:r>
              <a:rPr lang="en-US" sz="2100" b="1" dirty="0">
                <a:solidFill>
                  <a:srgbClr val="5B2FAE"/>
                </a:solidFill>
              </a:rPr>
              <a:t>Statistics</a:t>
            </a:r>
            <a:endParaRPr lang="en-US" sz="2100" dirty="0"/>
          </a:p>
        </p:txBody>
      </p:sp>
      <p:sp>
        <p:nvSpPr>
          <p:cNvPr id="10" name="text-54"/>
          <p:cNvSpPr txBox="1"/>
          <p:nvPr/>
        </p:nvSpPr>
        <p:spPr>
          <a:xfrm>
            <a:off x="6553048" y="2651760"/>
            <a:ext cx="4587088" cy="822960"/>
          </a:xfrm>
          <a:prstGeom prst="rect">
            <a:avLst/>
          </a:prstGeom>
          <a:noFill/>
          <a:ln/>
        </p:spPr>
        <p:txBody>
          <a:bodyPr wrap="square" lIns="0" tIns="0" rIns="0" bIns="0" rtlCol="0" anchor="t"/>
          <a:lstStyle/>
          <a:p>
            <a:pPr indent="0" marL="0">
              <a:buNone/>
            </a:pPr>
            <a:r>
              <a:rPr lang="en-US" sz="1700" dirty="0">
                <a:solidFill>
                  <a:srgbClr val="5B2FAE"/>
                </a:solidFill>
              </a:rPr>
              <a:t>Exact Wilcoxon signed-rank test across programs, plus wins, ties and losses</a:t>
            </a:r>
            <a:endParaRPr lang="en-US" sz="1700" dirty="0"/>
          </a:p>
        </p:txBody>
      </p:sp>
      <p:sp>
        <p:nvSpPr>
          <p:cNvPr id="11" name="card-55"/>
          <p:cNvSpPr/>
          <p:nvPr/>
        </p:nvSpPr>
        <p:spPr>
          <a:xfrm>
            <a:off x="731520" y="3794760"/>
            <a:ext cx="5227168" cy="1645920"/>
          </a:xfrm>
          <a:prstGeom prst="roundRect">
            <a:avLst>
              <a:gd name="adj" fmla="val 6667"/>
            </a:avLst>
          </a:prstGeom>
          <a:solidFill>
            <a:srgbClr val="DCF7E7"/>
          </a:solidFill>
          <a:ln/>
        </p:spPr>
      </p:sp>
      <p:sp>
        <p:nvSpPr>
          <p:cNvPr id="12" name="text-56"/>
          <p:cNvSpPr txBox="1"/>
          <p:nvPr/>
        </p:nvSpPr>
        <p:spPr>
          <a:xfrm>
            <a:off x="1051560" y="4023360"/>
            <a:ext cx="4587088" cy="457200"/>
          </a:xfrm>
          <a:prstGeom prst="rect">
            <a:avLst/>
          </a:prstGeom>
          <a:noFill/>
          <a:ln/>
        </p:spPr>
        <p:txBody>
          <a:bodyPr wrap="square" lIns="0" tIns="0" rIns="0" bIns="0" rtlCol="0" anchor="t"/>
          <a:lstStyle/>
          <a:p>
            <a:pPr indent="0" marL="0">
              <a:buNone/>
            </a:pPr>
            <a:r>
              <a:rPr lang="en-US" sz="2100" b="1" dirty="0">
                <a:solidFill>
                  <a:srgbClr val="19673F"/>
                </a:solidFill>
              </a:rPr>
              <a:t>Deployed</a:t>
            </a:r>
            <a:endParaRPr lang="en-US" sz="2100" dirty="0"/>
          </a:p>
        </p:txBody>
      </p:sp>
      <p:sp>
        <p:nvSpPr>
          <p:cNvPr id="13" name="text-57"/>
          <p:cNvSpPr txBox="1"/>
          <p:nvPr/>
        </p:nvSpPr>
        <p:spPr>
          <a:xfrm>
            <a:off x="1051560" y="4526280"/>
            <a:ext cx="4587088" cy="822960"/>
          </a:xfrm>
          <a:prstGeom prst="rect">
            <a:avLst/>
          </a:prstGeom>
          <a:noFill/>
          <a:ln/>
        </p:spPr>
        <p:txBody>
          <a:bodyPr wrap="square" lIns="0" tIns="0" rIns="0" bIns="0" rtlCol="0" anchor="t"/>
          <a:lstStyle/>
          <a:p>
            <a:pPr indent="0" marL="0">
              <a:buNone/>
            </a:pPr>
            <a:r>
              <a:rPr lang="en-US" sz="1700" dirty="0">
                <a:solidFill>
                  <a:srgbClr val="19673F"/>
                </a:solidFill>
              </a:rPr>
              <a:t>Docker image with GCC and a JDK, live at branchlab-ggon.onrender.com</a:t>
            </a:r>
            <a:endParaRPr lang="en-US" sz="1700" dirty="0"/>
          </a:p>
        </p:txBody>
      </p:sp>
      <p:sp>
        <p:nvSpPr>
          <p:cNvPr id="14" name="card-58"/>
          <p:cNvSpPr/>
          <p:nvPr/>
        </p:nvSpPr>
        <p:spPr>
          <a:xfrm>
            <a:off x="6233008" y="3794760"/>
            <a:ext cx="5227168" cy="1645920"/>
          </a:xfrm>
          <a:prstGeom prst="roundRect">
            <a:avLst>
              <a:gd name="adj" fmla="val 6667"/>
            </a:avLst>
          </a:prstGeom>
          <a:solidFill>
            <a:srgbClr val="FDF1D3"/>
          </a:solidFill>
          <a:ln/>
        </p:spPr>
      </p:sp>
      <p:sp>
        <p:nvSpPr>
          <p:cNvPr id="15" name="text-59"/>
          <p:cNvSpPr txBox="1"/>
          <p:nvPr/>
        </p:nvSpPr>
        <p:spPr>
          <a:xfrm>
            <a:off x="6553048" y="4023360"/>
            <a:ext cx="4587088" cy="457200"/>
          </a:xfrm>
          <a:prstGeom prst="rect">
            <a:avLst/>
          </a:prstGeom>
          <a:noFill/>
          <a:ln/>
        </p:spPr>
        <p:txBody>
          <a:bodyPr wrap="square" lIns="0" tIns="0" rIns="0" bIns="0" rtlCol="0" anchor="t"/>
          <a:lstStyle/>
          <a:p>
            <a:pPr indent="0" marL="0">
              <a:buNone/>
            </a:pPr>
            <a:r>
              <a:rPr lang="en-US" sz="2100" b="1" dirty="0">
                <a:solidFill>
                  <a:srgbClr val="8A4B0F"/>
                </a:solidFill>
              </a:rPr>
              <a:t>Manuscript</a:t>
            </a:r>
            <a:endParaRPr lang="en-US" sz="2100" dirty="0"/>
          </a:p>
        </p:txBody>
      </p:sp>
      <p:sp>
        <p:nvSpPr>
          <p:cNvPr id="16" name="text-60"/>
          <p:cNvSpPr txBox="1"/>
          <p:nvPr/>
        </p:nvSpPr>
        <p:spPr>
          <a:xfrm>
            <a:off x="6553048" y="4526280"/>
            <a:ext cx="4587088" cy="822960"/>
          </a:xfrm>
          <a:prstGeom prst="rect">
            <a:avLst/>
          </a:prstGeom>
          <a:noFill/>
          <a:ln/>
        </p:spPr>
        <p:txBody>
          <a:bodyPr wrap="square" lIns="0" tIns="0" rIns="0" bIns="0" rtlCol="0" anchor="t"/>
          <a:lstStyle/>
          <a:p>
            <a:pPr indent="0" marL="0">
              <a:buNone/>
            </a:pPr>
            <a:r>
              <a:rPr lang="en-US" sz="1700" dirty="0">
                <a:solidFill>
                  <a:srgbClr val="8A4B0F"/>
                </a:solidFill>
              </a:rPr>
              <a:t>IEEE conference-style paper with the full evaluation</a:t>
            </a:r>
            <a:endParaRPr lang="en-US" sz="17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LIVE DEMO</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Four runs that show everything</a:t>
            </a:r>
            <a:endParaRPr lang="en-US" sz="3400" dirty="0"/>
          </a:p>
        </p:txBody>
      </p:sp>
      <p:sp>
        <p:nvSpPr>
          <p:cNvPr id="5" name="card-61"/>
          <p:cNvSpPr/>
          <p:nvPr/>
        </p:nvSpPr>
        <p:spPr>
          <a:xfrm>
            <a:off x="731520" y="1920240"/>
            <a:ext cx="10728655" cy="713232"/>
          </a:xfrm>
          <a:prstGeom prst="roundRect">
            <a:avLst>
              <a:gd name="adj" fmla="val 15385"/>
            </a:avLst>
          </a:prstGeom>
          <a:solidFill>
            <a:srgbClr val="FDFDFF"/>
          </a:solidFill>
          <a:ln w="12700">
            <a:solidFill>
              <a:srgbClr val="E1E4F5"/>
            </a:solidFill>
            <a:prstDash val="solid"/>
          </a:ln>
        </p:spPr>
      </p:sp>
      <p:sp>
        <p:nvSpPr>
          <p:cNvPr id="6" name="pill-62"/>
          <p:cNvSpPr/>
          <p:nvPr/>
        </p:nvSpPr>
        <p:spPr>
          <a:xfrm>
            <a:off x="960120" y="2084832"/>
            <a:ext cx="502920" cy="384048"/>
          </a:xfrm>
          <a:prstGeom prst="roundRect">
            <a:avLst>
              <a:gd name="adj" fmla="val 50000"/>
            </a:avLst>
          </a:prstGeom>
          <a:solidFill>
            <a:srgbClr val="E6EBFF"/>
          </a:solidFill>
          <a:ln/>
        </p:spPr>
      </p:sp>
      <p:sp>
        <p:nvSpPr>
          <p:cNvPr id="7" name="text-63"/>
          <p:cNvSpPr txBox="1"/>
          <p:nvPr/>
        </p:nvSpPr>
        <p:spPr>
          <a:xfrm>
            <a:off x="960120" y="2084832"/>
            <a:ext cx="502920" cy="384048"/>
          </a:xfrm>
          <a:prstGeom prst="rect">
            <a:avLst/>
          </a:prstGeom>
          <a:noFill/>
          <a:ln/>
        </p:spPr>
        <p:txBody>
          <a:bodyPr wrap="square" lIns="0" tIns="0" rIns="0" bIns="0" rtlCol="0" anchor="ctr"/>
          <a:lstStyle/>
          <a:p>
            <a:pPr algn="ctr" indent="0" marL="0">
              <a:buNone/>
            </a:pPr>
            <a:r>
              <a:rPr lang="en-US" sz="1400" b="1" dirty="0">
                <a:solidFill>
                  <a:srgbClr val="3B3F9E"/>
                </a:solidFill>
              </a:rPr>
              <a:t>1</a:t>
            </a:r>
            <a:endParaRPr lang="en-US" sz="1400" dirty="0"/>
          </a:p>
        </p:txBody>
      </p:sp>
      <p:sp>
        <p:nvSpPr>
          <p:cNvPr id="8" name="text-64"/>
          <p:cNvSpPr txBox="1"/>
          <p:nvPr/>
        </p:nvSpPr>
        <p:spPr>
          <a:xfrm>
            <a:off x="1691640" y="1920240"/>
            <a:ext cx="3657600" cy="713232"/>
          </a:xfrm>
          <a:prstGeom prst="rect">
            <a:avLst/>
          </a:prstGeom>
          <a:noFill/>
          <a:ln/>
        </p:spPr>
        <p:txBody>
          <a:bodyPr wrap="square" lIns="0" tIns="0" rIns="0" bIns="0" rtlCol="0" anchor="ctr"/>
          <a:lstStyle/>
          <a:p>
            <a:pPr indent="0" marL="0">
              <a:buNone/>
            </a:pPr>
            <a:r>
              <a:rPr lang="en-US" sz="1900" b="1" dirty="0">
                <a:solidFill>
                  <a:schemeClr val="tx1"/>
                </a:solidFill>
              </a:rPr>
              <a:t>Python starter</a:t>
            </a:r>
            <a:endParaRPr lang="en-US" sz="1900" dirty="0"/>
          </a:p>
        </p:txBody>
      </p:sp>
      <p:sp>
        <p:nvSpPr>
          <p:cNvPr id="9" name="text-65"/>
          <p:cNvSpPr txBox="1"/>
          <p:nvPr/>
        </p:nvSpPr>
        <p:spPr>
          <a:xfrm>
            <a:off x="5394960" y="1920240"/>
            <a:ext cx="5790895" cy="713232"/>
          </a:xfrm>
          <a:prstGeom prst="rect">
            <a:avLst/>
          </a:prstGeom>
          <a:noFill/>
          <a:ln/>
        </p:spPr>
        <p:txBody>
          <a:bodyPr wrap="square" lIns="0" tIns="0" rIns="0" bIns="0" rtlCol="0" anchor="ctr"/>
          <a:lstStyle/>
          <a:p>
            <a:pPr indent="0" marL="0">
              <a:buNone/>
            </a:pPr>
            <a:r>
              <a:rPr lang="en-US" sz="1700" dirty="0">
                <a:solidFill>
                  <a:schemeClr val="tx2"/>
                </a:solidFill>
              </a:rPr>
              <a:t>Tests 17, 18, 19 · 100% branch and statement coverage</a:t>
            </a:r>
            <a:endParaRPr lang="en-US" sz="1700" dirty="0"/>
          </a:p>
        </p:txBody>
      </p:sp>
      <p:sp>
        <p:nvSpPr>
          <p:cNvPr id="10" name="card-66"/>
          <p:cNvSpPr/>
          <p:nvPr/>
        </p:nvSpPr>
        <p:spPr>
          <a:xfrm>
            <a:off x="731520" y="2770632"/>
            <a:ext cx="10728655" cy="713232"/>
          </a:xfrm>
          <a:prstGeom prst="roundRect">
            <a:avLst>
              <a:gd name="adj" fmla="val 15385"/>
            </a:avLst>
          </a:prstGeom>
          <a:solidFill>
            <a:srgbClr val="FDFDFF"/>
          </a:solidFill>
          <a:ln w="12700">
            <a:solidFill>
              <a:srgbClr val="E1E4F5"/>
            </a:solidFill>
            <a:prstDash val="solid"/>
          </a:ln>
        </p:spPr>
      </p:sp>
      <p:sp>
        <p:nvSpPr>
          <p:cNvPr id="11" name="pill-67"/>
          <p:cNvSpPr/>
          <p:nvPr/>
        </p:nvSpPr>
        <p:spPr>
          <a:xfrm>
            <a:off x="960120" y="2935224"/>
            <a:ext cx="502920" cy="384048"/>
          </a:xfrm>
          <a:prstGeom prst="roundRect">
            <a:avLst>
              <a:gd name="adj" fmla="val 50000"/>
            </a:avLst>
          </a:prstGeom>
          <a:solidFill>
            <a:srgbClr val="E6EBFF"/>
          </a:solidFill>
          <a:ln/>
        </p:spPr>
      </p:sp>
      <p:sp>
        <p:nvSpPr>
          <p:cNvPr id="12" name="text-68"/>
          <p:cNvSpPr txBox="1"/>
          <p:nvPr/>
        </p:nvSpPr>
        <p:spPr>
          <a:xfrm>
            <a:off x="960120" y="2935224"/>
            <a:ext cx="502920" cy="384048"/>
          </a:xfrm>
          <a:prstGeom prst="rect">
            <a:avLst/>
          </a:prstGeom>
          <a:noFill/>
          <a:ln/>
        </p:spPr>
        <p:txBody>
          <a:bodyPr wrap="square" lIns="0" tIns="0" rIns="0" bIns="0" rtlCol="0" anchor="ctr"/>
          <a:lstStyle/>
          <a:p>
            <a:pPr algn="ctr" indent="0" marL="0">
              <a:buNone/>
            </a:pPr>
            <a:r>
              <a:rPr lang="en-US" sz="1400" b="1" dirty="0">
                <a:solidFill>
                  <a:srgbClr val="3B3F9E"/>
                </a:solidFill>
              </a:rPr>
              <a:t>2</a:t>
            </a:r>
            <a:endParaRPr lang="en-US" sz="1400" dirty="0"/>
          </a:p>
        </p:txBody>
      </p:sp>
      <p:sp>
        <p:nvSpPr>
          <p:cNvPr id="13" name="text-69"/>
          <p:cNvSpPr txBox="1"/>
          <p:nvPr/>
        </p:nvSpPr>
        <p:spPr>
          <a:xfrm>
            <a:off x="1691640" y="2770632"/>
            <a:ext cx="3657600" cy="713232"/>
          </a:xfrm>
          <a:prstGeom prst="rect">
            <a:avLst/>
          </a:prstGeom>
          <a:noFill/>
          <a:ln/>
        </p:spPr>
        <p:txBody>
          <a:bodyPr wrap="square" lIns="0" tIns="0" rIns="0" bIns="0" rtlCol="0" anchor="ctr"/>
          <a:lstStyle/>
          <a:p>
            <a:pPr indent="0" marL="0">
              <a:buNone/>
            </a:pPr>
            <a:r>
              <a:rPr lang="en-US" sz="1900" b="1" dirty="0">
                <a:solidFill>
                  <a:schemeClr val="tx1"/>
                </a:solidFill>
              </a:rPr>
              <a:t>C bank system</a:t>
            </a:r>
            <a:endParaRPr lang="en-US" sz="1900" dirty="0"/>
          </a:p>
        </p:txBody>
      </p:sp>
      <p:sp>
        <p:nvSpPr>
          <p:cNvPr id="14" name="text-70"/>
          <p:cNvSpPr txBox="1"/>
          <p:nvPr/>
        </p:nvSpPr>
        <p:spPr>
          <a:xfrm>
            <a:off x="5394960" y="2770632"/>
            <a:ext cx="5790895" cy="713232"/>
          </a:xfrm>
          <a:prstGeom prst="rect">
            <a:avLst/>
          </a:prstGeom>
          <a:noFill/>
          <a:ln/>
        </p:spPr>
        <p:txBody>
          <a:bodyPr wrap="square" lIns="0" tIns="0" rIns="0" bIns="0" rtlCol="0" anchor="ctr"/>
          <a:lstStyle/>
          <a:p>
            <a:pPr indent="0" marL="0">
              <a:buNone/>
            </a:pPr>
            <a:r>
              <a:rPr lang="en-US" sz="1700" dirty="0">
                <a:solidFill>
                  <a:schemeClr val="tx2"/>
                </a:solidFill>
              </a:rPr>
              <a:t>Every menu option runs · coverage tab shows what was missed</a:t>
            </a:r>
            <a:endParaRPr lang="en-US" sz="1700" dirty="0"/>
          </a:p>
        </p:txBody>
      </p:sp>
      <p:sp>
        <p:nvSpPr>
          <p:cNvPr id="15" name="card-71"/>
          <p:cNvSpPr/>
          <p:nvPr/>
        </p:nvSpPr>
        <p:spPr>
          <a:xfrm>
            <a:off x="731520" y="3621024"/>
            <a:ext cx="10728655" cy="713232"/>
          </a:xfrm>
          <a:prstGeom prst="roundRect">
            <a:avLst>
              <a:gd name="adj" fmla="val 15385"/>
            </a:avLst>
          </a:prstGeom>
          <a:solidFill>
            <a:srgbClr val="FDFDFF"/>
          </a:solidFill>
          <a:ln w="12700">
            <a:solidFill>
              <a:srgbClr val="E1E4F5"/>
            </a:solidFill>
            <a:prstDash val="solid"/>
          </a:ln>
        </p:spPr>
      </p:sp>
      <p:sp>
        <p:nvSpPr>
          <p:cNvPr id="16" name="pill-72"/>
          <p:cNvSpPr/>
          <p:nvPr/>
        </p:nvSpPr>
        <p:spPr>
          <a:xfrm>
            <a:off x="960120" y="3785616"/>
            <a:ext cx="502920" cy="384048"/>
          </a:xfrm>
          <a:prstGeom prst="roundRect">
            <a:avLst>
              <a:gd name="adj" fmla="val 50000"/>
            </a:avLst>
          </a:prstGeom>
          <a:solidFill>
            <a:srgbClr val="E6EBFF"/>
          </a:solidFill>
          <a:ln/>
        </p:spPr>
      </p:sp>
      <p:sp>
        <p:nvSpPr>
          <p:cNvPr id="17" name="text-73"/>
          <p:cNvSpPr txBox="1"/>
          <p:nvPr/>
        </p:nvSpPr>
        <p:spPr>
          <a:xfrm>
            <a:off x="960120" y="3785616"/>
            <a:ext cx="502920" cy="384048"/>
          </a:xfrm>
          <a:prstGeom prst="rect">
            <a:avLst/>
          </a:prstGeom>
          <a:noFill/>
          <a:ln/>
        </p:spPr>
        <p:txBody>
          <a:bodyPr wrap="square" lIns="0" tIns="0" rIns="0" bIns="0" rtlCol="0" anchor="ctr"/>
          <a:lstStyle/>
          <a:p>
            <a:pPr algn="ctr" indent="0" marL="0">
              <a:buNone/>
            </a:pPr>
            <a:r>
              <a:rPr lang="en-US" sz="1400" b="1" dirty="0">
                <a:solidFill>
                  <a:srgbClr val="3B3F9E"/>
                </a:solidFill>
              </a:rPr>
              <a:t>3</a:t>
            </a:r>
            <a:endParaRPr lang="en-US" sz="1400" dirty="0"/>
          </a:p>
        </p:txBody>
      </p:sp>
      <p:sp>
        <p:nvSpPr>
          <p:cNvPr id="18" name="text-74"/>
          <p:cNvSpPr txBox="1"/>
          <p:nvPr/>
        </p:nvSpPr>
        <p:spPr>
          <a:xfrm>
            <a:off x="1691640" y="3621024"/>
            <a:ext cx="3657600" cy="713232"/>
          </a:xfrm>
          <a:prstGeom prst="rect">
            <a:avLst/>
          </a:prstGeom>
          <a:noFill/>
          <a:ln/>
        </p:spPr>
        <p:txBody>
          <a:bodyPr wrap="square" lIns="0" tIns="0" rIns="0" bIns="0" rtlCol="0" anchor="ctr"/>
          <a:lstStyle/>
          <a:p>
            <a:pPr indent="0" marL="0">
              <a:buNone/>
            </a:pPr>
            <a:r>
              <a:rPr lang="en-US" sz="1900" b="1" dirty="0">
                <a:solidFill>
                  <a:schemeClr val="tx1"/>
                </a:solidFill>
              </a:rPr>
              <a:t>nested_login.py, 1 test</a:t>
            </a:r>
            <a:endParaRPr lang="en-US" sz="1900" dirty="0"/>
          </a:p>
        </p:txBody>
      </p:sp>
      <p:sp>
        <p:nvSpPr>
          <p:cNvPr id="19" name="text-75"/>
          <p:cNvSpPr txBox="1"/>
          <p:nvPr/>
        </p:nvSpPr>
        <p:spPr>
          <a:xfrm>
            <a:off x="5394960" y="3621024"/>
            <a:ext cx="5790895" cy="713232"/>
          </a:xfrm>
          <a:prstGeom prst="rect">
            <a:avLst/>
          </a:prstGeom>
          <a:noFill/>
          <a:ln/>
        </p:spPr>
        <p:txBody>
          <a:bodyPr wrap="square" lIns="0" tIns="0" rIns="0" bIns="0" rtlCol="0" anchor="ctr"/>
          <a:lstStyle/>
          <a:p>
            <a:pPr indent="0" marL="0">
              <a:buNone/>
            </a:pPr>
            <a:r>
              <a:rPr lang="en-US" sz="1700" dirty="0">
                <a:solidFill>
                  <a:schemeClr val="tx2"/>
                </a:solidFill>
              </a:rPr>
              <a:t>One verified and one not-reached suggestion</a:t>
            </a:r>
            <a:endParaRPr lang="en-US" sz="1700" dirty="0"/>
          </a:p>
        </p:txBody>
      </p:sp>
      <p:sp>
        <p:nvSpPr>
          <p:cNvPr id="20" name="card-76"/>
          <p:cNvSpPr/>
          <p:nvPr/>
        </p:nvSpPr>
        <p:spPr>
          <a:xfrm>
            <a:off x="731520" y="4471416"/>
            <a:ext cx="10728655" cy="713232"/>
          </a:xfrm>
          <a:prstGeom prst="roundRect">
            <a:avLst>
              <a:gd name="adj" fmla="val 15385"/>
            </a:avLst>
          </a:prstGeom>
          <a:solidFill>
            <a:srgbClr val="FDFDFF"/>
          </a:solidFill>
          <a:ln w="12700">
            <a:solidFill>
              <a:srgbClr val="E1E4F5"/>
            </a:solidFill>
            <a:prstDash val="solid"/>
          </a:ln>
        </p:spPr>
      </p:sp>
      <p:sp>
        <p:nvSpPr>
          <p:cNvPr id="21" name="pill-77"/>
          <p:cNvSpPr/>
          <p:nvPr/>
        </p:nvSpPr>
        <p:spPr>
          <a:xfrm>
            <a:off x="960120" y="4636008"/>
            <a:ext cx="502920" cy="384048"/>
          </a:xfrm>
          <a:prstGeom prst="roundRect">
            <a:avLst>
              <a:gd name="adj" fmla="val 50000"/>
            </a:avLst>
          </a:prstGeom>
          <a:solidFill>
            <a:srgbClr val="E6EBFF"/>
          </a:solidFill>
          <a:ln/>
        </p:spPr>
      </p:sp>
      <p:sp>
        <p:nvSpPr>
          <p:cNvPr id="22" name="text-78"/>
          <p:cNvSpPr txBox="1"/>
          <p:nvPr/>
        </p:nvSpPr>
        <p:spPr>
          <a:xfrm>
            <a:off x="960120" y="4636008"/>
            <a:ext cx="502920" cy="384048"/>
          </a:xfrm>
          <a:prstGeom prst="rect">
            <a:avLst/>
          </a:prstGeom>
          <a:noFill/>
          <a:ln/>
        </p:spPr>
        <p:txBody>
          <a:bodyPr wrap="square" lIns="0" tIns="0" rIns="0" bIns="0" rtlCol="0" anchor="ctr"/>
          <a:lstStyle/>
          <a:p>
            <a:pPr algn="ctr" indent="0" marL="0">
              <a:buNone/>
            </a:pPr>
            <a:r>
              <a:rPr lang="en-US" sz="1400" b="1" dirty="0">
                <a:solidFill>
                  <a:srgbClr val="3B3F9E"/>
                </a:solidFill>
              </a:rPr>
              <a:t>4</a:t>
            </a:r>
            <a:endParaRPr lang="en-US" sz="1400" dirty="0"/>
          </a:p>
        </p:txBody>
      </p:sp>
      <p:sp>
        <p:nvSpPr>
          <p:cNvPr id="23" name="text-79"/>
          <p:cNvSpPr txBox="1"/>
          <p:nvPr/>
        </p:nvSpPr>
        <p:spPr>
          <a:xfrm>
            <a:off x="1691640" y="4471416"/>
            <a:ext cx="3657600" cy="713232"/>
          </a:xfrm>
          <a:prstGeom prst="rect">
            <a:avLst/>
          </a:prstGeom>
          <a:noFill/>
          <a:ln/>
        </p:spPr>
        <p:txBody>
          <a:bodyPr wrap="square" lIns="0" tIns="0" rIns="0" bIns="0" rtlCol="0" anchor="ctr"/>
          <a:lstStyle/>
          <a:p>
            <a:pPr indent="0" marL="0">
              <a:buNone/>
            </a:pPr>
            <a:r>
              <a:rPr lang="en-US" sz="1900" b="1" dirty="0">
                <a:solidFill>
                  <a:schemeClr val="tx1"/>
                </a:solidFill>
              </a:rPr>
              <a:t>benchmarks/c/triangle.c</a:t>
            </a:r>
            <a:endParaRPr lang="en-US" sz="1900" dirty="0"/>
          </a:p>
        </p:txBody>
      </p:sp>
      <p:sp>
        <p:nvSpPr>
          <p:cNvPr id="24" name="text-80"/>
          <p:cNvSpPr txBox="1"/>
          <p:nvPr/>
        </p:nvSpPr>
        <p:spPr>
          <a:xfrm>
            <a:off x="5394960" y="4471416"/>
            <a:ext cx="5790895" cy="713232"/>
          </a:xfrm>
          <a:prstGeom prst="rect">
            <a:avLst/>
          </a:prstGeom>
          <a:noFill/>
          <a:ln/>
        </p:spPr>
        <p:txBody>
          <a:bodyPr wrap="square" lIns="0" tIns="0" rIns="0" bIns="0" rtlCol="0" anchor="ctr"/>
          <a:lstStyle/>
          <a:p>
            <a:pPr indent="0" marL="0">
              <a:buNone/>
            </a:pPr>
            <a:r>
              <a:rPr lang="en-US" sz="1700" dirty="0">
                <a:solidFill>
                  <a:schemeClr val="tx2"/>
                </a:solidFill>
              </a:rPr>
              <a:t>An honest limit: no targeted values for a + b &lt;= c</a:t>
            </a:r>
            <a:endParaRPr lang="en-US" sz="1700" dirty="0"/>
          </a:p>
        </p:txBody>
      </p:sp>
      <p:sp>
        <p:nvSpPr>
          <p:cNvPr id="25" name="text-81"/>
          <p:cNvSpPr txBox="1"/>
          <p:nvPr/>
        </p:nvSpPr>
        <p:spPr>
          <a:xfrm>
            <a:off x="731520" y="5440680"/>
            <a:ext cx="10728655" cy="411480"/>
          </a:xfrm>
          <a:prstGeom prst="rect">
            <a:avLst/>
          </a:prstGeom>
          <a:noFill/>
          <a:ln/>
        </p:spPr>
        <p:txBody>
          <a:bodyPr wrap="square" lIns="0" tIns="0" rIns="0" bIns="0" rtlCol="0" anchor="t"/>
          <a:lstStyle/>
          <a:p>
            <a:pPr indent="0" marL="0">
              <a:buNone/>
            </a:pPr>
            <a:r>
              <a:rPr lang="en-US" sz="1700" b="1" dirty="0">
                <a:solidFill>
                  <a:schemeClr val="tx1"/>
                </a:solidFill>
              </a:rPr>
              <a:t>Live: </a:t>
            </a:r>
            <a:pPr indent="0" marL="0">
              <a:buNone/>
            </a:pPr>
            <a:r>
              <a:rPr lang="en-US" sz="1700" b="1" dirty="0">
                <a:solidFill>
                  <a:schemeClr val="accent1"/>
                </a:solidFill>
              </a:rPr>
              <a:t>branchlab-ggon.onrender.com</a:t>
            </a:r>
            <a:pPr indent="0" marL="0">
              <a:buNone/>
            </a:pPr>
            <a:r>
              <a:rPr lang="en-US" sz="1700" dirty="0">
                <a:solidFill>
                  <a:schemeClr val="tx2"/>
                </a:solidFill>
              </a:rPr>
              <a:t>   ·   Backup: run locally from the repository</a:t>
            </a:r>
            <a:endParaRPr lang="en-US" sz="17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rgbClr val="AAB6FF"/>
                </a:solidFill>
              </a:rPr>
              <a:t>RESULTS · 15 PROGRAMS · SAME NUMBER OF TESTS</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bg1"/>
                </a:solidFill>
              </a:rPr>
              <a:t>Targeted beats random where it counts</a:t>
            </a:r>
            <a:endParaRPr lang="en-US" sz="3400" dirty="0"/>
          </a:p>
        </p:txBody>
      </p:sp>
      <p:sp>
        <p:nvSpPr>
          <p:cNvPr id="5" name="card-82"/>
          <p:cNvSpPr/>
          <p:nvPr/>
        </p:nvSpPr>
        <p:spPr>
          <a:xfrm>
            <a:off x="731520" y="1965960"/>
            <a:ext cx="3393338" cy="2743200"/>
          </a:xfrm>
          <a:prstGeom prst="roundRect">
            <a:avLst>
              <a:gd name="adj" fmla="val 4000"/>
            </a:avLst>
          </a:prstGeom>
          <a:solidFill>
            <a:srgbClr val="2A2F55"/>
          </a:solidFill>
          <a:ln/>
        </p:spPr>
      </p:sp>
      <p:sp>
        <p:nvSpPr>
          <p:cNvPr id="6" name="text-83"/>
          <p:cNvSpPr txBox="1"/>
          <p:nvPr/>
        </p:nvSpPr>
        <p:spPr>
          <a:xfrm>
            <a:off x="1051560" y="2194560"/>
            <a:ext cx="2753258" cy="365760"/>
          </a:xfrm>
          <a:prstGeom prst="rect">
            <a:avLst/>
          </a:prstGeom>
          <a:noFill/>
          <a:ln/>
        </p:spPr>
        <p:txBody>
          <a:bodyPr wrap="square" lIns="0" tIns="0" rIns="0" bIns="0" rtlCol="0" anchor="t"/>
          <a:lstStyle/>
          <a:p>
            <a:pPr indent="0" marL="0">
              <a:buNone/>
            </a:pPr>
            <a:r>
              <a:rPr lang="en-US" sz="1400" b="1" spc="100" kern="0" dirty="0">
                <a:solidFill>
                  <a:srgbClr val="9AA0C8"/>
                </a:solidFill>
              </a:rPr>
              <a:t>BRANCH COVERAGE</a:t>
            </a:r>
            <a:endParaRPr lang="en-US" sz="1400" dirty="0"/>
          </a:p>
        </p:txBody>
      </p:sp>
      <p:sp>
        <p:nvSpPr>
          <p:cNvPr id="7" name="text-84"/>
          <p:cNvSpPr txBox="1"/>
          <p:nvPr/>
        </p:nvSpPr>
        <p:spPr>
          <a:xfrm>
            <a:off x="1051560" y="2606040"/>
            <a:ext cx="2753258" cy="1005840"/>
          </a:xfrm>
          <a:prstGeom prst="rect">
            <a:avLst/>
          </a:prstGeom>
          <a:noFill/>
          <a:ln/>
        </p:spPr>
        <p:txBody>
          <a:bodyPr wrap="square" lIns="0" tIns="0" rIns="0" bIns="0" rtlCol="0" anchor="t"/>
          <a:lstStyle/>
          <a:p>
            <a:pPr indent="0" marL="0">
              <a:buNone/>
            </a:pPr>
            <a:r>
              <a:rPr lang="en-US" sz="6000" b="1" dirty="0">
                <a:solidFill>
                  <a:srgbClr val="90E2B6"/>
                </a:solidFill>
              </a:rPr>
              <a:t>90.0%</a:t>
            </a:r>
            <a:endParaRPr lang="en-US" sz="6000" dirty="0"/>
          </a:p>
        </p:txBody>
      </p:sp>
      <p:sp>
        <p:nvSpPr>
          <p:cNvPr id="8" name="text-85"/>
          <p:cNvSpPr txBox="1"/>
          <p:nvPr/>
        </p:nvSpPr>
        <p:spPr>
          <a:xfrm>
            <a:off x="1051560" y="3611880"/>
            <a:ext cx="2753258" cy="320040"/>
          </a:xfrm>
          <a:prstGeom prst="rect">
            <a:avLst/>
          </a:prstGeom>
          <a:noFill/>
          <a:ln/>
        </p:spPr>
        <p:txBody>
          <a:bodyPr wrap="square" lIns="0" tIns="0" rIns="0" bIns="0" rtlCol="0" anchor="t"/>
          <a:lstStyle/>
          <a:p>
            <a:pPr indent="0" marL="0">
              <a:buNone/>
            </a:pPr>
            <a:r>
              <a:rPr lang="en-US" sz="1500" dirty="0">
                <a:solidFill>
                  <a:srgbClr val="C9CDE8"/>
                </a:solidFill>
              </a:rPr>
              <a:t>AST-targeted</a:t>
            </a:r>
            <a:endParaRPr lang="en-US" sz="1500" dirty="0"/>
          </a:p>
        </p:txBody>
      </p:sp>
      <p:sp>
        <p:nvSpPr>
          <p:cNvPr id="9" name="text-86"/>
          <p:cNvSpPr txBox="1"/>
          <p:nvPr/>
        </p:nvSpPr>
        <p:spPr>
          <a:xfrm>
            <a:off x="1051560" y="4069080"/>
            <a:ext cx="2753258" cy="411480"/>
          </a:xfrm>
          <a:prstGeom prst="rect">
            <a:avLst/>
          </a:prstGeom>
          <a:noFill/>
          <a:ln/>
        </p:spPr>
        <p:txBody>
          <a:bodyPr wrap="square" lIns="0" tIns="0" rIns="0" bIns="0" rtlCol="0" anchor="t"/>
          <a:lstStyle/>
          <a:p>
            <a:pPr indent="0" marL="0">
              <a:buNone/>
            </a:pPr>
            <a:r>
              <a:rPr lang="en-US" sz="1900" b="1" dirty="0">
                <a:solidFill>
                  <a:srgbClr val="C9CDE8"/>
                </a:solidFill>
              </a:rPr>
              <a:t>Random: 57.6%</a:t>
            </a:r>
            <a:endParaRPr lang="en-US" sz="1900" dirty="0"/>
          </a:p>
        </p:txBody>
      </p:sp>
      <p:sp>
        <p:nvSpPr>
          <p:cNvPr id="10" name="card-87"/>
          <p:cNvSpPr/>
          <p:nvPr/>
        </p:nvSpPr>
        <p:spPr>
          <a:xfrm>
            <a:off x="4399178" y="1965960"/>
            <a:ext cx="3393338" cy="2743200"/>
          </a:xfrm>
          <a:prstGeom prst="roundRect">
            <a:avLst>
              <a:gd name="adj" fmla="val 4000"/>
            </a:avLst>
          </a:prstGeom>
          <a:solidFill>
            <a:srgbClr val="2A2F55"/>
          </a:solidFill>
          <a:ln/>
        </p:spPr>
      </p:sp>
      <p:sp>
        <p:nvSpPr>
          <p:cNvPr id="11" name="text-88"/>
          <p:cNvSpPr txBox="1"/>
          <p:nvPr/>
        </p:nvSpPr>
        <p:spPr>
          <a:xfrm>
            <a:off x="4719218" y="2194560"/>
            <a:ext cx="2753258" cy="365760"/>
          </a:xfrm>
          <a:prstGeom prst="rect">
            <a:avLst/>
          </a:prstGeom>
          <a:noFill/>
          <a:ln/>
        </p:spPr>
        <p:txBody>
          <a:bodyPr wrap="square" lIns="0" tIns="0" rIns="0" bIns="0" rtlCol="0" anchor="t"/>
          <a:lstStyle/>
          <a:p>
            <a:pPr indent="0" marL="0">
              <a:buNone/>
            </a:pPr>
            <a:r>
              <a:rPr lang="en-US" sz="1400" b="1" spc="100" kern="0" dirty="0">
                <a:solidFill>
                  <a:srgbClr val="9AA0C8"/>
                </a:solidFill>
              </a:rPr>
              <a:t>STATEMENT COVERAGE</a:t>
            </a:r>
            <a:endParaRPr lang="en-US" sz="1400" dirty="0"/>
          </a:p>
        </p:txBody>
      </p:sp>
      <p:sp>
        <p:nvSpPr>
          <p:cNvPr id="12" name="text-89"/>
          <p:cNvSpPr txBox="1"/>
          <p:nvPr/>
        </p:nvSpPr>
        <p:spPr>
          <a:xfrm>
            <a:off x="4719218" y="2606040"/>
            <a:ext cx="2753258" cy="1005840"/>
          </a:xfrm>
          <a:prstGeom prst="rect">
            <a:avLst/>
          </a:prstGeom>
          <a:noFill/>
          <a:ln/>
        </p:spPr>
        <p:txBody>
          <a:bodyPr wrap="square" lIns="0" tIns="0" rIns="0" bIns="0" rtlCol="0" anchor="t"/>
          <a:lstStyle/>
          <a:p>
            <a:pPr indent="0" marL="0">
              <a:buNone/>
            </a:pPr>
            <a:r>
              <a:rPr lang="en-US" sz="6000" b="1" dirty="0">
                <a:solidFill>
                  <a:srgbClr val="AAB6FF"/>
                </a:solidFill>
              </a:rPr>
              <a:t>93.4%</a:t>
            </a:r>
            <a:endParaRPr lang="en-US" sz="6000" dirty="0"/>
          </a:p>
        </p:txBody>
      </p:sp>
      <p:sp>
        <p:nvSpPr>
          <p:cNvPr id="13" name="text-90"/>
          <p:cNvSpPr txBox="1"/>
          <p:nvPr/>
        </p:nvSpPr>
        <p:spPr>
          <a:xfrm>
            <a:off x="4719218" y="3611880"/>
            <a:ext cx="2753258" cy="320040"/>
          </a:xfrm>
          <a:prstGeom prst="rect">
            <a:avLst/>
          </a:prstGeom>
          <a:noFill/>
          <a:ln/>
        </p:spPr>
        <p:txBody>
          <a:bodyPr wrap="square" lIns="0" tIns="0" rIns="0" bIns="0" rtlCol="0" anchor="t"/>
          <a:lstStyle/>
          <a:p>
            <a:pPr indent="0" marL="0">
              <a:buNone/>
            </a:pPr>
            <a:r>
              <a:rPr lang="en-US" sz="1500" dirty="0">
                <a:solidFill>
                  <a:srgbClr val="C9CDE8"/>
                </a:solidFill>
              </a:rPr>
              <a:t>AST-targeted</a:t>
            </a:r>
            <a:endParaRPr lang="en-US" sz="1500" dirty="0"/>
          </a:p>
        </p:txBody>
      </p:sp>
      <p:sp>
        <p:nvSpPr>
          <p:cNvPr id="14" name="text-91"/>
          <p:cNvSpPr txBox="1"/>
          <p:nvPr/>
        </p:nvSpPr>
        <p:spPr>
          <a:xfrm>
            <a:off x="4719218" y="4069080"/>
            <a:ext cx="2753258" cy="411480"/>
          </a:xfrm>
          <a:prstGeom prst="rect">
            <a:avLst/>
          </a:prstGeom>
          <a:noFill/>
          <a:ln/>
        </p:spPr>
        <p:txBody>
          <a:bodyPr wrap="square" lIns="0" tIns="0" rIns="0" bIns="0" rtlCol="0" anchor="t"/>
          <a:lstStyle/>
          <a:p>
            <a:pPr indent="0" marL="0">
              <a:buNone/>
            </a:pPr>
            <a:r>
              <a:rPr lang="en-US" sz="1900" b="1" dirty="0">
                <a:solidFill>
                  <a:srgbClr val="C9CDE8"/>
                </a:solidFill>
              </a:rPr>
              <a:t>Random: 70.1%</a:t>
            </a:r>
            <a:endParaRPr lang="en-US" sz="1900" dirty="0"/>
          </a:p>
        </p:txBody>
      </p:sp>
      <p:sp>
        <p:nvSpPr>
          <p:cNvPr id="15" name="card-92"/>
          <p:cNvSpPr/>
          <p:nvPr/>
        </p:nvSpPr>
        <p:spPr>
          <a:xfrm>
            <a:off x="8066837" y="1965960"/>
            <a:ext cx="3393338" cy="2743200"/>
          </a:xfrm>
          <a:prstGeom prst="roundRect">
            <a:avLst>
              <a:gd name="adj" fmla="val 4000"/>
            </a:avLst>
          </a:prstGeom>
          <a:solidFill>
            <a:srgbClr val="2A2F55"/>
          </a:solidFill>
          <a:ln/>
        </p:spPr>
      </p:sp>
      <p:sp>
        <p:nvSpPr>
          <p:cNvPr id="16" name="text-93"/>
          <p:cNvSpPr txBox="1"/>
          <p:nvPr/>
        </p:nvSpPr>
        <p:spPr>
          <a:xfrm>
            <a:off x="8386877" y="2194560"/>
            <a:ext cx="2753258" cy="365760"/>
          </a:xfrm>
          <a:prstGeom prst="rect">
            <a:avLst/>
          </a:prstGeom>
          <a:noFill/>
          <a:ln/>
        </p:spPr>
        <p:txBody>
          <a:bodyPr wrap="square" lIns="0" tIns="0" rIns="0" bIns="0" rtlCol="0" anchor="t"/>
          <a:lstStyle/>
          <a:p>
            <a:pPr indent="0" marL="0">
              <a:buNone/>
            </a:pPr>
            <a:r>
              <a:rPr lang="en-US" sz="1400" b="1" spc="100" kern="0" dirty="0">
                <a:solidFill>
                  <a:srgbClr val="9AA0C8"/>
                </a:solidFill>
              </a:rPr>
              <a:t>FAULTS DETECTED</a:t>
            </a:r>
            <a:endParaRPr lang="en-US" sz="1400" dirty="0"/>
          </a:p>
        </p:txBody>
      </p:sp>
      <p:sp>
        <p:nvSpPr>
          <p:cNvPr id="17" name="text-94"/>
          <p:cNvSpPr txBox="1"/>
          <p:nvPr/>
        </p:nvSpPr>
        <p:spPr>
          <a:xfrm>
            <a:off x="8386877" y="2606040"/>
            <a:ext cx="2753258" cy="1005840"/>
          </a:xfrm>
          <a:prstGeom prst="rect">
            <a:avLst/>
          </a:prstGeom>
          <a:noFill/>
          <a:ln/>
        </p:spPr>
        <p:txBody>
          <a:bodyPr wrap="square" lIns="0" tIns="0" rIns="0" bIns="0" rtlCol="0" anchor="t"/>
          <a:lstStyle/>
          <a:p>
            <a:pPr indent="0" marL="0">
              <a:buNone/>
            </a:pPr>
            <a:r>
              <a:rPr lang="en-US" sz="6000" b="1" dirty="0">
                <a:solidFill>
                  <a:srgbClr val="F2CF88"/>
                </a:solidFill>
              </a:rPr>
              <a:t>91.0%</a:t>
            </a:r>
            <a:endParaRPr lang="en-US" sz="6000" dirty="0"/>
          </a:p>
        </p:txBody>
      </p:sp>
      <p:sp>
        <p:nvSpPr>
          <p:cNvPr id="18" name="text-95"/>
          <p:cNvSpPr txBox="1"/>
          <p:nvPr/>
        </p:nvSpPr>
        <p:spPr>
          <a:xfrm>
            <a:off x="8386877" y="3611880"/>
            <a:ext cx="2753258" cy="320040"/>
          </a:xfrm>
          <a:prstGeom prst="rect">
            <a:avLst/>
          </a:prstGeom>
          <a:noFill/>
          <a:ln/>
        </p:spPr>
        <p:txBody>
          <a:bodyPr wrap="square" lIns="0" tIns="0" rIns="0" bIns="0" rtlCol="0" anchor="t"/>
          <a:lstStyle/>
          <a:p>
            <a:pPr indent="0" marL="0">
              <a:buNone/>
            </a:pPr>
            <a:r>
              <a:rPr lang="en-US" sz="1500" dirty="0">
                <a:solidFill>
                  <a:srgbClr val="C9CDE8"/>
                </a:solidFill>
              </a:rPr>
              <a:t>AST-targeted</a:t>
            </a:r>
            <a:endParaRPr lang="en-US" sz="1500" dirty="0"/>
          </a:p>
        </p:txBody>
      </p:sp>
      <p:sp>
        <p:nvSpPr>
          <p:cNvPr id="19" name="text-96"/>
          <p:cNvSpPr txBox="1"/>
          <p:nvPr/>
        </p:nvSpPr>
        <p:spPr>
          <a:xfrm>
            <a:off x="8386877" y="4069080"/>
            <a:ext cx="2753258" cy="411480"/>
          </a:xfrm>
          <a:prstGeom prst="rect">
            <a:avLst/>
          </a:prstGeom>
          <a:noFill/>
          <a:ln/>
        </p:spPr>
        <p:txBody>
          <a:bodyPr wrap="square" lIns="0" tIns="0" rIns="0" bIns="0" rtlCol="0" anchor="t"/>
          <a:lstStyle/>
          <a:p>
            <a:pPr indent="0" marL="0">
              <a:buNone/>
            </a:pPr>
            <a:r>
              <a:rPr lang="en-US" sz="1900" b="1" dirty="0">
                <a:solidFill>
                  <a:srgbClr val="C9CDE8"/>
                </a:solidFill>
              </a:rPr>
              <a:t>Random: 14.1%</a:t>
            </a:r>
            <a:endParaRPr lang="en-US" sz="1900" dirty="0"/>
          </a:p>
        </p:txBody>
      </p:sp>
      <p:sp>
        <p:nvSpPr>
          <p:cNvPr id="20" name="text-97"/>
          <p:cNvSpPr txBox="1"/>
          <p:nvPr/>
        </p:nvSpPr>
        <p:spPr>
          <a:xfrm>
            <a:off x="731520" y="5120640"/>
            <a:ext cx="10728655" cy="411480"/>
          </a:xfrm>
          <a:prstGeom prst="rect">
            <a:avLst/>
          </a:prstGeom>
          <a:noFill/>
          <a:ln/>
        </p:spPr>
        <p:txBody>
          <a:bodyPr wrap="square" lIns="0" tIns="0" rIns="0" bIns="0" rtlCol="0" anchor="t"/>
          <a:lstStyle/>
          <a:p>
            <a:pPr indent="0" marL="0">
              <a:buNone/>
            </a:pPr>
            <a:r>
              <a:rPr lang="en-US" sz="1700" dirty="0">
                <a:solidFill>
                  <a:srgbClr val="C9CDE8"/>
                </a:solidFill>
              </a:rPr>
              <a:t>≈ 4 ms to generate a suite  ·  153 boundary mutants  ·  random = mean of 3 seeds</a:t>
            </a:r>
            <a:endParaRPr lang="en-US" sz="17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9AA0C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PER PROGRAM</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Never worse on branches or faults</a:t>
            </a:r>
            <a:endParaRPr lang="en-US" sz="3400" dirty="0"/>
          </a:p>
        </p:txBody>
      </p:sp>
      <p:pic>
        <p:nvPicPr>
          <p:cNvPr id="5" name="figure-98" descr="Per-program dot plot of branch coverage, statement coverage and mutation score, AST-targeted versus random">    </p:cNvPr>
          <p:cNvPicPr>
            <a:picLocks noChangeAspect="1"/>
          </p:cNvPicPr>
          <p:nvPr/>
        </p:nvPicPr>
        <p:blipFill>
          <a:blip r:embed="rId1"/>
          <a:stretch>
            <a:fillRect/>
          </a:stretch>
        </p:blipFill>
        <p:spPr>
          <a:xfrm>
            <a:off x="1176431" y="1783080"/>
            <a:ext cx="9838833" cy="4572000"/>
          </a:xfrm>
          <a:prstGeom prst="rect">
            <a:avLst/>
          </a:prstGeom>
        </p:spPr>
      </p:pic>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HONEST LIMITS</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Where the approach stops</a:t>
            </a:r>
            <a:endParaRPr lang="en-US" sz="3400" dirty="0"/>
          </a:p>
        </p:txBody>
      </p:sp>
      <p:sp>
        <p:nvSpPr>
          <p:cNvPr id="5" name="card-99"/>
          <p:cNvSpPr/>
          <p:nvPr/>
        </p:nvSpPr>
        <p:spPr>
          <a:xfrm>
            <a:off x="731520" y="1965960"/>
            <a:ext cx="2476424" cy="3246120"/>
          </a:xfrm>
          <a:prstGeom prst="roundRect">
            <a:avLst>
              <a:gd name="adj" fmla="val 4431"/>
            </a:avLst>
          </a:prstGeom>
          <a:solidFill>
            <a:srgbClr val="E6EBFF"/>
          </a:solidFill>
          <a:ln/>
        </p:spPr>
      </p:sp>
      <p:sp>
        <p:nvSpPr>
          <p:cNvPr id="6" name="text-100"/>
          <p:cNvSpPr txBox="1"/>
          <p:nvPr/>
        </p:nvSpPr>
        <p:spPr>
          <a:xfrm>
            <a:off x="960120" y="2148840"/>
            <a:ext cx="2019224" cy="731520"/>
          </a:xfrm>
          <a:prstGeom prst="rect">
            <a:avLst/>
          </a:prstGeom>
          <a:noFill/>
          <a:ln/>
        </p:spPr>
        <p:txBody>
          <a:bodyPr wrap="square" lIns="0" tIns="0" rIns="0" bIns="0" rtlCol="0" anchor="t"/>
          <a:lstStyle/>
          <a:p>
            <a:pPr indent="0" marL="0">
              <a:buNone/>
            </a:pPr>
            <a:r>
              <a:rPr lang="en-US" sz="1900" b="1" dirty="0">
                <a:solidFill>
                  <a:srgbClr val="3B3F9E"/>
                </a:solidFill>
              </a:rPr>
              <a:t>Variable vs variable</a:t>
            </a:r>
            <a:endParaRPr lang="en-US" sz="1900" dirty="0"/>
          </a:p>
        </p:txBody>
      </p:sp>
      <p:sp>
        <p:nvSpPr>
          <p:cNvPr id="7" name="text-101"/>
          <p:cNvSpPr txBox="1"/>
          <p:nvPr/>
        </p:nvSpPr>
        <p:spPr>
          <a:xfrm>
            <a:off x="960120" y="2926080"/>
            <a:ext cx="2019224" cy="82296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triangle.c:</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a + b &lt;= c</a:t>
            </a:r>
            <a:endParaRPr lang="en-US" sz="1300" dirty="0"/>
          </a:p>
        </p:txBody>
      </p:sp>
      <p:sp>
        <p:nvSpPr>
          <p:cNvPr id="8" name="text-102"/>
          <p:cNvSpPr txBox="1"/>
          <p:nvPr/>
        </p:nvSpPr>
        <p:spPr>
          <a:xfrm>
            <a:off x="960120" y="3931920"/>
            <a:ext cx="2019224" cy="274320"/>
          </a:xfrm>
          <a:prstGeom prst="rect">
            <a:avLst/>
          </a:prstGeom>
          <a:noFill/>
          <a:ln/>
        </p:spPr>
        <p:txBody>
          <a:bodyPr wrap="square" lIns="0" tIns="0" rIns="0" bIns="0" rtlCol="0" anchor="t"/>
          <a:lstStyle/>
          <a:p>
            <a:pPr indent="0" marL="0">
              <a:buNone/>
            </a:pPr>
            <a:r>
              <a:rPr lang="en-US" sz="1200" b="1" spc="100" kern="0" dirty="0">
                <a:solidFill>
                  <a:srgbClr val="3B3F9E"/>
                </a:solidFill>
              </a:rPr>
              <a:t>NEXT STEP</a:t>
            </a:r>
            <a:endParaRPr lang="en-US" sz="1200" dirty="0"/>
          </a:p>
        </p:txBody>
      </p:sp>
      <p:sp>
        <p:nvSpPr>
          <p:cNvPr id="9" name="text-103"/>
          <p:cNvSpPr txBox="1"/>
          <p:nvPr/>
        </p:nvSpPr>
        <p:spPr>
          <a:xfrm>
            <a:off x="960120" y="4206240"/>
            <a:ext cx="2019224" cy="822960"/>
          </a:xfrm>
          <a:prstGeom prst="rect">
            <a:avLst/>
          </a:prstGeom>
          <a:noFill/>
          <a:ln/>
        </p:spPr>
        <p:txBody>
          <a:bodyPr wrap="square" lIns="0" tIns="0" rIns="0" bIns="0" rtlCol="0" anchor="t"/>
          <a:lstStyle/>
          <a:p>
            <a:pPr indent="0" marL="0">
              <a:buNone/>
            </a:pPr>
            <a:r>
              <a:rPr lang="en-US" sz="1500" dirty="0">
                <a:solidFill>
                  <a:srgbClr val="3B3F9E"/>
                </a:solidFill>
              </a:rPr>
              <a:t>Light constraint handling</a:t>
            </a:r>
            <a:endParaRPr lang="en-US" sz="1500" dirty="0"/>
          </a:p>
        </p:txBody>
      </p:sp>
      <p:sp>
        <p:nvSpPr>
          <p:cNvPr id="10" name="card-104"/>
          <p:cNvSpPr/>
          <p:nvPr/>
        </p:nvSpPr>
        <p:spPr>
          <a:xfrm>
            <a:off x="3482264" y="1965960"/>
            <a:ext cx="2476424" cy="3246120"/>
          </a:xfrm>
          <a:prstGeom prst="roundRect">
            <a:avLst>
              <a:gd name="adj" fmla="val 4431"/>
            </a:avLst>
          </a:prstGeom>
          <a:solidFill>
            <a:srgbClr val="EFE9FF"/>
          </a:solidFill>
          <a:ln/>
        </p:spPr>
      </p:sp>
      <p:sp>
        <p:nvSpPr>
          <p:cNvPr id="11" name="text-105"/>
          <p:cNvSpPr txBox="1"/>
          <p:nvPr/>
        </p:nvSpPr>
        <p:spPr>
          <a:xfrm>
            <a:off x="3710864" y="2148840"/>
            <a:ext cx="2019224" cy="731520"/>
          </a:xfrm>
          <a:prstGeom prst="rect">
            <a:avLst/>
          </a:prstGeom>
          <a:noFill/>
          <a:ln/>
        </p:spPr>
        <p:txBody>
          <a:bodyPr wrap="square" lIns="0" tIns="0" rIns="0" bIns="0" rtlCol="0" anchor="t"/>
          <a:lstStyle/>
          <a:p>
            <a:pPr indent="0" marL="0">
              <a:buNone/>
            </a:pPr>
            <a:r>
              <a:rPr lang="en-US" sz="1900" b="1" dirty="0">
                <a:solidFill>
                  <a:srgbClr val="5B2FAE"/>
                </a:solidFill>
              </a:rPr>
              <a:t>Arithmetic in conditions</a:t>
            </a:r>
            <a:endParaRPr lang="en-US" sz="1900" dirty="0"/>
          </a:p>
        </p:txBody>
      </p:sp>
      <p:sp>
        <p:nvSpPr>
          <p:cNvPr id="12" name="text-106"/>
          <p:cNvSpPr txBox="1"/>
          <p:nvPr/>
        </p:nvSpPr>
        <p:spPr>
          <a:xfrm>
            <a:off x="3710864" y="2926080"/>
            <a:ext cx="2019224" cy="82296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leap_year.py: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year % 400 == 0</a:t>
            </a:r>
            <a:endParaRPr lang="en-US" sz="1300" dirty="0"/>
          </a:p>
        </p:txBody>
      </p:sp>
      <p:sp>
        <p:nvSpPr>
          <p:cNvPr id="13" name="text-107"/>
          <p:cNvSpPr txBox="1"/>
          <p:nvPr/>
        </p:nvSpPr>
        <p:spPr>
          <a:xfrm>
            <a:off x="3710864" y="3931920"/>
            <a:ext cx="2019224" cy="274320"/>
          </a:xfrm>
          <a:prstGeom prst="rect">
            <a:avLst/>
          </a:prstGeom>
          <a:noFill/>
          <a:ln/>
        </p:spPr>
        <p:txBody>
          <a:bodyPr wrap="square" lIns="0" tIns="0" rIns="0" bIns="0" rtlCol="0" anchor="t"/>
          <a:lstStyle/>
          <a:p>
            <a:pPr indent="0" marL="0">
              <a:buNone/>
            </a:pPr>
            <a:r>
              <a:rPr lang="en-US" sz="1200" b="1" spc="100" kern="0" dirty="0">
                <a:solidFill>
                  <a:srgbClr val="5B2FAE"/>
                </a:solidFill>
              </a:rPr>
              <a:t>NEXT STEP</a:t>
            </a:r>
            <a:endParaRPr lang="en-US" sz="1200" dirty="0"/>
          </a:p>
        </p:txBody>
      </p:sp>
      <p:sp>
        <p:nvSpPr>
          <p:cNvPr id="14" name="text-108"/>
          <p:cNvSpPr txBox="1"/>
          <p:nvPr/>
        </p:nvSpPr>
        <p:spPr>
          <a:xfrm>
            <a:off x="3710864" y="4206240"/>
            <a:ext cx="2019224" cy="822960"/>
          </a:xfrm>
          <a:prstGeom prst="rect">
            <a:avLst/>
          </a:prstGeom>
          <a:noFill/>
          <a:ln/>
        </p:spPr>
        <p:txBody>
          <a:bodyPr wrap="square" lIns="0" tIns="0" rIns="0" bIns="0" rtlCol="0" anchor="t"/>
          <a:lstStyle/>
          <a:p>
            <a:pPr indent="0" marL="0">
              <a:buNone/>
            </a:pPr>
            <a:r>
              <a:rPr lang="en-US" sz="1500" dirty="0">
                <a:solidFill>
                  <a:srgbClr val="5B2FAE"/>
                </a:solidFill>
              </a:rPr>
              <a:t>Solve simple forms like x % n == 0</a:t>
            </a:r>
            <a:endParaRPr lang="en-US" sz="1500" dirty="0"/>
          </a:p>
        </p:txBody>
      </p:sp>
      <p:sp>
        <p:nvSpPr>
          <p:cNvPr id="15" name="card-109"/>
          <p:cNvSpPr/>
          <p:nvPr/>
        </p:nvSpPr>
        <p:spPr>
          <a:xfrm>
            <a:off x="6233008" y="1965960"/>
            <a:ext cx="2476424" cy="3246120"/>
          </a:xfrm>
          <a:prstGeom prst="roundRect">
            <a:avLst>
              <a:gd name="adj" fmla="val 4431"/>
            </a:avLst>
          </a:prstGeom>
          <a:solidFill>
            <a:srgbClr val="FDF1D3"/>
          </a:solidFill>
          <a:ln/>
        </p:spPr>
      </p:sp>
      <p:sp>
        <p:nvSpPr>
          <p:cNvPr id="16" name="text-110"/>
          <p:cNvSpPr txBox="1"/>
          <p:nvPr/>
        </p:nvSpPr>
        <p:spPr>
          <a:xfrm>
            <a:off x="6461608" y="2148840"/>
            <a:ext cx="2019224" cy="731520"/>
          </a:xfrm>
          <a:prstGeom prst="rect">
            <a:avLst/>
          </a:prstGeom>
          <a:noFill/>
          <a:ln/>
        </p:spPr>
        <p:txBody>
          <a:bodyPr wrap="square" lIns="0" tIns="0" rIns="0" bIns="0" rtlCol="0" anchor="t"/>
          <a:lstStyle/>
          <a:p>
            <a:pPr indent="0" marL="0">
              <a:buNone/>
            </a:pPr>
            <a:r>
              <a:rPr lang="en-US" sz="1900" b="1" dirty="0">
                <a:solidFill>
                  <a:srgbClr val="8A4B0F"/>
                </a:solidFill>
              </a:rPr>
              <a:t>Computed values</a:t>
            </a:r>
            <a:endParaRPr lang="en-US" sz="1900" dirty="0"/>
          </a:p>
        </p:txBody>
      </p:sp>
      <p:sp>
        <p:nvSpPr>
          <p:cNvPr id="17" name="text-111"/>
          <p:cNvSpPr txBox="1"/>
          <p:nvPr/>
        </p:nvSpPr>
        <p:spPr>
          <a:xfrm>
            <a:off x="6461608" y="2926080"/>
            <a:ext cx="2019224" cy="82296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electricity_bill.c:</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bill &gt; 1000</a:t>
            </a:r>
            <a:endParaRPr lang="en-US" sz="1300" dirty="0"/>
          </a:p>
        </p:txBody>
      </p:sp>
      <p:sp>
        <p:nvSpPr>
          <p:cNvPr id="18" name="text-112"/>
          <p:cNvSpPr txBox="1"/>
          <p:nvPr/>
        </p:nvSpPr>
        <p:spPr>
          <a:xfrm>
            <a:off x="6461608" y="3931920"/>
            <a:ext cx="2019224" cy="274320"/>
          </a:xfrm>
          <a:prstGeom prst="rect">
            <a:avLst/>
          </a:prstGeom>
          <a:noFill/>
          <a:ln/>
        </p:spPr>
        <p:txBody>
          <a:bodyPr wrap="square" lIns="0" tIns="0" rIns="0" bIns="0" rtlCol="0" anchor="t"/>
          <a:lstStyle/>
          <a:p>
            <a:pPr indent="0" marL="0">
              <a:buNone/>
            </a:pPr>
            <a:r>
              <a:rPr lang="en-US" sz="1200" b="1" spc="100" kern="0" dirty="0">
                <a:solidFill>
                  <a:srgbClr val="8A4B0F"/>
                </a:solidFill>
              </a:rPr>
              <a:t>NEXT STEP</a:t>
            </a:r>
            <a:endParaRPr lang="en-US" sz="1200" dirty="0"/>
          </a:p>
        </p:txBody>
      </p:sp>
      <p:sp>
        <p:nvSpPr>
          <p:cNvPr id="19" name="text-113"/>
          <p:cNvSpPr txBox="1"/>
          <p:nvPr/>
        </p:nvSpPr>
        <p:spPr>
          <a:xfrm>
            <a:off x="6461608" y="4206240"/>
            <a:ext cx="2019224" cy="822960"/>
          </a:xfrm>
          <a:prstGeom prst="rect">
            <a:avLst/>
          </a:prstGeom>
          <a:noFill/>
          <a:ln/>
        </p:spPr>
        <p:txBody>
          <a:bodyPr wrap="square" lIns="0" tIns="0" rIns="0" bIns="0" rtlCol="0" anchor="t"/>
          <a:lstStyle/>
          <a:p>
            <a:pPr indent="0" marL="0">
              <a:buNone/>
            </a:pPr>
            <a:r>
              <a:rPr lang="en-US" sz="1500" dirty="0">
                <a:solidFill>
                  <a:srgbClr val="8A4B0F"/>
                </a:solidFill>
              </a:rPr>
              <a:t>Propagate boundaries back to inputs</a:t>
            </a:r>
            <a:endParaRPr lang="en-US" sz="1500" dirty="0"/>
          </a:p>
        </p:txBody>
      </p:sp>
      <p:sp>
        <p:nvSpPr>
          <p:cNvPr id="20" name="card-114"/>
          <p:cNvSpPr/>
          <p:nvPr/>
        </p:nvSpPr>
        <p:spPr>
          <a:xfrm>
            <a:off x="8983751" y="1965960"/>
            <a:ext cx="2476424" cy="3246120"/>
          </a:xfrm>
          <a:prstGeom prst="roundRect">
            <a:avLst>
              <a:gd name="adj" fmla="val 4431"/>
            </a:avLst>
          </a:prstGeom>
          <a:solidFill>
            <a:srgbClr val="FFE6EA"/>
          </a:solidFill>
          <a:ln/>
        </p:spPr>
      </p:sp>
      <p:sp>
        <p:nvSpPr>
          <p:cNvPr id="21" name="text-115"/>
          <p:cNvSpPr txBox="1"/>
          <p:nvPr/>
        </p:nvSpPr>
        <p:spPr>
          <a:xfrm>
            <a:off x="9212351" y="2148840"/>
            <a:ext cx="2019224" cy="731520"/>
          </a:xfrm>
          <a:prstGeom prst="rect">
            <a:avLst/>
          </a:prstGeom>
          <a:noFill/>
          <a:ln/>
        </p:spPr>
        <p:txBody>
          <a:bodyPr wrap="square" lIns="0" tIns="0" rIns="0" bIns="0" rtlCol="0" anchor="t"/>
          <a:lstStyle/>
          <a:p>
            <a:pPr indent="0" marL="0">
              <a:buNone/>
            </a:pPr>
            <a:r>
              <a:rPr lang="en-US" sz="1900" b="1" dirty="0">
                <a:solidFill>
                  <a:srgbClr val="A1213F"/>
                </a:solidFill>
              </a:rPr>
              <a:t>Action sequences</a:t>
            </a:r>
            <a:endParaRPr lang="en-US" sz="1900" dirty="0"/>
          </a:p>
        </p:txBody>
      </p:sp>
      <p:sp>
        <p:nvSpPr>
          <p:cNvPr id="22" name="text-116"/>
          <p:cNvSpPr txBox="1"/>
          <p:nvPr/>
        </p:nvSpPr>
        <p:spPr>
          <a:xfrm>
            <a:off x="9212351" y="2926080"/>
            <a:ext cx="2019224" cy="82296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bank.c:</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create, then deposit</a:t>
            </a:r>
            <a:endParaRPr lang="en-US" sz="1300" dirty="0"/>
          </a:p>
        </p:txBody>
      </p:sp>
      <p:sp>
        <p:nvSpPr>
          <p:cNvPr id="23" name="text-117"/>
          <p:cNvSpPr txBox="1"/>
          <p:nvPr/>
        </p:nvSpPr>
        <p:spPr>
          <a:xfrm>
            <a:off x="9212351" y="3931920"/>
            <a:ext cx="2019224" cy="274320"/>
          </a:xfrm>
          <a:prstGeom prst="rect">
            <a:avLst/>
          </a:prstGeom>
          <a:noFill/>
          <a:ln/>
        </p:spPr>
        <p:txBody>
          <a:bodyPr wrap="square" lIns="0" tIns="0" rIns="0" bIns="0" rtlCol="0" anchor="t"/>
          <a:lstStyle/>
          <a:p>
            <a:pPr indent="0" marL="0">
              <a:buNone/>
            </a:pPr>
            <a:r>
              <a:rPr lang="en-US" sz="1200" b="1" spc="100" kern="0" dirty="0">
                <a:solidFill>
                  <a:srgbClr val="A1213F"/>
                </a:solidFill>
              </a:rPr>
              <a:t>NEXT STEP</a:t>
            </a:r>
            <a:endParaRPr lang="en-US" sz="1200" dirty="0"/>
          </a:p>
        </p:txBody>
      </p:sp>
      <p:sp>
        <p:nvSpPr>
          <p:cNvPr id="24" name="text-118"/>
          <p:cNvSpPr txBox="1"/>
          <p:nvPr/>
        </p:nvSpPr>
        <p:spPr>
          <a:xfrm>
            <a:off x="9212351" y="4206240"/>
            <a:ext cx="2019224" cy="822960"/>
          </a:xfrm>
          <a:prstGeom prst="rect">
            <a:avLst/>
          </a:prstGeom>
          <a:noFill/>
          <a:ln/>
        </p:spPr>
        <p:txBody>
          <a:bodyPr wrap="square" lIns="0" tIns="0" rIns="0" bIns="0" rtlCol="0" anchor="t"/>
          <a:lstStyle/>
          <a:p>
            <a:pPr indent="0" marL="0">
              <a:buNone/>
            </a:pPr>
            <a:r>
              <a:rPr lang="en-US" sz="1500" dirty="0">
                <a:solidFill>
                  <a:srgbClr val="A1213F"/>
                </a:solidFill>
              </a:rPr>
              <a:t>Generate multi-step input sequences</a:t>
            </a:r>
            <a:endParaRPr lang="en-US" sz="15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INDIVIDUAL CONTRIBUTION</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Sole member: designed, built and evaluated</a:t>
            </a:r>
            <a:endParaRPr lang="en-US" sz="3400" dirty="0"/>
          </a:p>
        </p:txBody>
      </p:sp>
      <p:sp>
        <p:nvSpPr>
          <p:cNvPr id="5" name="card-119"/>
          <p:cNvSpPr/>
          <p:nvPr/>
        </p:nvSpPr>
        <p:spPr>
          <a:xfrm>
            <a:off x="731520" y="1920240"/>
            <a:ext cx="2476424" cy="2331720"/>
          </a:xfrm>
          <a:prstGeom prst="roundRect">
            <a:avLst>
              <a:gd name="adj" fmla="val 4706"/>
            </a:avLst>
          </a:prstGeom>
          <a:solidFill>
            <a:srgbClr val="FDFDFF"/>
          </a:solidFill>
          <a:ln w="12700">
            <a:solidFill>
              <a:srgbClr val="E1E4F5"/>
            </a:solidFill>
            <a:prstDash val="solid"/>
          </a:ln>
        </p:spPr>
      </p:sp>
      <p:sp>
        <p:nvSpPr>
          <p:cNvPr id="6" name="text-120"/>
          <p:cNvSpPr txBox="1"/>
          <p:nvPr/>
        </p:nvSpPr>
        <p:spPr>
          <a:xfrm>
            <a:off x="960120" y="2103120"/>
            <a:ext cx="2019224" cy="320040"/>
          </a:xfrm>
          <a:prstGeom prst="rect">
            <a:avLst/>
          </a:prstGeom>
          <a:noFill/>
          <a:ln/>
        </p:spPr>
        <p:txBody>
          <a:bodyPr wrap="square" lIns="0" tIns="0" rIns="0" bIns="0" rtlCol="0" anchor="t"/>
          <a:lstStyle/>
          <a:p>
            <a:pPr indent="0" marL="0">
              <a:buNone/>
            </a:pPr>
            <a:r>
              <a:rPr lang="en-US" sz="1400" b="1" dirty="0">
                <a:solidFill>
                  <a:schemeClr val="accent1"/>
                </a:solidFill>
              </a:rPr>
              <a:t>6–7 Oct</a:t>
            </a:r>
            <a:endParaRPr lang="en-US" sz="1400" dirty="0"/>
          </a:p>
        </p:txBody>
      </p:sp>
      <p:sp>
        <p:nvSpPr>
          <p:cNvPr id="7" name="text-121"/>
          <p:cNvSpPr txBox="1"/>
          <p:nvPr/>
        </p:nvSpPr>
        <p:spPr>
          <a:xfrm>
            <a:off x="960120" y="2468880"/>
            <a:ext cx="2019224" cy="411480"/>
          </a:xfrm>
          <a:prstGeom prst="rect">
            <a:avLst/>
          </a:prstGeom>
          <a:noFill/>
          <a:ln/>
        </p:spPr>
        <p:txBody>
          <a:bodyPr wrap="square" lIns="0" tIns="0" rIns="0" bIns="0" rtlCol="0" anchor="t"/>
          <a:lstStyle/>
          <a:p>
            <a:pPr indent="0" marL="0">
              <a:buNone/>
            </a:pPr>
            <a:r>
              <a:rPr lang="en-US" sz="1900" b="1" dirty="0">
                <a:solidFill>
                  <a:schemeClr val="tx1"/>
                </a:solidFill>
              </a:rPr>
              <a:t>Foundation</a:t>
            </a:r>
            <a:endParaRPr lang="en-US" sz="1900" dirty="0"/>
          </a:p>
        </p:txBody>
      </p:sp>
      <p:sp>
        <p:nvSpPr>
          <p:cNvPr id="8" name="text-122"/>
          <p:cNvSpPr txBox="1"/>
          <p:nvPr/>
        </p:nvSpPr>
        <p:spPr>
          <a:xfrm>
            <a:off x="960120" y="2926080"/>
            <a:ext cx="2019224" cy="1234440"/>
          </a:xfrm>
          <a:prstGeom prst="rect">
            <a:avLst/>
          </a:prstGeom>
          <a:noFill/>
          <a:ln/>
        </p:spPr>
        <p:txBody>
          <a:bodyPr wrap="square" lIns="0" tIns="0" rIns="0" bIns="0" rtlCol="0" anchor="t"/>
          <a:lstStyle/>
          <a:p>
            <a:pPr indent="0" marL="0">
              <a:buNone/>
            </a:pPr>
            <a:r>
              <a:rPr lang="en-US" sz="1500" dirty="0">
                <a:solidFill>
                  <a:schemeClr val="tx2"/>
                </a:solidFill>
              </a:rPr>
              <a:t>Python AST parser, boundary value generator</a:t>
            </a:r>
            <a:endParaRPr lang="en-US" sz="1500" dirty="0"/>
          </a:p>
        </p:txBody>
      </p:sp>
      <p:sp>
        <p:nvSpPr>
          <p:cNvPr id="9" name="card-123"/>
          <p:cNvSpPr/>
          <p:nvPr/>
        </p:nvSpPr>
        <p:spPr>
          <a:xfrm>
            <a:off x="3482264" y="1920240"/>
            <a:ext cx="2476424" cy="2331720"/>
          </a:xfrm>
          <a:prstGeom prst="roundRect">
            <a:avLst>
              <a:gd name="adj" fmla="val 4706"/>
            </a:avLst>
          </a:prstGeom>
          <a:solidFill>
            <a:srgbClr val="FDFDFF"/>
          </a:solidFill>
          <a:ln w="12700">
            <a:solidFill>
              <a:srgbClr val="E1E4F5"/>
            </a:solidFill>
            <a:prstDash val="solid"/>
          </a:ln>
        </p:spPr>
      </p:sp>
      <p:sp>
        <p:nvSpPr>
          <p:cNvPr id="10" name="text-124"/>
          <p:cNvSpPr txBox="1"/>
          <p:nvPr/>
        </p:nvSpPr>
        <p:spPr>
          <a:xfrm>
            <a:off x="3710864" y="2103120"/>
            <a:ext cx="2019224" cy="320040"/>
          </a:xfrm>
          <a:prstGeom prst="rect">
            <a:avLst/>
          </a:prstGeom>
          <a:noFill/>
          <a:ln/>
        </p:spPr>
        <p:txBody>
          <a:bodyPr wrap="square" lIns="0" tIns="0" rIns="0" bIns="0" rtlCol="0" anchor="t"/>
          <a:lstStyle/>
          <a:p>
            <a:pPr indent="0" marL="0">
              <a:buNone/>
            </a:pPr>
            <a:r>
              <a:rPr lang="en-US" sz="1400" b="1" dirty="0">
                <a:solidFill>
                  <a:schemeClr val="accent1"/>
                </a:solidFill>
              </a:rPr>
              <a:t>16–21 Oct</a:t>
            </a:r>
            <a:endParaRPr lang="en-US" sz="1400" dirty="0"/>
          </a:p>
        </p:txBody>
      </p:sp>
      <p:sp>
        <p:nvSpPr>
          <p:cNvPr id="11" name="text-125"/>
          <p:cNvSpPr txBox="1"/>
          <p:nvPr/>
        </p:nvSpPr>
        <p:spPr>
          <a:xfrm>
            <a:off x="3710864" y="2468880"/>
            <a:ext cx="2019224" cy="411480"/>
          </a:xfrm>
          <a:prstGeom prst="rect">
            <a:avLst/>
          </a:prstGeom>
          <a:noFill/>
          <a:ln/>
        </p:spPr>
        <p:txBody>
          <a:bodyPr wrap="square" lIns="0" tIns="0" rIns="0" bIns="0" rtlCol="0" anchor="t"/>
          <a:lstStyle/>
          <a:p>
            <a:pPr indent="0" marL="0">
              <a:buNone/>
            </a:pPr>
            <a:r>
              <a:rPr lang="en-US" sz="1900" b="1" dirty="0">
                <a:solidFill>
                  <a:schemeClr val="tx1"/>
                </a:solidFill>
              </a:rPr>
              <a:t>Three languages</a:t>
            </a:r>
            <a:endParaRPr lang="en-US" sz="1900" dirty="0"/>
          </a:p>
        </p:txBody>
      </p:sp>
      <p:sp>
        <p:nvSpPr>
          <p:cNvPr id="12" name="text-126"/>
          <p:cNvSpPr txBox="1"/>
          <p:nvPr/>
        </p:nvSpPr>
        <p:spPr>
          <a:xfrm>
            <a:off x="3710864" y="2926080"/>
            <a:ext cx="2019224" cy="1234440"/>
          </a:xfrm>
          <a:prstGeom prst="rect">
            <a:avLst/>
          </a:prstGeom>
          <a:noFill/>
          <a:ln/>
        </p:spPr>
        <p:txBody>
          <a:bodyPr wrap="square" lIns="0" tIns="0" rIns="0" bIns="0" rtlCol="0" anchor="t"/>
          <a:lstStyle/>
          <a:p>
            <a:pPr indent="0" marL="0">
              <a:buNone/>
            </a:pPr>
            <a:r>
              <a:rPr lang="en-US" sz="1500" dirty="0">
                <a:solidFill>
                  <a:schemeClr val="tx2"/>
                </a:solidFill>
              </a:rPr>
              <a:t>Tree-sitter for Java and C, multi-language runner, invalid and fuzz tests</a:t>
            </a:r>
            <a:endParaRPr lang="en-US" sz="1500" dirty="0"/>
          </a:p>
        </p:txBody>
      </p:sp>
      <p:sp>
        <p:nvSpPr>
          <p:cNvPr id="13" name="card-127"/>
          <p:cNvSpPr/>
          <p:nvPr/>
        </p:nvSpPr>
        <p:spPr>
          <a:xfrm>
            <a:off x="6233008" y="1920240"/>
            <a:ext cx="2476424" cy="2331720"/>
          </a:xfrm>
          <a:prstGeom prst="roundRect">
            <a:avLst>
              <a:gd name="adj" fmla="val 4706"/>
            </a:avLst>
          </a:prstGeom>
          <a:solidFill>
            <a:srgbClr val="FDFDFF"/>
          </a:solidFill>
          <a:ln w="12700">
            <a:solidFill>
              <a:srgbClr val="E1E4F5"/>
            </a:solidFill>
            <a:prstDash val="solid"/>
          </a:ln>
        </p:spPr>
      </p:sp>
      <p:sp>
        <p:nvSpPr>
          <p:cNvPr id="14" name="text-128"/>
          <p:cNvSpPr txBox="1"/>
          <p:nvPr/>
        </p:nvSpPr>
        <p:spPr>
          <a:xfrm>
            <a:off x="6461608" y="2103120"/>
            <a:ext cx="2019224" cy="320040"/>
          </a:xfrm>
          <a:prstGeom prst="rect">
            <a:avLst/>
          </a:prstGeom>
          <a:noFill/>
          <a:ln/>
        </p:spPr>
        <p:txBody>
          <a:bodyPr wrap="square" lIns="0" tIns="0" rIns="0" bIns="0" rtlCol="0" anchor="t"/>
          <a:lstStyle/>
          <a:p>
            <a:pPr indent="0" marL="0">
              <a:buNone/>
            </a:pPr>
            <a:r>
              <a:rPr lang="en-US" sz="1400" b="1" dirty="0">
                <a:solidFill>
                  <a:schemeClr val="accent1"/>
                </a:solidFill>
              </a:rPr>
              <a:t>23–27 Oct</a:t>
            </a:r>
            <a:endParaRPr lang="en-US" sz="1400" dirty="0"/>
          </a:p>
        </p:txBody>
      </p:sp>
      <p:sp>
        <p:nvSpPr>
          <p:cNvPr id="15" name="text-129"/>
          <p:cNvSpPr txBox="1"/>
          <p:nvPr/>
        </p:nvSpPr>
        <p:spPr>
          <a:xfrm>
            <a:off x="6461608" y="2468880"/>
            <a:ext cx="2019224" cy="411480"/>
          </a:xfrm>
          <a:prstGeom prst="rect">
            <a:avLst/>
          </a:prstGeom>
          <a:noFill/>
          <a:ln/>
        </p:spPr>
        <p:txBody>
          <a:bodyPr wrap="square" lIns="0" tIns="0" rIns="0" bIns="0" rtlCol="0" anchor="t"/>
          <a:lstStyle/>
          <a:p>
            <a:pPr indent="0" marL="0">
              <a:buNone/>
            </a:pPr>
            <a:r>
              <a:rPr lang="en-US" sz="1900" b="1" dirty="0">
                <a:solidFill>
                  <a:schemeClr val="tx1"/>
                </a:solidFill>
              </a:rPr>
              <a:t>Engine and UI</a:t>
            </a:r>
            <a:endParaRPr lang="en-US" sz="1900" dirty="0"/>
          </a:p>
        </p:txBody>
      </p:sp>
      <p:sp>
        <p:nvSpPr>
          <p:cNvPr id="16" name="text-130"/>
          <p:cNvSpPr txBox="1"/>
          <p:nvPr/>
        </p:nvSpPr>
        <p:spPr>
          <a:xfrm>
            <a:off x="6461608" y="2926080"/>
            <a:ext cx="2019224" cy="1234440"/>
          </a:xfrm>
          <a:prstGeom prst="rect">
            <a:avLst/>
          </a:prstGeom>
          <a:noFill/>
          <a:ln/>
        </p:spPr>
        <p:txBody>
          <a:bodyPr wrap="square" lIns="0" tIns="0" rIns="0" bIns="0" rtlCol="0" anchor="t"/>
          <a:lstStyle/>
          <a:p>
            <a:pPr indent="0" marL="0">
              <a:buNone/>
            </a:pPr>
            <a:r>
              <a:rPr lang="en-US" sz="1500" dirty="0">
                <a:solidFill>
                  <a:schemeClr val="tx2"/>
                </a:solidFill>
              </a:rPr>
              <a:t>Source probes, read map, statement coverage, React UI, evaluation</a:t>
            </a:r>
            <a:endParaRPr lang="en-US" sz="1500" dirty="0"/>
          </a:p>
        </p:txBody>
      </p:sp>
      <p:sp>
        <p:nvSpPr>
          <p:cNvPr id="17" name="card-131"/>
          <p:cNvSpPr/>
          <p:nvPr/>
        </p:nvSpPr>
        <p:spPr>
          <a:xfrm>
            <a:off x="8983751" y="1920240"/>
            <a:ext cx="2476424" cy="2331720"/>
          </a:xfrm>
          <a:prstGeom prst="roundRect">
            <a:avLst>
              <a:gd name="adj" fmla="val 4706"/>
            </a:avLst>
          </a:prstGeom>
          <a:solidFill>
            <a:srgbClr val="FDFDFF"/>
          </a:solidFill>
          <a:ln w="12700">
            <a:solidFill>
              <a:srgbClr val="E1E4F5"/>
            </a:solidFill>
            <a:prstDash val="solid"/>
          </a:ln>
        </p:spPr>
      </p:sp>
      <p:sp>
        <p:nvSpPr>
          <p:cNvPr id="18" name="text-132"/>
          <p:cNvSpPr txBox="1"/>
          <p:nvPr/>
        </p:nvSpPr>
        <p:spPr>
          <a:xfrm>
            <a:off x="9212351" y="2103120"/>
            <a:ext cx="2019224" cy="320040"/>
          </a:xfrm>
          <a:prstGeom prst="rect">
            <a:avLst/>
          </a:prstGeom>
          <a:noFill/>
          <a:ln/>
        </p:spPr>
        <p:txBody>
          <a:bodyPr wrap="square" lIns="0" tIns="0" rIns="0" bIns="0" rtlCol="0" anchor="t"/>
          <a:lstStyle/>
          <a:p>
            <a:pPr indent="0" marL="0">
              <a:buNone/>
            </a:pPr>
            <a:r>
              <a:rPr lang="en-US" sz="1400" b="1" dirty="0">
                <a:solidFill>
                  <a:schemeClr val="accent1"/>
                </a:solidFill>
              </a:rPr>
              <a:t>28 Oct</a:t>
            </a:r>
            <a:endParaRPr lang="en-US" sz="1400" dirty="0"/>
          </a:p>
        </p:txBody>
      </p:sp>
      <p:sp>
        <p:nvSpPr>
          <p:cNvPr id="19" name="text-133"/>
          <p:cNvSpPr txBox="1"/>
          <p:nvPr/>
        </p:nvSpPr>
        <p:spPr>
          <a:xfrm>
            <a:off x="9212351" y="2468880"/>
            <a:ext cx="2019224" cy="411480"/>
          </a:xfrm>
          <a:prstGeom prst="rect">
            <a:avLst/>
          </a:prstGeom>
          <a:noFill/>
          <a:ln/>
        </p:spPr>
        <p:txBody>
          <a:bodyPr wrap="square" lIns="0" tIns="0" rIns="0" bIns="0" rtlCol="0" anchor="t"/>
          <a:lstStyle/>
          <a:p>
            <a:pPr indent="0" marL="0">
              <a:buNone/>
            </a:pPr>
            <a:r>
              <a:rPr lang="en-US" sz="1900" b="1" dirty="0">
                <a:solidFill>
                  <a:schemeClr val="tx1"/>
                </a:solidFill>
              </a:rPr>
              <a:t>Finish</a:t>
            </a:r>
            <a:endParaRPr lang="en-US" sz="1900" dirty="0"/>
          </a:p>
        </p:txBody>
      </p:sp>
      <p:sp>
        <p:nvSpPr>
          <p:cNvPr id="20" name="text-134"/>
          <p:cNvSpPr txBox="1"/>
          <p:nvPr/>
        </p:nvSpPr>
        <p:spPr>
          <a:xfrm>
            <a:off x="9212351" y="2926080"/>
            <a:ext cx="2019224" cy="1234440"/>
          </a:xfrm>
          <a:prstGeom prst="rect">
            <a:avLst/>
          </a:prstGeom>
          <a:noFill/>
          <a:ln/>
        </p:spPr>
        <p:txBody>
          <a:bodyPr wrap="square" lIns="0" tIns="0" rIns="0" bIns="0" rtlCol="0" anchor="t"/>
          <a:lstStyle/>
          <a:p>
            <a:pPr indent="0" marL="0">
              <a:buNone/>
            </a:pPr>
            <a:r>
              <a:rPr lang="en-US" sz="1500" dirty="0">
                <a:solidFill>
                  <a:schemeClr val="tx2"/>
                </a:solidFill>
              </a:rPr>
              <a:t>Benchmarks, statistics, Docker deployment, manuscript</a:t>
            </a:r>
            <a:endParaRPr lang="en-US" sz="1500" dirty="0"/>
          </a:p>
        </p:txBody>
      </p:sp>
      <p:sp>
        <p:nvSpPr>
          <p:cNvPr id="21" name="text-135"/>
          <p:cNvSpPr txBox="1"/>
          <p:nvPr/>
        </p:nvSpPr>
        <p:spPr>
          <a:xfrm>
            <a:off x="731520" y="4526280"/>
            <a:ext cx="2476424" cy="685800"/>
          </a:xfrm>
          <a:prstGeom prst="rect">
            <a:avLst/>
          </a:prstGeom>
          <a:noFill/>
          <a:ln/>
        </p:spPr>
        <p:txBody>
          <a:bodyPr wrap="square" lIns="0" tIns="0" rIns="0" bIns="0" rtlCol="0" anchor="t"/>
          <a:lstStyle/>
          <a:p>
            <a:pPr indent="0" marL="0">
              <a:buNone/>
            </a:pPr>
            <a:r>
              <a:rPr lang="en-US" sz="4000" b="1" dirty="0">
                <a:solidFill>
                  <a:schemeClr val="tx1"/>
                </a:solidFill>
              </a:rPr>
              <a:t>49</a:t>
            </a:r>
            <a:endParaRPr lang="en-US" sz="4000" dirty="0"/>
          </a:p>
        </p:txBody>
      </p:sp>
      <p:sp>
        <p:nvSpPr>
          <p:cNvPr id="22" name="text-136"/>
          <p:cNvSpPr txBox="1"/>
          <p:nvPr/>
        </p:nvSpPr>
        <p:spPr>
          <a:xfrm>
            <a:off x="731520" y="5212080"/>
            <a:ext cx="2476424" cy="365760"/>
          </a:xfrm>
          <a:prstGeom prst="rect">
            <a:avLst/>
          </a:prstGeom>
          <a:noFill/>
          <a:ln/>
        </p:spPr>
        <p:txBody>
          <a:bodyPr wrap="square" lIns="0" tIns="0" rIns="0" bIns="0" rtlCol="0" anchor="t"/>
          <a:lstStyle/>
          <a:p>
            <a:pPr indent="0" marL="0">
              <a:buNone/>
            </a:pPr>
            <a:r>
              <a:rPr lang="en-US" sz="1600" dirty="0">
                <a:solidFill>
                  <a:schemeClr val="tx2"/>
                </a:solidFill>
              </a:rPr>
              <a:t>commits</a:t>
            </a:r>
            <a:endParaRPr lang="en-US" sz="1600" dirty="0"/>
          </a:p>
        </p:txBody>
      </p:sp>
      <p:sp>
        <p:nvSpPr>
          <p:cNvPr id="23" name="text-137"/>
          <p:cNvSpPr txBox="1"/>
          <p:nvPr/>
        </p:nvSpPr>
        <p:spPr>
          <a:xfrm>
            <a:off x="3482264" y="4526280"/>
            <a:ext cx="2476424" cy="685800"/>
          </a:xfrm>
          <a:prstGeom prst="rect">
            <a:avLst/>
          </a:prstGeom>
          <a:noFill/>
          <a:ln/>
        </p:spPr>
        <p:txBody>
          <a:bodyPr wrap="square" lIns="0" tIns="0" rIns="0" bIns="0" rtlCol="0" anchor="t"/>
          <a:lstStyle/>
          <a:p>
            <a:pPr indent="0" marL="0">
              <a:buNone/>
            </a:pPr>
            <a:r>
              <a:rPr lang="en-US" sz="4000" b="1" dirty="0">
                <a:solidFill>
                  <a:schemeClr val="tx1"/>
                </a:solidFill>
              </a:rPr>
              <a:t>252</a:t>
            </a:r>
            <a:endParaRPr lang="en-US" sz="4000" dirty="0"/>
          </a:p>
        </p:txBody>
      </p:sp>
      <p:sp>
        <p:nvSpPr>
          <p:cNvPr id="24" name="text-138"/>
          <p:cNvSpPr txBox="1"/>
          <p:nvPr/>
        </p:nvSpPr>
        <p:spPr>
          <a:xfrm>
            <a:off x="3482264" y="5212080"/>
            <a:ext cx="2476424" cy="365760"/>
          </a:xfrm>
          <a:prstGeom prst="rect">
            <a:avLst/>
          </a:prstGeom>
          <a:noFill/>
          <a:ln/>
        </p:spPr>
        <p:txBody>
          <a:bodyPr wrap="square" lIns="0" tIns="0" rIns="0" bIns="0" rtlCol="0" anchor="t"/>
          <a:lstStyle/>
          <a:p>
            <a:pPr indent="0" marL="0">
              <a:buNone/>
            </a:pPr>
            <a:r>
              <a:rPr lang="en-US" sz="1600" dirty="0">
                <a:solidFill>
                  <a:schemeClr val="tx2"/>
                </a:solidFill>
              </a:rPr>
              <a:t>automated tests</a:t>
            </a:r>
            <a:endParaRPr lang="en-US" sz="1600" dirty="0"/>
          </a:p>
        </p:txBody>
      </p:sp>
      <p:sp>
        <p:nvSpPr>
          <p:cNvPr id="25" name="text-139"/>
          <p:cNvSpPr txBox="1"/>
          <p:nvPr/>
        </p:nvSpPr>
        <p:spPr>
          <a:xfrm>
            <a:off x="6233008" y="4526280"/>
            <a:ext cx="2476424" cy="685800"/>
          </a:xfrm>
          <a:prstGeom prst="rect">
            <a:avLst/>
          </a:prstGeom>
          <a:noFill/>
          <a:ln/>
        </p:spPr>
        <p:txBody>
          <a:bodyPr wrap="square" lIns="0" tIns="0" rIns="0" bIns="0" rtlCol="0" anchor="t"/>
          <a:lstStyle/>
          <a:p>
            <a:pPr indent="0" marL="0">
              <a:buNone/>
            </a:pPr>
            <a:r>
              <a:rPr lang="en-US" sz="4000" b="1" dirty="0">
                <a:solidFill>
                  <a:schemeClr val="tx1"/>
                </a:solidFill>
              </a:rPr>
              <a:t>3</a:t>
            </a:r>
            <a:endParaRPr lang="en-US" sz="4000" dirty="0"/>
          </a:p>
        </p:txBody>
      </p:sp>
      <p:sp>
        <p:nvSpPr>
          <p:cNvPr id="26" name="text-140"/>
          <p:cNvSpPr txBox="1"/>
          <p:nvPr/>
        </p:nvSpPr>
        <p:spPr>
          <a:xfrm>
            <a:off x="6233008" y="5212080"/>
            <a:ext cx="2476424" cy="365760"/>
          </a:xfrm>
          <a:prstGeom prst="rect">
            <a:avLst/>
          </a:prstGeom>
          <a:noFill/>
          <a:ln/>
        </p:spPr>
        <p:txBody>
          <a:bodyPr wrap="square" lIns="0" tIns="0" rIns="0" bIns="0" rtlCol="0" anchor="t"/>
          <a:lstStyle/>
          <a:p>
            <a:pPr indent="0" marL="0">
              <a:buNone/>
            </a:pPr>
            <a:r>
              <a:rPr lang="en-US" sz="1600" dirty="0">
                <a:solidFill>
                  <a:schemeClr val="tx2"/>
                </a:solidFill>
              </a:rPr>
              <a:t>languages</a:t>
            </a:r>
            <a:endParaRPr lang="en-US" sz="1600" dirty="0"/>
          </a:p>
        </p:txBody>
      </p:sp>
      <p:sp>
        <p:nvSpPr>
          <p:cNvPr id="27" name="text-141"/>
          <p:cNvSpPr txBox="1"/>
          <p:nvPr/>
        </p:nvSpPr>
        <p:spPr>
          <a:xfrm>
            <a:off x="8983751" y="4526280"/>
            <a:ext cx="2476424" cy="685800"/>
          </a:xfrm>
          <a:prstGeom prst="rect">
            <a:avLst/>
          </a:prstGeom>
          <a:noFill/>
          <a:ln/>
        </p:spPr>
        <p:txBody>
          <a:bodyPr wrap="square" lIns="0" tIns="0" rIns="0" bIns="0" rtlCol="0" anchor="t"/>
          <a:lstStyle/>
          <a:p>
            <a:pPr indent="0" marL="0">
              <a:buNone/>
            </a:pPr>
            <a:r>
              <a:rPr lang="en-US" sz="4000" b="1" dirty="0">
                <a:solidFill>
                  <a:schemeClr val="tx1"/>
                </a:solidFill>
              </a:rPr>
              <a:t>15</a:t>
            </a:r>
            <a:endParaRPr lang="en-US" sz="4000" dirty="0"/>
          </a:p>
        </p:txBody>
      </p:sp>
      <p:sp>
        <p:nvSpPr>
          <p:cNvPr id="28" name="text-142"/>
          <p:cNvSpPr txBox="1"/>
          <p:nvPr/>
        </p:nvSpPr>
        <p:spPr>
          <a:xfrm>
            <a:off x="8983751" y="5212080"/>
            <a:ext cx="2476424" cy="365760"/>
          </a:xfrm>
          <a:prstGeom prst="rect">
            <a:avLst/>
          </a:prstGeom>
          <a:noFill/>
          <a:ln/>
        </p:spPr>
        <p:txBody>
          <a:bodyPr wrap="square" lIns="0" tIns="0" rIns="0" bIns="0" rtlCol="0" anchor="t"/>
          <a:lstStyle/>
          <a:p>
            <a:pPr indent="0" marL="0">
              <a:buNone/>
            </a:pPr>
            <a:r>
              <a:rPr lang="en-US" sz="1600" dirty="0">
                <a:solidFill>
                  <a:schemeClr val="tx2"/>
                </a:solidFill>
              </a:rPr>
              <a:t>benchmark programs</a:t>
            </a:r>
            <a:endParaRPr lang="en-US" sz="1600" dirty="0"/>
          </a:p>
        </p:txBody>
      </p:sp>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TECHNICAL UNDERSTANDING</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Design decisions and why</a:t>
            </a:r>
            <a:endParaRPr lang="en-US" sz="3400" dirty="0"/>
          </a:p>
        </p:txBody>
      </p:sp>
      <p:graphicFrame>
        <p:nvGraphicFramePr>
          <p:cNvPr id="12" name="table-143"/>
          <p:cNvGraphicFramePr>
            <a:graphicFrameLocks noGrp="1"/>
          </p:cNvGraphicFramePr>
          <p:nvPr>
            <p:extLst>
              <p:ext uri="{D42A27DB-BD31-4B8C-83A1-F6EECF244321}">
                <p14:modId xmlns:p14="http://schemas.microsoft.com/office/powerpoint/2010/main" val="1579011935"/>
              </p:ext>
            </p:extLst>
          </p:nvPr>
        </p:nvGraphicFramePr>
        <p:xfrm>
          <a:off x="731520" y="1874520"/>
          <a:ext cx="10728655" cy="914400"/>
        </p:xfrm>
        <a:graphic>
          <a:graphicData uri="http://schemas.openxmlformats.org/drawingml/2006/table">
            <a:tbl>
              <a:tblPr/>
              <a:tblGrid>
                <a:gridCol w="4023360"/>
                <a:gridCol w="6705295"/>
              </a:tblGrid>
              <a:tr h="457200">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Decision</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600" b="1" dirty="0">
                          <a:solidFill>
                            <a:schemeClr val="tx1"/>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45720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Boundary values c−1, c, c+1</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Off-by-one faults change behaviour only at the edge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5720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Read map from the AST</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Programs read by position; each test's path decides its reads</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5720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Source probes for C and Java</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No tracer for compiled code; hits survive exit, crash, timeout</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5720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Compile once per run</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Compiling dominates the cost; tests reuse one build</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5720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Pin Tree-sitter 0.25.2</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0.26.0 crashed on large switches; regression test added</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5720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Equal-size random baseline</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Isolates which values are chosen, not how many</a:t>
                      </a:r>
                      <a:endParaRPr lang="en-US" sz="16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411480"/>
            <a:ext cx="10728655" cy="365760"/>
          </a:xfrm>
          <a:prstGeom prst="rect">
            <a:avLst/>
          </a:prstGeom>
          <a:noFill/>
          <a:ln/>
        </p:spPr>
        <p:txBody>
          <a:bodyPr wrap="square" lIns="0" tIns="0" rIns="0" bIns="0" rtlCol="0"/>
          <a:lstStyle/>
          <a:p>
            <a:pPr indent="0" marL="0">
              <a:buNone/>
            </a:pPr>
            <a:r>
              <a:rPr lang="en-US" sz="1300" b="1" spc="200" kern="0" dirty="0">
                <a:solidFill>
                  <a:schemeClr val="accent1"/>
                </a:solidFill>
              </a:rPr>
              <a:t>PROJECT OUTCOME · RESEARCH MANUSCRIPT</a:t>
            </a:r>
            <a:endParaRPr lang="en-US" sz="1300" dirty="0"/>
          </a:p>
        </p:txBody>
      </p:sp>
      <p:sp>
        <p:nvSpPr>
          <p:cNvPr id="3" name="Text 0"/>
          <p:cNvSpPr/>
          <p:nvPr>
            <p:ph idx="101" type="title" hasCustomPrompt="1"/>
          </p:nvPr>
        </p:nvSpPr>
        <p:spPr>
          <a:xfrm>
            <a:off x="731520" y="777240"/>
            <a:ext cx="10728655" cy="868680"/>
          </a:xfrm>
          <a:prstGeom prst="rect">
            <a:avLst/>
          </a:prstGeom>
          <a:noFill/>
          <a:ln/>
        </p:spPr>
        <p:txBody>
          <a:bodyPr wrap="square" lIns="0" tIns="0" rIns="0" bIns="0" rtlCol="0" anchor="t"/>
          <a:lstStyle/>
          <a:p>
            <a:pPr algn="l" indent="0" marL="0">
              <a:buNone/>
            </a:pPr>
            <a:r>
              <a:rPr lang="en-US" sz="3400" b="1" dirty="0">
                <a:solidFill>
                  <a:schemeClr val="tx1"/>
                </a:solidFill>
              </a:rPr>
              <a:t>A paper on the approach and its limits</a:t>
            </a:r>
            <a:endParaRPr lang="en-US" sz="3400" dirty="0"/>
          </a:p>
        </p:txBody>
      </p:sp>
      <p:sp>
        <p:nvSpPr>
          <p:cNvPr id="5" name="card-144"/>
          <p:cNvSpPr/>
          <p:nvPr/>
        </p:nvSpPr>
        <p:spPr>
          <a:xfrm>
            <a:off x="731520" y="1920240"/>
            <a:ext cx="5227168" cy="3566160"/>
          </a:xfrm>
          <a:prstGeom prst="roundRect">
            <a:avLst>
              <a:gd name="adj" fmla="val 3077"/>
            </a:avLst>
          </a:prstGeom>
          <a:solidFill>
            <a:srgbClr val="FDFDFF"/>
          </a:solidFill>
          <a:ln w="12700">
            <a:solidFill>
              <a:srgbClr val="E1E4F5"/>
            </a:solidFill>
            <a:prstDash val="solid"/>
          </a:ln>
        </p:spPr>
      </p:sp>
      <p:sp>
        <p:nvSpPr>
          <p:cNvPr id="6" name="text-145"/>
          <p:cNvSpPr txBox="1"/>
          <p:nvPr/>
        </p:nvSpPr>
        <p:spPr>
          <a:xfrm>
            <a:off x="1051560" y="2103120"/>
            <a:ext cx="4587088" cy="320040"/>
          </a:xfrm>
          <a:prstGeom prst="rect">
            <a:avLst/>
          </a:prstGeom>
          <a:noFill/>
          <a:ln/>
        </p:spPr>
        <p:txBody>
          <a:bodyPr wrap="square" lIns="0" tIns="0" rIns="0" bIns="0" rtlCol="0" anchor="t"/>
          <a:lstStyle/>
          <a:p>
            <a:pPr indent="0" marL="0">
              <a:buNone/>
            </a:pPr>
            <a:r>
              <a:rPr lang="en-US" sz="1300" b="1" spc="100" kern="0" dirty="0">
                <a:solidFill>
                  <a:srgbClr val="6B7190"/>
                </a:solidFill>
              </a:rPr>
              <a:t>CONTRIBUTIONS</a:t>
            </a:r>
            <a:endParaRPr lang="en-US" sz="1300" dirty="0"/>
          </a:p>
        </p:txBody>
      </p:sp>
      <p:sp>
        <p:nvSpPr>
          <p:cNvPr id="7" name="text-146"/>
          <p:cNvSpPr txBox="1"/>
          <p:nvPr/>
        </p:nvSpPr>
        <p:spPr>
          <a:xfrm>
            <a:off x="1051560" y="2514600"/>
            <a:ext cx="4587088" cy="28346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2"/>
                </a:solidFill>
              </a:rPr>
              <a:t>AST-guided boundary test generator for C, Java and Python</a:t>
            </a:r>
            <a:endParaRPr lang="en-US" sz="1700" dirty="0"/>
          </a:p>
          <a:p>
            <a:pPr marL="342900" indent="-342900">
              <a:spcAft>
                <a:spcPts val="800"/>
              </a:spcAft>
              <a:buSzPct val="100000"/>
              <a:buChar char="•"/>
            </a:pPr>
            <a:r>
              <a:rPr lang="en-US" sz="1700" dirty="0">
                <a:solidFill>
                  <a:schemeClr val="tx2"/>
                </a:solidFill>
              </a:rPr>
              <a:t>Path-aware input delivery through a read map</a:t>
            </a:r>
            <a:endParaRPr lang="en-US" sz="1700" dirty="0"/>
          </a:p>
          <a:p>
            <a:pPr marL="342900" indent="-342900">
              <a:spcAft>
                <a:spcPts val="800"/>
              </a:spcAft>
              <a:buSzPct val="100000"/>
              <a:buChar char="•"/>
            </a:pPr>
            <a:r>
              <a:rPr lang="en-US" sz="1700" dirty="0">
                <a:solidFill>
                  <a:schemeClr val="tx2"/>
                </a:solidFill>
              </a:rPr>
              <a:t>Probe-based branch and statement coverage for compiled code</a:t>
            </a:r>
            <a:endParaRPr lang="en-US" sz="1700" dirty="0"/>
          </a:p>
          <a:p>
            <a:pPr marL="342900" indent="-342900">
              <a:spcAft>
                <a:spcPts val="800"/>
              </a:spcAft>
              <a:buSzPct val="100000"/>
              <a:buChar char="•"/>
            </a:pPr>
            <a:r>
              <a:rPr lang="en-US" sz="1700" dirty="0">
                <a:solidFill>
                  <a:schemeClr val="tx2"/>
                </a:solidFill>
              </a:rPr>
              <a:t>Comparison with random testing on 15 programs, with statistics</a:t>
            </a:r>
            <a:endParaRPr lang="en-US" sz="1700" dirty="0"/>
          </a:p>
        </p:txBody>
      </p:sp>
      <p:sp>
        <p:nvSpPr>
          <p:cNvPr id="8" name="card-147"/>
          <p:cNvSpPr/>
          <p:nvPr/>
        </p:nvSpPr>
        <p:spPr>
          <a:xfrm>
            <a:off x="6233008" y="1920240"/>
            <a:ext cx="5227168" cy="3566160"/>
          </a:xfrm>
          <a:prstGeom prst="roundRect">
            <a:avLst>
              <a:gd name="adj" fmla="val 3077"/>
            </a:avLst>
          </a:prstGeom>
          <a:solidFill>
            <a:srgbClr val="FDFDFF"/>
          </a:solidFill>
          <a:ln w="12700">
            <a:solidFill>
              <a:srgbClr val="E1E4F5"/>
            </a:solidFill>
            <a:prstDash val="solid"/>
          </a:ln>
        </p:spPr>
      </p:sp>
      <p:sp>
        <p:nvSpPr>
          <p:cNvPr id="9" name="text-148"/>
          <p:cNvSpPr txBox="1"/>
          <p:nvPr/>
        </p:nvSpPr>
        <p:spPr>
          <a:xfrm>
            <a:off x="6553048" y="2103120"/>
            <a:ext cx="4587088" cy="320040"/>
          </a:xfrm>
          <a:prstGeom prst="rect">
            <a:avLst/>
          </a:prstGeom>
          <a:noFill/>
          <a:ln/>
        </p:spPr>
        <p:txBody>
          <a:bodyPr wrap="square" lIns="0" tIns="0" rIns="0" bIns="0" rtlCol="0" anchor="t"/>
          <a:lstStyle/>
          <a:p>
            <a:pPr indent="0" marL="0">
              <a:buNone/>
            </a:pPr>
            <a:r>
              <a:rPr lang="en-US" sz="1300" b="1" spc="100" kern="0" dirty="0">
                <a:solidFill>
                  <a:srgbClr val="6B7190"/>
                </a:solidFill>
              </a:rPr>
              <a:t>STRUCTURE AND STATUS</a:t>
            </a:r>
            <a:endParaRPr lang="en-US" sz="1300" dirty="0"/>
          </a:p>
        </p:txBody>
      </p:sp>
      <p:graphicFrame>
        <p:nvGraphicFramePr>
          <p:cNvPr id="13" name="table-149"/>
          <p:cNvGraphicFramePr>
            <a:graphicFrameLocks noGrp="1"/>
          </p:cNvGraphicFramePr>
          <p:nvPr>
            <p:extLst>
              <p:ext uri="{D42A27DB-BD31-4B8C-83A1-F6EECF244321}">
                <p14:modId xmlns:p14="http://schemas.microsoft.com/office/powerpoint/2010/main" val="1579011935"/>
              </p:ext>
            </p:extLst>
          </p:nvPr>
        </p:nvGraphicFramePr>
        <p:xfrm>
          <a:off x="6553048" y="2514600"/>
          <a:ext cx="4587088" cy="914400"/>
        </p:xfrm>
        <a:graphic>
          <a:graphicData uri="http://schemas.openxmlformats.org/drawingml/2006/table">
            <a:tbl>
              <a:tblPr/>
              <a:tblGrid>
                <a:gridCol w="3215488"/>
                <a:gridCol w="1371600"/>
              </a:tblGrid>
              <a:tr h="411480">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Part</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c>
                  <a:txBody>
                    <a:bodyPr/>
                    <a:lstStyle/>
                    <a:p>
                      <a:pPr indent="0" marL="0">
                        <a:buNone/>
                      </a:pPr>
                      <a:r>
                        <a:rPr lang="en-US" sz="1500" b="1" dirty="0">
                          <a:solidFill>
                            <a:schemeClr val="tx1"/>
                          </a:solidFill>
                          <a:latin typeface="Calibri" pitchFamily="34" charset="0"/>
                          <a:ea typeface="Calibri" pitchFamily="34" charset="-122"/>
                          <a:cs typeface="Calibri" pitchFamily="34" charset="-120"/>
                        </a:rPr>
                        <a:t>Status</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E6EBFF"/>
                    </a:solidFill>
                  </a:tcPr>
                </a:tc>
              </a:tr>
              <a:tr h="4114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Introduction, related work (22 refs)</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b="1" dirty="0">
                          <a:solidFill>
                            <a:srgbClr val="19673F"/>
                          </a:solidFill>
                          <a:latin typeface="Calibri" pitchFamily="34" charset="0"/>
                          <a:ea typeface="Calibri" pitchFamily="34" charset="-122"/>
                          <a:cs typeface="Calibri" pitchFamily="34" charset="-120"/>
                        </a:rPr>
                        <a:t>Written</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Approach, implementation</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b="1" dirty="0">
                          <a:solidFill>
                            <a:srgbClr val="19673F"/>
                          </a:solidFill>
                          <a:latin typeface="Calibri" pitchFamily="34" charset="0"/>
                          <a:ea typeface="Calibri" pitchFamily="34" charset="-122"/>
                          <a:cs typeface="Calibri" pitchFamily="34" charset="-120"/>
                        </a:rPr>
                        <a:t>Written</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Evaluation: RQ1–RQ4, statistics</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b="1" dirty="0">
                          <a:solidFill>
                            <a:srgbClr val="19673F"/>
                          </a:solidFill>
                          <a:latin typeface="Calibri" pitchFamily="34" charset="0"/>
                          <a:ea typeface="Calibri" pitchFamily="34" charset="-122"/>
                          <a:cs typeface="Calibri" pitchFamily="34" charset="-120"/>
                        </a:rPr>
                        <a:t>Written</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Threats, limitations, conclusion</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b="1" dirty="0">
                          <a:solidFill>
                            <a:srgbClr val="19673F"/>
                          </a:solidFill>
                          <a:latin typeface="Calibri" pitchFamily="34" charset="0"/>
                          <a:ea typeface="Calibri" pitchFamily="34" charset="-122"/>
                          <a:cs typeface="Calibri" pitchFamily="34" charset="-120"/>
                        </a:rPr>
                        <a:t>Written</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r h="4114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Guide review, venue, submission</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c>
                  <a:txBody>
                    <a:bodyPr/>
                    <a:lstStyle/>
                    <a:p>
                      <a:pPr indent="0" marL="0">
                        <a:buNone/>
                      </a:pPr>
                      <a:r>
                        <a:rPr lang="en-US" sz="1500" b="1" dirty="0">
                          <a:solidFill>
                            <a:srgbClr val="8A4B0F"/>
                          </a:solidFill>
                          <a:latin typeface="Calibri" pitchFamily="34" charset="0"/>
                          <a:ea typeface="Calibri" pitchFamily="34" charset="-122"/>
                          <a:cs typeface="Calibri" pitchFamily="34" charset="-120"/>
                        </a:rPr>
                        <a:t>Next</a:t>
                      </a:r>
                      <a:endParaRPr lang="en-US" sz="1500" dirty="0">
                        <a:latin typeface="Calibri" charset="0"/>
                        <a:ea typeface="Calibri" charset="0"/>
                        <a:cs typeface="Calibri" charset="0"/>
                      </a:endParaRPr>
                    </a:p>
                  </a:txBody>
                  <a:tcPr marL="91440" marR="91440" marT="54864" marB="54864" anchor="ctr">
                    <a:lnL w="9525" cap="flat" cmpd="sng" algn="ctr">
                      <a:solidFill>
                        <a:srgbClr val="E1E4F5"/>
                      </a:solidFill>
                      <a:prstDash val="solid"/>
                      <a:round/>
                      <a:headEnd type="none" w="med" len="med"/>
                      <a:tailEnd type="none" w="med" len="med"/>
                    </a:lnL>
                    <a:lnR w="9525" cap="flat" cmpd="sng" algn="ctr">
                      <a:solidFill>
                        <a:srgbClr val="E1E4F5"/>
                      </a:solidFill>
                      <a:prstDash val="solid"/>
                      <a:round/>
                      <a:headEnd type="none" w="med" len="med"/>
                      <a:tailEnd type="none" w="med" len="med"/>
                    </a:lnR>
                    <a:lnT w="9525" cap="flat" cmpd="sng" algn="ctr">
                      <a:solidFill>
                        <a:srgbClr val="E1E4F5"/>
                      </a:solidFill>
                      <a:prstDash val="solid"/>
                      <a:round/>
                      <a:headEnd type="none" w="med" len="med"/>
                      <a:tailEnd type="none" w="med" len="med"/>
                    </a:lnT>
                    <a:lnB w="9525" cap="flat" cmpd="sng" algn="ctr">
                      <a:solidFill>
                        <a:srgbClr val="E1E4F5"/>
                      </a:solidFill>
                      <a:prstDash val="solid"/>
                      <a:round/>
                      <a:headEnd type="none" w="med" len="med"/>
                      <a:tailEnd type="none" w="med" len="med"/>
                    </a:lnB>
                    <a:solidFill>
                      <a:srgbClr val="FDFDFF"/>
                    </a:solidFill>
                  </a:tcPr>
                </a:tc>
              </a:tr>
            </a:tbl>
          </a:graphicData>
        </a:graphic>
      </p:graphicFrame>
      <p:sp>
        <p:nvSpPr>
          <p:cNvPr id="25" name="Slide Number Placeholder 0"/>
          <p:cNvSpPr>
            <a:spLocks noGrp="1"/>
          </p:cNvSpPr>
          <p:nvPr>
            <p:ph type="sldNum" sz="quarter" idx="4294967295"/>
          </p:nvPr>
        </p:nvSpPr>
        <p:spPr>
          <a:xfrm>
            <a:off x="11002975"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6B71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731520" y="1325880"/>
            <a:ext cx="10728655" cy="411480"/>
          </a:xfrm>
          <a:prstGeom prst="rect">
            <a:avLst/>
          </a:prstGeom>
          <a:noFill/>
          <a:ln/>
        </p:spPr>
        <p:txBody>
          <a:bodyPr wrap="square" lIns="0" tIns="0" rIns="0" bIns="0" rtlCol="0"/>
          <a:lstStyle/>
          <a:p>
            <a:pPr indent="0" marL="0">
              <a:buNone/>
            </a:pPr>
            <a:r>
              <a:rPr lang="en-US" sz="1600" b="1" spc="200" kern="0" dirty="0">
                <a:solidFill>
                  <a:schemeClr val="accent1"/>
                </a:solidFill>
              </a:rPr>
              <a:t>THANK YOU</a:t>
            </a:r>
            <a:endParaRPr lang="en-US" sz="1600" dirty="0"/>
          </a:p>
        </p:txBody>
      </p:sp>
      <p:sp>
        <p:nvSpPr>
          <p:cNvPr id="3" name="Text 0"/>
          <p:cNvSpPr/>
          <p:nvPr>
            <p:ph idx="101" type="title" hasCustomPrompt="1"/>
          </p:nvPr>
        </p:nvSpPr>
        <p:spPr>
          <a:xfrm>
            <a:off x="731520" y="1828800"/>
            <a:ext cx="10728655" cy="1234440"/>
          </a:xfrm>
          <a:prstGeom prst="rect">
            <a:avLst/>
          </a:prstGeom>
          <a:noFill/>
          <a:ln/>
        </p:spPr>
        <p:txBody>
          <a:bodyPr wrap="square" lIns="0" tIns="0" rIns="0" bIns="0" rtlCol="0" anchor="t"/>
          <a:lstStyle/>
          <a:p>
            <a:pPr algn="l" indent="0" marL="0">
              <a:buNone/>
            </a:pPr>
            <a:r>
              <a:rPr lang="en-US" sz="6600" b="1" dirty="0">
                <a:solidFill>
                  <a:schemeClr val="tx1"/>
                </a:solidFill>
              </a:rPr>
              <a:t>Questions?</a:t>
            </a:r>
            <a:endParaRPr lang="en-US" sz="6600" dirty="0"/>
          </a:p>
        </p:txBody>
      </p:sp>
      <p:sp>
        <p:nvSpPr>
          <p:cNvPr id="4" name="Text 0"/>
          <p:cNvSpPr/>
          <p:nvPr>
            <p:ph idx="102" type="body" hasCustomPrompt="1"/>
          </p:nvPr>
        </p:nvSpPr>
        <p:spPr>
          <a:xfrm>
            <a:off x="731520" y="3154680"/>
            <a:ext cx="9601200" cy="960120"/>
          </a:xfrm>
          <a:prstGeom prst="rect">
            <a:avLst/>
          </a:prstGeom>
          <a:noFill/>
          <a:ln/>
        </p:spPr>
        <p:txBody>
          <a:bodyPr wrap="square" lIns="0" tIns="0" rIns="0" bIns="0" rtlCol="0" anchor="t"/>
          <a:lstStyle/>
          <a:p>
            <a:pPr indent="0" marL="0">
              <a:buNone/>
            </a:pPr>
            <a:r>
              <a:rPr lang="en-US" sz="2600" dirty="0">
                <a:solidFill>
                  <a:schemeClr val="tx2"/>
                </a:solidFill>
              </a:rPr>
              <a:t>Then a live run of BranchLab.</a:t>
            </a:r>
            <a:endParaRPr lang="en-US" sz="2600" dirty="0"/>
          </a:p>
        </p:txBody>
      </p:sp>
      <p:sp>
        <p:nvSpPr>
          <p:cNvPr id="5" name="card-150"/>
          <p:cNvSpPr/>
          <p:nvPr/>
        </p:nvSpPr>
        <p:spPr>
          <a:xfrm>
            <a:off x="731520" y="4206240"/>
            <a:ext cx="7680960" cy="1463040"/>
          </a:xfrm>
          <a:prstGeom prst="roundRect">
            <a:avLst>
              <a:gd name="adj" fmla="val 7500"/>
            </a:avLst>
          </a:prstGeom>
          <a:solidFill>
            <a:srgbClr val="FDFDFF"/>
          </a:solidFill>
          <a:ln w="12700">
            <a:solidFill>
              <a:srgbClr val="E1E4F5"/>
            </a:solidFill>
            <a:prstDash val="solid"/>
          </a:ln>
        </p:spPr>
      </p:sp>
      <p:sp>
        <p:nvSpPr>
          <p:cNvPr id="6" name="text-151"/>
          <p:cNvSpPr txBox="1"/>
          <p:nvPr/>
        </p:nvSpPr>
        <p:spPr>
          <a:xfrm>
            <a:off x="1051560" y="4389120"/>
            <a:ext cx="7040880" cy="320040"/>
          </a:xfrm>
          <a:prstGeom prst="rect">
            <a:avLst/>
          </a:prstGeom>
          <a:noFill/>
          <a:ln/>
        </p:spPr>
        <p:txBody>
          <a:bodyPr wrap="square" lIns="0" tIns="0" rIns="0" bIns="0" rtlCol="0" anchor="t"/>
          <a:lstStyle/>
          <a:p>
            <a:pPr indent="0" marL="0">
              <a:buNone/>
            </a:pPr>
            <a:r>
              <a:rPr lang="en-US" sz="1300" b="1" spc="100" kern="0" dirty="0">
                <a:solidFill>
                  <a:srgbClr val="6B7190"/>
                </a:solidFill>
              </a:rPr>
              <a:t>LINKS</a:t>
            </a:r>
            <a:endParaRPr lang="en-US" sz="1300" dirty="0"/>
          </a:p>
        </p:txBody>
      </p:sp>
      <p:sp>
        <p:nvSpPr>
          <p:cNvPr id="7" name="text-152"/>
          <p:cNvSpPr txBox="1"/>
          <p:nvPr/>
        </p:nvSpPr>
        <p:spPr>
          <a:xfrm>
            <a:off x="1051560" y="4754880"/>
            <a:ext cx="7040880" cy="777240"/>
          </a:xfrm>
          <a:prstGeom prst="rect">
            <a:avLst/>
          </a:prstGeom>
          <a:noFill/>
          <a:ln/>
        </p:spPr>
        <p:txBody>
          <a:bodyPr wrap="square" lIns="0" tIns="0" rIns="0" bIns="0" rtlCol="0" anchor="t"/>
          <a:lstStyle/>
          <a:p>
            <a:pPr indent="0" marL="0">
              <a:lnSpc>
                <a:spcPct val="120000"/>
              </a:lnSpc>
              <a:buNone/>
            </a:pPr>
            <a:r>
              <a:rPr lang="en-US" sz="1800" dirty="0">
                <a:solidFill>
                  <a:schemeClr val="tx2"/>
                </a:solidFill>
              </a:rPr>
              <a:t>Live demo: </a:t>
            </a:r>
            <a:pPr indent="0" marL="0">
              <a:lnSpc>
                <a:spcPct val="120000"/>
              </a:lnSpc>
              <a:buNone/>
            </a:pPr>
            <a:r>
              <a:rPr lang="en-US" sz="18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branchlab-ggon.onrender.com</a:t>
            </a:r>
            <a:endParaRPr lang="en-US" sz="1800" dirty="0"/>
          </a:p>
          <a:p>
            <a:pPr indent="0" marL="0">
              <a:lnSpc>
                <a:spcPct val="120000"/>
              </a:lnSpc>
              <a:buNone/>
            </a:pPr>
            <a:r>
              <a:rPr lang="en-US" sz="1800" dirty="0">
                <a:solidFill>
                  <a:schemeClr val="tx2"/>
                </a:solidFill>
              </a:rPr>
              <a:t>Source: </a:t>
            </a:r>
            <a:pPr indent="0" marL="0">
              <a:lnSpc>
                <a:spcPct val="120000"/>
              </a:lnSpc>
              <a:buNone/>
            </a:pPr>
            <a:r>
              <a:rPr lang="en-US" sz="18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github.com/SnehaGEE/ast-test-generator</a:t>
            </a:r>
            <a:endParaRPr lang="en-US" sz="1800" dirty="0"/>
          </a:p>
        </p:txBody>
      </p:sp>
    </p:spTree>
  </p:cSld>
  <p:clrMapOvr>
    <a:masterClrMapping/>
  </p:clrMapOvr>
</p:sld>
</file>

<file path=ppt/theme/theme1.xml><?xml version="1.0" encoding="utf-8"?>
<a:theme xmlns:a="http://schemas.openxmlformats.org/drawingml/2006/main" name="BranchLab">
  <a:themeElements>
    <a:clrScheme name="BranchLab">
      <a:dk1>
        <a:srgbClr val="1F2340"/>
      </a:dk1>
      <a:lt1>
        <a:srgbClr val="FFFFFF"/>
      </a:lt1>
      <a:dk2>
        <a:srgbClr val="4A5072"/>
      </a:dk2>
      <a:lt2>
        <a:srgbClr val="F6F7FC"/>
      </a:lt2>
      <a:accent1>
        <a:srgbClr val="4B55C9"/>
      </a:accent1>
      <a:accent2>
        <a:srgbClr val="5B2FAE"/>
      </a:accent2>
      <a:accent3>
        <a:srgbClr val="19673F"/>
      </a:accent3>
      <a:accent4>
        <a:srgbClr val="8A4B0F"/>
      </a:accent4>
      <a:accent5>
        <a:srgbClr val="A1213F"/>
      </a:accent5>
      <a:accent6>
        <a:srgbClr val="6D7CF2"/>
      </a:accent6>
      <a:hlink>
        <a:srgbClr val="4B55C9"/>
      </a:hlink>
      <a:folHlink>
        <a:srgbClr val="5B2FAE"/>
      </a:folHlink>
    </a:clrScheme>
    <a:fontScheme name="BranchLab">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BranchLab: AST-Based Targeted Test Case Generation (Project Review III)</dc:title>
  <dc:subject>PptxGenJS Presentation</dc:subject>
  <dc:creator>Sneha Geevargis</dc:creator>
  <cp:lastModifiedBy>Sneha Geevargis</cp:lastModifiedBy>
  <cp:revision>1</cp:revision>
  <dcterms:created xsi:type="dcterms:W3CDTF">2026-10-28T16:00:39Z</dcterms:created>
  <dcterms:modified xsi:type="dcterms:W3CDTF">2026-10-28T16:00:39Z</dcterms:modified>
</cp:coreProperties>
</file>