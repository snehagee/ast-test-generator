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e9b836-59b1-19c7-ddea-e9646e3ff88f}">
          <p14:sldIdLst>
            <p14:sldId id="256"/>
            <p14:sldId id="257"/>
            <p14:sldId id="258"/>
            <p14:sldId id="259"/>
          </p14:sldIdLst>
        </p14:section>
        <p14:section name="How it works" id="{75a52cf3-5e89-0a46-3026-b14868e605c6}">
          <p14:sldIdLst>
            <p14:sldId id="260"/>
            <p14:sldId id="261"/>
            <p14:sldId id="262"/>
            <p14:sldId id="263"/>
            <p14:sldId id="264"/>
            <p14:sldId id="265"/>
            <p14:sldId id="266"/>
          </p14:sldIdLst>
        </p14:section>
        <p14:section name="Results" id="{1a94ee64-f89e-6032-00a2-97716e74c11b}">
          <p14:sldIdLst>
            <p14:sldId id="267"/>
            <p14:sldId id="268"/>
            <p14:sldId id="269"/>
            <p14:sldId id="270"/>
          </p14:sldIdLst>
        </p14:section>
        <p14:section name="Close" id="{de442887-10c6-0c85-602c-f4644a421584}">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AST-targeted</c:v>
                </c:pt>
              </c:strCache>
            </c:strRef>
          </c:tx>
          <c:spPr>
            <a:solidFill>
              <a:srgbClr val="AAB6FF"/>
            </a:solidFill>
            <a:effectLst/>
          </c:spPr>
          <c:invertIfNegative val="0"/>
          <c:dLbls>
            <c:numFmt formatCode="0.0&quot;%&quot;" sourceLinked="0"/>
            <c:txPr>
              <a:bodyPr/>
              <a:lstStyle/>
              <a:p>
                <a:pPr>
                  <a:defRPr b="0" i="0" strike="noStrike" sz="1400" u="none">
                    <a:solidFill>
                      <a:srgbClr val="F6F7FC"/>
                    </a:solidFill>
                    <a:latin typeface="+mn-lt"/>
                  </a:defRPr>
                </a:pPr>
              </a:p>
            </c:txPr>
            <c:showLegendKey val="0"/>
            <c:showVal val="1"/>
            <c:showCatName val="0"/>
            <c:showSerName val="0"/>
            <c:showPercent val="0"/>
            <c:showBubbleSize val="0"/>
            <c:showLeaderLines val="0"/>
          </c:dLbls>
          <c:cat>
            <c:multiLvlStrRef>
              <c:f>Sheet1!$A$2:$A$4</c:f>
              <c:multiLvlStrCache>
                <c:ptCount val="3"/>
                <c:lvl>
                  <c:pt idx="0">
                    <c:v>Faults detected</c:v>
                  </c:pt>
                  <c:pt idx="1">
                    <c:v>Branch coverage</c:v>
                  </c:pt>
                  <c:pt idx="2">
                    <c:v>Statement coverage</c:v>
                  </c:pt>
                </c:lvl>
              </c:multiLvlStrCache>
            </c:multiLvlStrRef>
          </c:cat>
          <c:val>
            <c:numRef>
              <c:f>Sheet1!$B$2:$B$4</c:f>
              <c:numCache>
                <c:formatCode>General</c:formatCode>
                <c:ptCount val="3"/>
                <c:pt idx="0">
                  <c:v>94.4</c:v>
                </c:pt>
                <c:pt idx="1">
                  <c:v>94.2</c:v>
                </c:pt>
                <c:pt idx="2">
                  <c:v>96.6</c:v>
                </c:pt>
              </c:numCache>
            </c:numRef>
          </c:val>
        </c:ser>
        <c:ser>
          <c:idx val="1"/>
          <c:order val="1"/>
          <c:tx>
            <c:strRef>
              <c:f>Sheet1!$C$1</c:f>
              <c:strCache>
                <c:ptCount val="1"/>
                <c:pt idx="0">
                  <c:v>Random (same test count)</c:v>
                </c:pt>
              </c:strCache>
            </c:strRef>
          </c:tx>
          <c:spPr>
            <a:solidFill>
              <a:srgbClr val="F2CF88"/>
            </a:solidFill>
            <a:effectLst/>
          </c:spPr>
          <c:invertIfNegative val="0"/>
          <c:dLbls>
            <c:numFmt formatCode="0.0&quot;%&quot;" sourceLinked="0"/>
            <c:txPr>
              <a:bodyPr/>
              <a:lstStyle/>
              <a:p>
                <a:pPr>
                  <a:defRPr b="0" i="0" strike="noStrike" sz="1400" u="none">
                    <a:solidFill>
                      <a:srgbClr val="F6F7FC"/>
                    </a:solidFill>
                    <a:latin typeface="+mn-lt"/>
                  </a:defRPr>
                </a:pPr>
              </a:p>
            </c:txPr>
            <c:showLegendKey val="0"/>
            <c:showVal val="1"/>
            <c:showCatName val="0"/>
            <c:showSerName val="0"/>
            <c:showPercent val="0"/>
            <c:showBubbleSize val="0"/>
            <c:showLeaderLines val="0"/>
          </c:dLbls>
          <c:cat>
            <c:multiLvlStrRef>
              <c:f>Sheet1!$A$2:$A$4</c:f>
              <c:multiLvlStrCache>
                <c:ptCount val="3"/>
                <c:lvl>
                  <c:pt idx="0">
                    <c:v>Faults detected</c:v>
                  </c:pt>
                  <c:pt idx="1">
                    <c:v>Branch coverage</c:v>
                  </c:pt>
                  <c:pt idx="2">
                    <c:v>Statement coverage</c:v>
                  </c:pt>
                </c:lvl>
              </c:multiLvlStrCache>
            </c:multiLvlStrRef>
          </c:cat>
          <c:val>
            <c:numRef>
              <c:f>Sheet1!$C$2:$C$4</c:f>
              <c:numCache>
                <c:formatCode>General</c:formatCode>
                <c:ptCount val="3"/>
                <c:pt idx="0">
                  <c:v>23.7</c:v>
                </c:pt>
                <c:pt idx="1">
                  <c:v>58.5</c:v>
                </c:pt>
                <c:pt idx="2">
                  <c:v>67.8</c:v>
                </c:pt>
              </c:numCache>
            </c:numRef>
          </c:val>
        </c:ser>
        <c:dLbls>
          <c:numFmt formatCode="0.0&quot;%&quot;" sourceLinked="0"/>
          <c:txPr>
            <a:bodyPr/>
            <a:lstStyle/>
            <a:p>
              <a:pPr>
                <a:defRPr b="0" i="0" strike="noStrike" sz="1400" u="none">
                  <a:solidFill>
                    <a:srgbClr val="F6F7F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500" b="0" i="0" u="none" strike="noStrike">
                <a:solidFill>
                  <a:srgbClr val="F6F7FC"/>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400">
              <a:solidFill>
                <a:srgbClr val="F6F7F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Compiler-Based Automatic Test Case Generation Using AST and Program Analysis, implemented as BranchLab. It reads a program’s syntax tree, finds the conditions that choose each path, and generates and runs tests aimed at both sides of every condition — for C, as planned in Review I, and also for Python and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bugs sit at boundaries and in branches that never ran. Random inputs rarely land on the boundary; hand-written tests take time and give no picture of what was missed. BranchLab takes the targeted route: it reads each condition from the program itself and picks values on both sides of it and exactly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objectives from the Review I report and where each stands now. Parsing and the AST are done for C, as planned, and extended to Python and Java. Conditions are found in if, while and switch statements. Targeted tests are generated, plus invalid-input and fuzz tests. All three evaluation measures are implemented: branch coverage, statement coverage, and fault detection through mutation testing. And the comparison with random testing is done; the results are on slide 13. Everything is demonstrable in the working web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from Review I falls into three heavy-weight families. Symbolic execution tools like KLEE and CUTE reach high coverage but need constraint solvers and suffer path explosion. Search-based tools like EvoSuite and DynaMOSA need many optimisation iterations and are mostly Java. Recent LLM tools like STRUT and ChatUniTest depend on large models whose tests need checking and repair. BranchLab takes the lightweight route: it reads the conditions straight from the abstract syntax tree, so generation takes milliseconds and every test can be traced to the exact condition and line it targets. What is new beyond that: coverage for compiled C and Java through inserted probes, input delivery that follows each program path, and suggestions that are executed before they are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request follows the same five stages. Parsing uses Python’s built-in ast module, and Tree-sitter grammars for Java and C. Analysis collects if, while and switch conditions. Generation picks boundary values, and optionally invalid and fuzz inputs. Execution runs each test in its own process; Java and C are compiled once per run. Measurement reports branch and statement coverage and suggests tests for missing outcomes. The React interface talks to a FastAPI backend, and each language is a small adapter behind one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analyzer walks the syntax tree. Here the If node’s test is a Compare of the name age, the operator greater-or-equal, and the constant 18. That becomes the condition age &gt;= 18, and the boundary generator picks 17, 18 and 19. These are the real outputs: 17 is Minor, 18 and 19 are Adult, so both outcomes of the condition ran. The same works with and, or and not, reversed comparisons, negative, hex and suffixed literals, and switch or match cases, where case 2 means choice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values are keyed by variable name, but programs read them by position: the first scanf, the next Scanner call, the next input. BranchLab turns the program into a read map from its syntax tree and, for each test, follows the branches that test’s values choose. Option 1 of this menu reads the account number, name and amount; option 2 reads only number and amount, so each test gets exactly those answers. Values that no condition uses, like the name, get a placeholder of the right type so later values still land in the right variable. This was a real bug we found and fixed: before, values were shifted into the wrong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programs run in a separate Python process per test, which can be killed if it hangs; the tool answers input calls itself and caps output. Java and C are compiled once per analysis run and then executed once per test, which made runs much faster than compiling per test. Values reach the program on standard input and, where the program uses them, on the command line; Java also gets them as system properties. One honest note: this isolation contains hangs and crashes but is not a security sandbox, so the tool should only be used on trusted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here means branch outcomes: every tracked condition can be true or false, and the percentage is the share of those outcomes the tests actually produced. Python is measured with a tracer while the program runs. Java and C cannot be traced that way, so the source is instrumented: every condition is wrapped in a probe call that records whether it was true or false and passes the value through unchanged, so the program behaves exactly as before. Each new outcome is written to a file immediately, so it is kept even if the program calls exit, crashes or times out. Statement coverage is measured the same way: a small probe before every statement records that it ran; a statement written without braces, like if (x) return 1, is wrapped as { probe; return 1; } so it can be counted without changing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missing outcome the tool proposes a boundary value, fills in the other variables, and then actually runs the suggestion once. Only if the missing outcome really happens is it marked Verified. In this real example with a single test, the suggestion for line 1 works. The suggestions for the inner condition cannot work on their own, because age stays 17 and the inner if is never reached, so they are honestly marked Not reached rather than presented as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boundary tests, two optional strategies check how a program handles bad input. Invalid-input tests send values like text, empty strings, None and very large numbers. Fuzz tests send seeded random and extreme values, so results are reproducible. These are real results from the Java grade example: non-numeric text and a number too large for an int all crash Integer.parseInt, which the report shows clearly, while minus 999,999 is correctly reported as an invalid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interface is built with React and talks to the FastAPI backend. On the left, the workspace: language tabs for Python, Java and C, a code editor, the maximum number of tests, and switches for invalid-input and fuzz testing. On the right, the results in dark mode: summary cards, then tabs for the generated tests, the raw execution output, and branch and statement coverage with suggestions. A live indicator shows whether the backend is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comparison promised in Review I. Each program gets BranchLab’s targeted tests and random tests of exactly the same size, uniform integers between minus 1,000 and 1,000, averaged over three fixed seeds. Fault detection is measured by mutation testing: at every comparison we inject three boundary bugs, the operator off by one and the constant plus or minus one, 81 faults in total, and count how many each suite catches. Averaged over nine programs, the targeted tests caught 94.4 percent of the faults against 23.7 percent for random, with 94.2 versus 58.5 percent branch coverage and 96.6 versus 67.8 percent statement coverage. Generating the tests took under 25 milliseconds per program. The full table is in the report and in docs/evaluation/results.md, and anyone can reproduce it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case study: a 280-line menu-driven bank management system in C with a binary search tree, linked lists and file output. On the first run, BranchLab reached only 12 percent branch coverage, because menu options were never selected and values landed in the wrong variables. Treating switch cases as conditions raised it to 44 percent, and giving each path exactly the inputs it reads raised it to 58 percent, with 22 of 25 conditions exercised and every menu option run. In that run, with 20 tests including invalid and fuzz inputs, 107 of 145 statements executed, 73.8 percent statement coverage. The remaining branches need two actions in one run, such as creating an account and then depositing, which is a known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treated the tool itself as something to test. There are 242 automated tests. They do not trust the coverage number: every program output is compared with a reference implementation, and the expected true and false outcomes are recomputed independently from the actual generated inputs. Each fix was written test-first: a failing test, then the change. These checks caught real bugs that a percentage alone would have hidden: Python values swapped between variables, Java Scanner programs hanging, C programs reading uninitialised memory while showing as passed, and a crash inside the tree-sitter parser library that we traced to version 0.26.0 and fixed by pinning 0.25.2.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Each test is a single run with one set of values, so behaviour that needs a sequence of actions, like creating an account and then depositing, is not generated. Only comparisons between a variable and a number produce targeted inputs. Loops and switch statements run normally but are not counted in the branch coverage percentage. And the process isolation contains hangs and crashes but is not a security sandbox. Future work: generating input sequences, symbolic execution for richer conditions, coverage for loops and switch cases, and container-based sandboxing. Importantly, whatever is not reached is shown as missing, never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take questions. For the demo: open https://branchlab-ggon.onrender.com about two minutes early, since the free server sleeps when idle. As a backup, run it locally: start the backend with python -m uvicorn api:app --reload, and the frontend with npm run dev in the frontend folder, then open localhost:5173. Suggested flow: run the Python starter to show 17, 18 and 19 and full coverage; then paste examples/c/bank.c with 20 tests and show that every menu option runs, the coverage tab with branch and statement coverage, and the suggestions marked not reached for deposit and withdraw; finally toggle dark mode. Fill in the repository link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F234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rtlCol="0"/>
          <a:lstStyle>
            <a:lvl1pPr indent="0" marL="0">
              <a:buNone/>
              <a:defRPr lang="en-US" sz="1300" b="1" spc="200" kern="0" dirty="0">
                <a:solidFill>
                  <a:srgbClr val="AAB6FF"/>
                </a:solidFill>
              </a:defRPr>
            </a:lvl1pPr>
          </a:lstStyle>
          <a:p>
            <a:pPr indent="0" marL="0">
              <a:buNone/>
            </a:pP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9AA0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ECEE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728655" cy="411480"/>
          </a:xfrm>
          <a:prstGeom prst="rect">
            <a:avLst/>
          </a:prstGeom>
          <a:noFill/>
          <a:ln/>
        </p:spPr>
        <p:txBody>
          <a:bodyPr wrap="square" rtlCol="0"/>
          <a:lstStyle>
            <a:lvl1pPr indent="0" marL="0">
              <a:buNone/>
              <a:defRPr lang="en-US" sz="1600" b="1" spc="2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1828800"/>
            <a:ext cx="10728655" cy="123444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
        <p:nvSpPr>
          <p:cNvPr id="4" name="Text 0"/>
          <p:cNvSpPr/>
          <p:nvPr>
            <p:ph idx="102" type="body" hasCustomPrompt="1"/>
          </p:nvPr>
        </p:nvSpPr>
        <p:spPr>
          <a:xfrm>
            <a:off x="731520" y="3154680"/>
            <a:ext cx="9601200" cy="960120"/>
          </a:xfrm>
          <a:prstGeom prst="rect">
            <a:avLst/>
          </a:prstGeom>
          <a:noFill/>
          <a:ln/>
        </p:spPr>
        <p:txBody>
          <a:bodyPr wrap="square" rtlCol="0"/>
          <a:lstStyle>
            <a:lvl1pPr indent="0" marL="0">
              <a:buNone/>
              <a:defRPr lang="en-US" sz="2600" dirty="0">
                <a:solidFill>
                  <a:schemeClr val="tx2"/>
                </a:solidFill>
              </a:defRPr>
            </a:lvl1pPr>
          </a:lstStyle>
          <a:p>
            <a:pPr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BLRepo" Type="http://schemas.openxmlformats.org/officeDocument/2006/relationships/hyperlink" Target="https://github.com/SnehaGEE/ast-test-generator" TargetMode="External"/><Relationship Id="rIdBLDemo" Type="http://schemas.openxmlformats.org/officeDocument/2006/relationships/hyperlink" Target="https://branchlab-ggon.onrender.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728655" cy="411480"/>
          </a:xfrm>
          <a:prstGeom prst="rect">
            <a:avLst/>
          </a:prstGeom>
          <a:noFill/>
          <a:ln/>
        </p:spPr>
        <p:txBody>
          <a:bodyPr wrap="square" lIns="0" tIns="0" rIns="0" bIns="0" rtlCol="0"/>
          <a:lstStyle/>
          <a:p>
            <a:pPr indent="0" marL="0">
              <a:buNone/>
            </a:pPr>
            <a:r>
              <a:rPr lang="en-US" sz="1600" b="1" spc="200" kern="0" dirty="0">
                <a:solidFill>
                  <a:schemeClr val="accent1"/>
                </a:solidFill>
              </a:rPr>
              <a:t>BCSE307P COMPILER DESIGN LAB · PROJECT REVIEW II</a:t>
            </a:r>
            <a:endParaRPr lang="en-US" sz="1600" dirty="0"/>
          </a:p>
        </p:txBody>
      </p:sp>
      <p:sp>
        <p:nvSpPr>
          <p:cNvPr id="3" name="Text 0"/>
          <p:cNvSpPr/>
          <p:nvPr>
            <p:ph idx="101" type="title" hasCustomPrompt="1"/>
          </p:nvPr>
        </p:nvSpPr>
        <p:spPr>
          <a:xfrm>
            <a:off x="731520" y="1828800"/>
            <a:ext cx="10728655" cy="1234440"/>
          </a:xfrm>
          <a:prstGeom prst="rect">
            <a:avLst/>
          </a:prstGeom>
          <a:noFill/>
          <a:ln/>
        </p:spPr>
        <p:txBody>
          <a:bodyPr wrap="square" lIns="0" tIns="0" rIns="0" bIns="0" rtlCol="0" anchor="t"/>
          <a:lstStyle/>
          <a:p>
            <a:pPr algn="l" indent="0" marL="0">
              <a:buNone/>
            </a:pPr>
            <a:r>
              <a:rPr lang="en-US" sz="6600" b="1" dirty="0">
                <a:solidFill>
                  <a:schemeClr val="tx1"/>
                </a:solidFill>
              </a:rPr>
              <a:t>BranchLab</a:t>
            </a:r>
            <a:endParaRPr lang="en-US" sz="6600" dirty="0"/>
          </a:p>
        </p:txBody>
      </p:sp>
      <p:sp>
        <p:nvSpPr>
          <p:cNvPr id="4" name="Text 0"/>
          <p:cNvSpPr/>
          <p:nvPr>
            <p:ph idx="102" type="body" hasCustomPrompt="1"/>
          </p:nvPr>
        </p:nvSpPr>
        <p:spPr>
          <a:xfrm>
            <a:off x="731520" y="3154680"/>
            <a:ext cx="9601200" cy="960120"/>
          </a:xfrm>
          <a:prstGeom prst="rect">
            <a:avLst/>
          </a:prstGeom>
          <a:noFill/>
          <a:ln/>
        </p:spPr>
        <p:txBody>
          <a:bodyPr wrap="square" lIns="0" tIns="0" rIns="0" bIns="0" rtlCol="0" anchor="t"/>
          <a:lstStyle/>
          <a:p>
            <a:pPr indent="0" marL="0">
              <a:buNone/>
            </a:pPr>
            <a:r>
              <a:rPr lang="en-US" sz="2600" dirty="0">
                <a:solidFill>
                  <a:schemeClr val="tx2"/>
                </a:solidFill>
              </a:rPr>
              <a:t>AST-Based Targeted Test Case Generation Using Program Analysis</a:t>
            </a:r>
            <a:endParaRPr lang="en-US" sz="2600" dirty="0"/>
          </a:p>
        </p:txBody>
      </p:sp>
      <p:sp>
        <p:nvSpPr>
          <p:cNvPr id="5" name="pill-1"/>
          <p:cNvSpPr/>
          <p:nvPr/>
        </p:nvSpPr>
        <p:spPr>
          <a:xfrm>
            <a:off x="731520" y="4343400"/>
            <a:ext cx="1188720" cy="384048"/>
          </a:xfrm>
          <a:prstGeom prst="roundRect">
            <a:avLst>
              <a:gd name="adj" fmla="val 50000"/>
            </a:avLst>
          </a:prstGeom>
          <a:solidFill>
            <a:srgbClr val="E6EBFF"/>
          </a:solidFill>
          <a:ln/>
        </p:spPr>
      </p:sp>
      <p:sp>
        <p:nvSpPr>
          <p:cNvPr id="6" name="text-2"/>
          <p:cNvSpPr txBox="1"/>
          <p:nvPr/>
        </p:nvSpPr>
        <p:spPr>
          <a:xfrm>
            <a:off x="731520" y="4343400"/>
            <a:ext cx="1188720" cy="384048"/>
          </a:xfrm>
          <a:prstGeom prst="rect">
            <a:avLst/>
          </a:prstGeom>
          <a:noFill/>
          <a:ln/>
        </p:spPr>
        <p:txBody>
          <a:bodyPr wrap="square" lIns="0" tIns="0" rIns="0" bIns="0" rtlCol="0" anchor="ctr"/>
          <a:lstStyle/>
          <a:p>
            <a:pPr algn="ctr" indent="0" marL="0">
              <a:buNone/>
            </a:pPr>
            <a:r>
              <a:rPr lang="en-US" sz="1400" b="1" dirty="0">
                <a:solidFill>
                  <a:srgbClr val="3B3F9E"/>
                </a:solidFill>
              </a:rPr>
              <a:t>Python</a:t>
            </a:r>
            <a:endParaRPr lang="en-US" sz="1400" dirty="0"/>
          </a:p>
        </p:txBody>
      </p:sp>
      <p:sp>
        <p:nvSpPr>
          <p:cNvPr id="7" name="pill-3"/>
          <p:cNvSpPr/>
          <p:nvPr/>
        </p:nvSpPr>
        <p:spPr>
          <a:xfrm>
            <a:off x="2057400" y="4343400"/>
            <a:ext cx="1005840" cy="384048"/>
          </a:xfrm>
          <a:prstGeom prst="roundRect">
            <a:avLst>
              <a:gd name="adj" fmla="val 50000"/>
            </a:avLst>
          </a:prstGeom>
          <a:solidFill>
            <a:srgbClr val="EFE9FF"/>
          </a:solidFill>
          <a:ln/>
        </p:spPr>
      </p:sp>
      <p:sp>
        <p:nvSpPr>
          <p:cNvPr id="8" name="text-4"/>
          <p:cNvSpPr txBox="1"/>
          <p:nvPr/>
        </p:nvSpPr>
        <p:spPr>
          <a:xfrm>
            <a:off x="2057400" y="4343400"/>
            <a:ext cx="1005840" cy="384048"/>
          </a:xfrm>
          <a:prstGeom prst="rect">
            <a:avLst/>
          </a:prstGeom>
          <a:noFill/>
          <a:ln/>
        </p:spPr>
        <p:txBody>
          <a:bodyPr wrap="square" lIns="0" tIns="0" rIns="0" bIns="0" rtlCol="0" anchor="ctr"/>
          <a:lstStyle/>
          <a:p>
            <a:pPr algn="ctr" indent="0" marL="0">
              <a:buNone/>
            </a:pPr>
            <a:r>
              <a:rPr lang="en-US" sz="1400" b="1" dirty="0">
                <a:solidFill>
                  <a:srgbClr val="5B2FAE"/>
                </a:solidFill>
              </a:rPr>
              <a:t>Java</a:t>
            </a:r>
            <a:endParaRPr lang="en-US" sz="1400" dirty="0"/>
          </a:p>
        </p:txBody>
      </p:sp>
      <p:sp>
        <p:nvSpPr>
          <p:cNvPr id="9" name="pill-5"/>
          <p:cNvSpPr/>
          <p:nvPr/>
        </p:nvSpPr>
        <p:spPr>
          <a:xfrm>
            <a:off x="3200400" y="4343400"/>
            <a:ext cx="731520" cy="384048"/>
          </a:xfrm>
          <a:prstGeom prst="roundRect">
            <a:avLst>
              <a:gd name="adj" fmla="val 50000"/>
            </a:avLst>
          </a:prstGeom>
          <a:solidFill>
            <a:srgbClr val="DCF7E7"/>
          </a:solidFill>
          <a:ln/>
        </p:spPr>
      </p:sp>
      <p:sp>
        <p:nvSpPr>
          <p:cNvPr id="10" name="text-6"/>
          <p:cNvSpPr txBox="1"/>
          <p:nvPr/>
        </p:nvSpPr>
        <p:spPr>
          <a:xfrm>
            <a:off x="3200400" y="4343400"/>
            <a:ext cx="731520" cy="384048"/>
          </a:xfrm>
          <a:prstGeom prst="rect">
            <a:avLst/>
          </a:prstGeom>
          <a:noFill/>
          <a:ln/>
        </p:spPr>
        <p:txBody>
          <a:bodyPr wrap="square" lIns="0" tIns="0" rIns="0" bIns="0" rtlCol="0" anchor="ctr"/>
          <a:lstStyle/>
          <a:p>
            <a:pPr algn="ctr" indent="0" marL="0">
              <a:buNone/>
            </a:pPr>
            <a:r>
              <a:rPr lang="en-US" sz="1400" b="1" dirty="0">
                <a:solidFill>
                  <a:srgbClr val="19673F"/>
                </a:solidFill>
              </a:rPr>
              <a:t>C</a:t>
            </a:r>
            <a:endParaRPr lang="en-US" sz="1400" dirty="0"/>
          </a:p>
        </p:txBody>
      </p:sp>
      <p:sp>
        <p:nvSpPr>
          <p:cNvPr id="11" name="text-7"/>
          <p:cNvSpPr txBox="1"/>
          <p:nvPr/>
        </p:nvSpPr>
        <p:spPr>
          <a:xfrm>
            <a:off x="731520" y="5669280"/>
            <a:ext cx="9144000" cy="411480"/>
          </a:xfrm>
          <a:prstGeom prst="rect">
            <a:avLst/>
          </a:prstGeom>
          <a:noFill/>
          <a:ln/>
        </p:spPr>
        <p:txBody>
          <a:bodyPr wrap="square" lIns="0" tIns="0" rIns="0" bIns="0" rtlCol="0" anchor="t"/>
          <a:lstStyle/>
          <a:p>
            <a:pPr indent="0" marL="0">
              <a:buNone/>
            </a:pPr>
            <a:r>
              <a:rPr lang="en-US" sz="1800" dirty="0">
                <a:solidFill>
                  <a:schemeClr val="tx2"/>
                </a:solidFill>
              </a:rPr>
              <a:t>Sneha Geevargis  ·  24BCB0149  ·  Vellore Institute of Technology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rgbClr val="AAB6FF"/>
                </a:solidFill>
              </a:rPr>
              <a:t>THE PROBLEM</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bg1"/>
                </a:solidFill>
              </a:rPr>
              <a:t>Bugs hide in the branch nobody tested</a:t>
            </a:r>
            <a:endParaRPr lang="en-US" sz="3400" dirty="0"/>
          </a:p>
        </p:txBody>
      </p:sp>
      <p:sp>
        <p:nvSpPr>
          <p:cNvPr id="5" name="card-8"/>
          <p:cNvSpPr/>
          <p:nvPr/>
        </p:nvSpPr>
        <p:spPr>
          <a:xfrm>
            <a:off x="731520" y="2240280"/>
            <a:ext cx="3393338" cy="2331720"/>
          </a:xfrm>
          <a:prstGeom prst="roundRect">
            <a:avLst>
              <a:gd name="adj" fmla="val 4706"/>
            </a:avLst>
          </a:prstGeom>
          <a:solidFill>
            <a:srgbClr val="2A2F55"/>
          </a:solidFill>
          <a:ln/>
        </p:spPr>
      </p:sp>
      <p:sp>
        <p:nvSpPr>
          <p:cNvPr id="6" name="text-9"/>
          <p:cNvSpPr txBox="1"/>
          <p:nvPr/>
        </p:nvSpPr>
        <p:spPr>
          <a:xfrm>
            <a:off x="1051560" y="2514600"/>
            <a:ext cx="2753258" cy="457200"/>
          </a:xfrm>
          <a:prstGeom prst="rect">
            <a:avLst/>
          </a:prstGeom>
          <a:noFill/>
          <a:ln/>
        </p:spPr>
        <p:txBody>
          <a:bodyPr wrap="square" lIns="0" tIns="0" rIns="0" bIns="0" rtlCol="0" anchor="t"/>
          <a:lstStyle/>
          <a:p>
            <a:pPr indent="0" marL="0">
              <a:buNone/>
            </a:pPr>
            <a:r>
              <a:rPr lang="en-US" sz="2200" b="1" dirty="0">
                <a:solidFill>
                  <a:srgbClr val="FFC9D4"/>
                </a:solidFill>
              </a:rPr>
              <a:t>Random inputs</a:t>
            </a:r>
            <a:endParaRPr lang="en-US" sz="2200" dirty="0"/>
          </a:p>
        </p:txBody>
      </p:sp>
      <p:sp>
        <p:nvSpPr>
          <p:cNvPr id="7" name="text-10"/>
          <p:cNvSpPr txBox="1"/>
          <p:nvPr/>
        </p:nvSpPr>
        <p:spPr>
          <a:xfrm>
            <a:off x="1051560" y="3108960"/>
            <a:ext cx="2753258" cy="1325880"/>
          </a:xfrm>
          <a:prstGeom prst="rect">
            <a:avLst/>
          </a:prstGeom>
          <a:noFill/>
          <a:ln/>
        </p:spPr>
        <p:txBody>
          <a:bodyPr wrap="square" lIns="0" tIns="0" rIns="0" bIns="0" rtlCol="0" anchor="t"/>
          <a:lstStyle/>
          <a:p>
            <a:pPr indent="0" marL="0">
              <a:buNone/>
            </a:pPr>
            <a:r>
              <a:rPr lang="en-US" sz="1800" dirty="0">
                <a:solidFill>
                  <a:srgbClr val="C9CDE8"/>
                </a:solidFill>
              </a:rPr>
              <a:t>For age &gt;= 18, a random age like 4,812 tests one side and almost never the edge.</a:t>
            </a:r>
            <a:endParaRPr lang="en-US" sz="1800" dirty="0"/>
          </a:p>
        </p:txBody>
      </p:sp>
      <p:sp>
        <p:nvSpPr>
          <p:cNvPr id="8" name="card-11"/>
          <p:cNvSpPr/>
          <p:nvPr/>
        </p:nvSpPr>
        <p:spPr>
          <a:xfrm>
            <a:off x="4399178" y="2240280"/>
            <a:ext cx="3393338" cy="2331720"/>
          </a:xfrm>
          <a:prstGeom prst="roundRect">
            <a:avLst>
              <a:gd name="adj" fmla="val 4706"/>
            </a:avLst>
          </a:prstGeom>
          <a:solidFill>
            <a:srgbClr val="2A2F55"/>
          </a:solidFill>
          <a:ln/>
        </p:spPr>
      </p:sp>
      <p:sp>
        <p:nvSpPr>
          <p:cNvPr id="9" name="text-12"/>
          <p:cNvSpPr txBox="1"/>
          <p:nvPr/>
        </p:nvSpPr>
        <p:spPr>
          <a:xfrm>
            <a:off x="4719218" y="2514600"/>
            <a:ext cx="2753258" cy="457200"/>
          </a:xfrm>
          <a:prstGeom prst="rect">
            <a:avLst/>
          </a:prstGeom>
          <a:noFill/>
          <a:ln/>
        </p:spPr>
        <p:txBody>
          <a:bodyPr wrap="square" lIns="0" tIns="0" rIns="0" bIns="0" rtlCol="0" anchor="t"/>
          <a:lstStyle/>
          <a:p>
            <a:pPr indent="0" marL="0">
              <a:buNone/>
            </a:pPr>
            <a:r>
              <a:rPr lang="en-US" sz="2200" b="1" dirty="0">
                <a:solidFill>
                  <a:srgbClr val="F2CF88"/>
                </a:solidFill>
              </a:rPr>
              <a:t>Hand-written tests</a:t>
            </a:r>
            <a:endParaRPr lang="en-US" sz="2200" dirty="0"/>
          </a:p>
        </p:txBody>
      </p:sp>
      <p:sp>
        <p:nvSpPr>
          <p:cNvPr id="10" name="text-13"/>
          <p:cNvSpPr txBox="1"/>
          <p:nvPr/>
        </p:nvSpPr>
        <p:spPr>
          <a:xfrm>
            <a:off x="4719218" y="3108960"/>
            <a:ext cx="2753258" cy="1325880"/>
          </a:xfrm>
          <a:prstGeom prst="rect">
            <a:avLst/>
          </a:prstGeom>
          <a:noFill/>
          <a:ln/>
        </p:spPr>
        <p:txBody>
          <a:bodyPr wrap="square" lIns="0" tIns="0" rIns="0" bIns="0" rtlCol="0" anchor="t"/>
          <a:lstStyle/>
          <a:p>
            <a:pPr indent="0" marL="0">
              <a:buNone/>
            </a:pPr>
            <a:r>
              <a:rPr lang="en-US" sz="1800" dirty="0">
                <a:solidFill>
                  <a:srgbClr val="C9CDE8"/>
                </a:solidFill>
              </a:rPr>
              <a:t>Slow to write, and nobody can say which paths were never run.</a:t>
            </a:r>
            <a:endParaRPr lang="en-US" sz="1800" dirty="0"/>
          </a:p>
        </p:txBody>
      </p:sp>
      <p:sp>
        <p:nvSpPr>
          <p:cNvPr id="11" name="card-14"/>
          <p:cNvSpPr/>
          <p:nvPr/>
        </p:nvSpPr>
        <p:spPr>
          <a:xfrm>
            <a:off x="8066837" y="2240280"/>
            <a:ext cx="3393338" cy="2331720"/>
          </a:xfrm>
          <a:prstGeom prst="roundRect">
            <a:avLst>
              <a:gd name="adj" fmla="val 4706"/>
            </a:avLst>
          </a:prstGeom>
          <a:solidFill>
            <a:srgbClr val="3A3F78"/>
          </a:solidFill>
          <a:ln/>
        </p:spPr>
      </p:sp>
      <p:sp>
        <p:nvSpPr>
          <p:cNvPr id="12" name="text-15"/>
          <p:cNvSpPr txBox="1"/>
          <p:nvPr/>
        </p:nvSpPr>
        <p:spPr>
          <a:xfrm>
            <a:off x="8386877" y="2514600"/>
            <a:ext cx="2753258" cy="457200"/>
          </a:xfrm>
          <a:prstGeom prst="rect">
            <a:avLst/>
          </a:prstGeom>
          <a:noFill/>
          <a:ln/>
        </p:spPr>
        <p:txBody>
          <a:bodyPr wrap="square" lIns="0" tIns="0" rIns="0" bIns="0" rtlCol="0" anchor="t"/>
          <a:lstStyle/>
          <a:p>
            <a:pPr indent="0" marL="0">
              <a:buNone/>
            </a:pPr>
            <a:r>
              <a:rPr lang="en-US" sz="2200" b="1" dirty="0">
                <a:solidFill>
                  <a:srgbClr val="90E2B6"/>
                </a:solidFill>
              </a:rPr>
              <a:t>Targeted tests</a:t>
            </a:r>
            <a:endParaRPr lang="en-US" sz="2200" dirty="0"/>
          </a:p>
        </p:txBody>
      </p:sp>
      <p:sp>
        <p:nvSpPr>
          <p:cNvPr id="13" name="text-16"/>
          <p:cNvSpPr txBox="1"/>
          <p:nvPr/>
        </p:nvSpPr>
        <p:spPr>
          <a:xfrm>
            <a:off x="8386877" y="3108960"/>
            <a:ext cx="2753258" cy="1325880"/>
          </a:xfrm>
          <a:prstGeom prst="rect">
            <a:avLst/>
          </a:prstGeom>
          <a:noFill/>
          <a:ln/>
        </p:spPr>
        <p:txBody>
          <a:bodyPr wrap="square" lIns="0" tIns="0" rIns="0" bIns="0" rtlCol="0" anchor="t"/>
          <a:lstStyle/>
          <a:p>
            <a:pPr indent="0" marL="0">
              <a:buNone/>
            </a:pPr>
            <a:r>
              <a:rPr lang="en-US" sz="1800" dirty="0">
                <a:solidFill>
                  <a:srgbClr val="C9CDE8"/>
                </a:solidFill>
              </a:rPr>
              <a:t>Read the condition from the code, then test 17, 18 and 19: both sides and the boundary.</a:t>
            </a:r>
            <a:endParaRPr lang="en-US" sz="18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9AA0C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OBJECTIVES FROM REVIEW I</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All five objectives are met</a:t>
            </a:r>
            <a:endParaRPr lang="en-US" sz="3400" dirty="0"/>
          </a:p>
        </p:txBody>
      </p:sp>
      <p:graphicFrame>
        <p:nvGraphicFramePr>
          <p:cNvPr id="4" name="table-17"/>
          <p:cNvGraphicFramePr>
            <a:graphicFrameLocks noGrp="1"/>
          </p:cNvGraphicFramePr>
          <p:nvPr>
            <p:extLst>
              <p:ext uri="{D42A27DB-BD31-4B8C-83A1-F6EECF244321}">
                <p14:modId xmlns:p14="http://schemas.microsoft.com/office/powerpoint/2010/main" val="1579011935"/>
              </p:ext>
            </p:extLst>
          </p:nvPr>
        </p:nvGraphicFramePr>
        <p:xfrm>
          <a:off x="731520" y="1965960"/>
          <a:ext cx="10728655" cy="914400"/>
        </p:xfrm>
        <a:graphic>
          <a:graphicData uri="http://schemas.openxmlformats.org/drawingml/2006/table">
            <a:tbl>
              <a:tblPr/>
              <a:tblGrid>
                <a:gridCol w="6035040"/>
                <a:gridCol w="4693615"/>
              </a:tblGrid>
              <a:tr h="475488">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Objective (Review I)</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Status at Review II</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Parse C programs and build an AST</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plus Python and Java</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Find branches, conditions and boundary cases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if, while, switch</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Generate targeted test cases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plus invalid-input and fuzz tests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Branch, statement coverage and fault detection</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all three measured</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Compare with random test generation</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results on slide 13</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6" name="text-18"/>
          <p:cNvSpPr txBox="1"/>
          <p:nvPr/>
        </p:nvSpPr>
        <p:spPr>
          <a:xfrm>
            <a:off x="731520" y="5257800"/>
            <a:ext cx="10728655" cy="457200"/>
          </a:xfrm>
          <a:prstGeom prst="rect">
            <a:avLst/>
          </a:prstGeom>
          <a:noFill/>
          <a:ln/>
        </p:spPr>
        <p:txBody>
          <a:bodyPr wrap="square" lIns="0" tIns="0" rIns="0" bIns="0" rtlCol="0" anchor="t"/>
          <a:lstStyle/>
          <a:p>
            <a:pPr indent="0" marL="0">
              <a:buNone/>
            </a:pPr>
            <a:r>
              <a:rPr lang="en-US" sz="1800" dirty="0">
                <a:solidFill>
                  <a:schemeClr val="tx2"/>
                </a:solidFill>
              </a:rPr>
              <a:t>Working prototype: the </a:t>
            </a:r>
            <a:pPr indent="0" marL="0">
              <a:buNone/>
            </a:pPr>
            <a:r>
              <a:rPr lang="en-US" sz="1800" b="1" dirty="0">
                <a:solidFill>
                  <a:schemeClr val="tx1"/>
                </a:solidFill>
              </a:rPr>
              <a:t>BranchLab</a:t>
            </a:r>
            <a:pPr indent="0" marL="0">
              <a:buNone/>
            </a:pPr>
            <a:r>
              <a:rPr lang="en-US" sz="1800" dirty="0">
                <a:solidFill>
                  <a:schemeClr val="tx2"/>
                </a:solidFill>
              </a:rPr>
              <a:t> web interface for </a:t>
            </a:r>
            <a:pPr indent="0" marL="0">
              <a:buNone/>
            </a:pPr>
            <a:r>
              <a:rPr lang="en-US" sz="1800" b="1" dirty="0">
                <a:solidFill>
                  <a:schemeClr val="tx1"/>
                </a:solidFill>
              </a:rPr>
              <a:t>C, Java and Python</a:t>
            </a:r>
            <a:pPr indent="0" marL="0">
              <a:buNone/>
            </a:pPr>
            <a:r>
              <a:rPr lang="en-US" sz="1800" dirty="0">
                <a:solidFill>
                  <a:schemeClr val="tx2"/>
                </a:solidFill>
              </a:rPr>
              <a:t>.</a:t>
            </a:r>
            <a:endParaRPr lang="en-US" sz="18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NOVELTY</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Targeted tests without a solver, search or LLM</a:t>
            </a:r>
            <a:endParaRPr lang="en-US" sz="3400" dirty="0"/>
          </a:p>
        </p:txBody>
      </p:sp>
      <p:graphicFrame>
        <p:nvGraphicFramePr>
          <p:cNvPr id="5" name="table-19"/>
          <p:cNvGraphicFramePr>
            <a:graphicFrameLocks noGrp="1"/>
          </p:cNvGraphicFramePr>
          <p:nvPr>
            <p:extLst>
              <p:ext uri="{D42A27DB-BD31-4B8C-83A1-F6EECF244321}">
                <p14:modId xmlns:p14="http://schemas.microsoft.com/office/powerpoint/2010/main" val="1579011935"/>
              </p:ext>
            </p:extLst>
          </p:nvPr>
        </p:nvGraphicFramePr>
        <p:xfrm>
          <a:off x="731520" y="1920240"/>
          <a:ext cx="10728655" cy="914400"/>
        </p:xfrm>
        <a:graphic>
          <a:graphicData uri="http://schemas.openxmlformats.org/drawingml/2006/table">
            <a:tbl>
              <a:tblPr/>
              <a:tblGrid>
                <a:gridCol w="2651760"/>
                <a:gridCol w="4069080"/>
                <a:gridCol w="4007815"/>
              </a:tblGrid>
              <a:tr h="45720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Approach</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Relies on</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Trade-off</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457200">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KLEE, CUTE</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symbolic execution, constraint solver</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path explosion, solver cost</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EvoSuite, DynaMOSA</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evolutionary search</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many iterations, mostly Java</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STRUT, ChatUniTest</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large language models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tests need checking and repair</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BranchLab</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only the AST</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milliseconds, every test explained</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bl>
          </a:graphicData>
        </a:graphic>
      </p:graphicFrame>
      <p:sp>
        <p:nvSpPr>
          <p:cNvPr id="6" name="card-20"/>
          <p:cNvSpPr/>
          <p:nvPr/>
        </p:nvSpPr>
        <p:spPr>
          <a:xfrm>
            <a:off x="731520" y="4663440"/>
            <a:ext cx="3393338" cy="868680"/>
          </a:xfrm>
          <a:prstGeom prst="roundRect">
            <a:avLst>
              <a:gd name="adj" fmla="val 12632"/>
            </a:avLst>
          </a:prstGeom>
          <a:solidFill>
            <a:srgbClr val="E6EBFF"/>
          </a:solidFill>
          <a:ln/>
        </p:spPr>
      </p:sp>
      <p:sp>
        <p:nvSpPr>
          <p:cNvPr id="7" name="text-21"/>
          <p:cNvSpPr txBox="1"/>
          <p:nvPr/>
        </p:nvSpPr>
        <p:spPr>
          <a:xfrm>
            <a:off x="960120" y="4663440"/>
            <a:ext cx="2936138" cy="868680"/>
          </a:xfrm>
          <a:prstGeom prst="rect">
            <a:avLst/>
          </a:prstGeom>
          <a:noFill/>
          <a:ln/>
        </p:spPr>
        <p:txBody>
          <a:bodyPr wrap="square" lIns="0" tIns="0" rIns="0" bIns="0" rtlCol="0" anchor="ctr"/>
          <a:lstStyle/>
          <a:p>
            <a:pPr indent="0" marL="0">
              <a:buNone/>
            </a:pPr>
            <a:r>
              <a:rPr lang="en-US" sz="1600" b="1" dirty="0">
                <a:solidFill>
                  <a:srgbClr val="3B3F9E"/>
                </a:solidFill>
              </a:rPr>
              <a:t>Each test traces to one condition on one line</a:t>
            </a:r>
            <a:endParaRPr lang="en-US" sz="1600" dirty="0"/>
          </a:p>
        </p:txBody>
      </p:sp>
      <p:sp>
        <p:nvSpPr>
          <p:cNvPr id="8" name="card-22"/>
          <p:cNvSpPr/>
          <p:nvPr/>
        </p:nvSpPr>
        <p:spPr>
          <a:xfrm>
            <a:off x="4399178" y="4663440"/>
            <a:ext cx="3393338" cy="868680"/>
          </a:xfrm>
          <a:prstGeom prst="roundRect">
            <a:avLst>
              <a:gd name="adj" fmla="val 12632"/>
            </a:avLst>
          </a:prstGeom>
          <a:solidFill>
            <a:srgbClr val="EFE9FF"/>
          </a:solidFill>
          <a:ln/>
        </p:spPr>
      </p:sp>
      <p:sp>
        <p:nvSpPr>
          <p:cNvPr id="9" name="text-23"/>
          <p:cNvSpPr txBox="1"/>
          <p:nvPr/>
        </p:nvSpPr>
        <p:spPr>
          <a:xfrm>
            <a:off x="4627778" y="4663440"/>
            <a:ext cx="2936138" cy="868680"/>
          </a:xfrm>
          <a:prstGeom prst="rect">
            <a:avLst/>
          </a:prstGeom>
          <a:noFill/>
          <a:ln/>
        </p:spPr>
        <p:txBody>
          <a:bodyPr wrap="square" lIns="0" tIns="0" rIns="0" bIns="0" rtlCol="0" anchor="ctr"/>
          <a:lstStyle/>
          <a:p>
            <a:pPr indent="0" marL="0">
              <a:buNone/>
            </a:pPr>
            <a:r>
              <a:rPr lang="en-US" sz="1600" b="1" dirty="0">
                <a:solidFill>
                  <a:srgbClr val="5B2FAE"/>
                </a:solidFill>
              </a:rPr>
              <a:t>Probe-based coverage for compiled C and Java</a:t>
            </a:r>
            <a:endParaRPr lang="en-US" sz="1600" dirty="0"/>
          </a:p>
        </p:txBody>
      </p:sp>
      <p:sp>
        <p:nvSpPr>
          <p:cNvPr id="10" name="card-24"/>
          <p:cNvSpPr/>
          <p:nvPr/>
        </p:nvSpPr>
        <p:spPr>
          <a:xfrm>
            <a:off x="8066837" y="4663440"/>
            <a:ext cx="3393338" cy="868680"/>
          </a:xfrm>
          <a:prstGeom prst="roundRect">
            <a:avLst>
              <a:gd name="adj" fmla="val 12632"/>
            </a:avLst>
          </a:prstGeom>
          <a:solidFill>
            <a:srgbClr val="DCF7E7"/>
          </a:solidFill>
          <a:ln/>
        </p:spPr>
      </p:sp>
      <p:sp>
        <p:nvSpPr>
          <p:cNvPr id="11" name="text-25"/>
          <p:cNvSpPr txBox="1"/>
          <p:nvPr/>
        </p:nvSpPr>
        <p:spPr>
          <a:xfrm>
            <a:off x="8295437" y="4663440"/>
            <a:ext cx="2936138" cy="868680"/>
          </a:xfrm>
          <a:prstGeom prst="rect">
            <a:avLst/>
          </a:prstGeom>
          <a:noFill/>
          <a:ln/>
        </p:spPr>
        <p:txBody>
          <a:bodyPr wrap="square" lIns="0" tIns="0" rIns="0" bIns="0" rtlCol="0" anchor="ctr"/>
          <a:lstStyle/>
          <a:p>
            <a:pPr indent="0" marL="0">
              <a:buNone/>
            </a:pPr>
            <a:r>
              <a:rPr lang="en-US" sz="1600" b="1" dirty="0">
                <a:solidFill>
                  <a:srgbClr val="19673F"/>
                </a:solidFill>
              </a:rPr>
              <a:t>Inputs follow each path; suggestions are verified</a:t>
            </a:r>
            <a:endParaRPr lang="en-US" sz="16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ARCHITECTURE</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One pipeline for three languages</a:t>
            </a:r>
            <a:endParaRPr lang="en-US" sz="3400" dirty="0"/>
          </a:p>
        </p:txBody>
      </p:sp>
      <p:sp>
        <p:nvSpPr>
          <p:cNvPr id="5" name="card-26"/>
          <p:cNvSpPr/>
          <p:nvPr/>
        </p:nvSpPr>
        <p:spPr>
          <a:xfrm>
            <a:off x="731520" y="2148840"/>
            <a:ext cx="1692189" cy="1600200"/>
          </a:xfrm>
          <a:prstGeom prst="roundRect">
            <a:avLst>
              <a:gd name="adj" fmla="val 6857"/>
            </a:avLst>
          </a:prstGeom>
          <a:solidFill>
            <a:srgbClr val="E6EBFF"/>
          </a:solidFill>
          <a:ln/>
        </p:spPr>
      </p:sp>
      <p:sp>
        <p:nvSpPr>
          <p:cNvPr id="6" name="text-27"/>
          <p:cNvSpPr txBox="1"/>
          <p:nvPr/>
        </p:nvSpPr>
        <p:spPr>
          <a:xfrm>
            <a:off x="914400" y="2331720"/>
            <a:ext cx="1326429" cy="411480"/>
          </a:xfrm>
          <a:prstGeom prst="rect">
            <a:avLst/>
          </a:prstGeom>
          <a:noFill/>
          <a:ln/>
        </p:spPr>
        <p:txBody>
          <a:bodyPr wrap="square" lIns="0" tIns="0" rIns="0" bIns="0" rtlCol="0" anchor="t"/>
          <a:lstStyle/>
          <a:p>
            <a:pPr indent="0" marL="0">
              <a:buNone/>
            </a:pPr>
            <a:r>
              <a:rPr lang="en-US" sz="2000" b="1" dirty="0">
                <a:solidFill>
                  <a:srgbClr val="3B3F9E"/>
                </a:solidFill>
              </a:rPr>
              <a:t>Parse</a:t>
            </a:r>
            <a:endParaRPr lang="en-US" sz="2000" dirty="0"/>
          </a:p>
        </p:txBody>
      </p:sp>
      <p:sp>
        <p:nvSpPr>
          <p:cNvPr id="7" name="text-28"/>
          <p:cNvSpPr txBox="1"/>
          <p:nvPr/>
        </p:nvSpPr>
        <p:spPr>
          <a:xfrm>
            <a:off x="914400" y="2788920"/>
            <a:ext cx="1326429" cy="822960"/>
          </a:xfrm>
          <a:prstGeom prst="rect">
            <a:avLst/>
          </a:prstGeom>
          <a:noFill/>
          <a:ln/>
        </p:spPr>
        <p:txBody>
          <a:bodyPr wrap="square" lIns="0" tIns="0" rIns="0" bIns="0" rtlCol="0" anchor="t"/>
          <a:lstStyle/>
          <a:p>
            <a:pPr indent="0" marL="0">
              <a:buNone/>
            </a:pPr>
            <a:r>
              <a:rPr lang="en-US" sz="1500" dirty="0">
                <a:solidFill>
                  <a:srgbClr val="3B3F9E"/>
                </a:solidFill>
              </a:rPr>
              <a:t>Python ast; Tree‑sitter for Java, C</a:t>
            </a:r>
            <a:endParaRPr lang="en-US" sz="1500" dirty="0"/>
          </a:p>
        </p:txBody>
      </p:sp>
      <p:sp>
        <p:nvSpPr>
          <p:cNvPr id="8" name="arrow-29"/>
          <p:cNvSpPr/>
          <p:nvPr/>
        </p:nvSpPr>
        <p:spPr>
          <a:xfrm>
            <a:off x="2515149" y="2834640"/>
            <a:ext cx="384048" cy="237744"/>
          </a:xfrm>
          <a:prstGeom prst="rightArrow">
            <a:avLst/>
          </a:prstGeom>
          <a:solidFill>
            <a:srgbClr val="AAB6FF"/>
          </a:solidFill>
          <a:ln/>
        </p:spPr>
      </p:sp>
      <p:sp>
        <p:nvSpPr>
          <p:cNvPr id="9" name="card-30"/>
          <p:cNvSpPr/>
          <p:nvPr/>
        </p:nvSpPr>
        <p:spPr>
          <a:xfrm>
            <a:off x="2990637" y="2148840"/>
            <a:ext cx="1692189" cy="1600200"/>
          </a:xfrm>
          <a:prstGeom prst="roundRect">
            <a:avLst>
              <a:gd name="adj" fmla="val 6857"/>
            </a:avLst>
          </a:prstGeom>
          <a:solidFill>
            <a:srgbClr val="E6EBFF"/>
          </a:solidFill>
          <a:ln/>
        </p:spPr>
      </p:sp>
      <p:sp>
        <p:nvSpPr>
          <p:cNvPr id="10" name="text-31"/>
          <p:cNvSpPr txBox="1"/>
          <p:nvPr/>
        </p:nvSpPr>
        <p:spPr>
          <a:xfrm>
            <a:off x="3173517" y="2331720"/>
            <a:ext cx="1326429" cy="411480"/>
          </a:xfrm>
          <a:prstGeom prst="rect">
            <a:avLst/>
          </a:prstGeom>
          <a:noFill/>
          <a:ln/>
        </p:spPr>
        <p:txBody>
          <a:bodyPr wrap="square" lIns="0" tIns="0" rIns="0" bIns="0" rtlCol="0" anchor="t"/>
          <a:lstStyle/>
          <a:p>
            <a:pPr indent="0" marL="0">
              <a:buNone/>
            </a:pPr>
            <a:r>
              <a:rPr lang="en-US" sz="2000" b="1" dirty="0">
                <a:solidFill>
                  <a:srgbClr val="3B3F9E"/>
                </a:solidFill>
              </a:rPr>
              <a:t>Analyze</a:t>
            </a:r>
            <a:endParaRPr lang="en-US" sz="2000" dirty="0"/>
          </a:p>
        </p:txBody>
      </p:sp>
      <p:sp>
        <p:nvSpPr>
          <p:cNvPr id="11" name="text-32"/>
          <p:cNvSpPr txBox="1"/>
          <p:nvPr/>
        </p:nvSpPr>
        <p:spPr>
          <a:xfrm>
            <a:off x="3173517" y="2788920"/>
            <a:ext cx="1326429" cy="822960"/>
          </a:xfrm>
          <a:prstGeom prst="rect">
            <a:avLst/>
          </a:prstGeom>
          <a:noFill/>
          <a:ln/>
        </p:spPr>
        <p:txBody>
          <a:bodyPr wrap="square" lIns="0" tIns="0" rIns="0" bIns="0" rtlCol="0" anchor="t"/>
          <a:lstStyle/>
          <a:p>
            <a:pPr indent="0" marL="0">
              <a:buNone/>
            </a:pPr>
            <a:r>
              <a:rPr lang="en-US" sz="1500" dirty="0">
                <a:solidFill>
                  <a:srgbClr val="3B3F9E"/>
                </a:solidFill>
              </a:rPr>
              <a:t>if, while, switch conditions</a:t>
            </a:r>
            <a:endParaRPr lang="en-US" sz="1500" dirty="0"/>
          </a:p>
        </p:txBody>
      </p:sp>
      <p:sp>
        <p:nvSpPr>
          <p:cNvPr id="12" name="arrow-33"/>
          <p:cNvSpPr/>
          <p:nvPr/>
        </p:nvSpPr>
        <p:spPr>
          <a:xfrm>
            <a:off x="4774265" y="2834640"/>
            <a:ext cx="384048" cy="237744"/>
          </a:xfrm>
          <a:prstGeom prst="rightArrow">
            <a:avLst/>
          </a:prstGeom>
          <a:solidFill>
            <a:srgbClr val="AAB6FF"/>
          </a:solidFill>
          <a:ln/>
        </p:spPr>
      </p:sp>
      <p:sp>
        <p:nvSpPr>
          <p:cNvPr id="13" name="card-34"/>
          <p:cNvSpPr/>
          <p:nvPr/>
        </p:nvSpPr>
        <p:spPr>
          <a:xfrm>
            <a:off x="5249753" y="2148840"/>
            <a:ext cx="1692189" cy="1600200"/>
          </a:xfrm>
          <a:prstGeom prst="roundRect">
            <a:avLst>
              <a:gd name="adj" fmla="val 6857"/>
            </a:avLst>
          </a:prstGeom>
          <a:solidFill>
            <a:srgbClr val="EFE9FF"/>
          </a:solidFill>
          <a:ln/>
        </p:spPr>
      </p:sp>
      <p:sp>
        <p:nvSpPr>
          <p:cNvPr id="14" name="text-35"/>
          <p:cNvSpPr txBox="1"/>
          <p:nvPr/>
        </p:nvSpPr>
        <p:spPr>
          <a:xfrm>
            <a:off x="5432633" y="2331720"/>
            <a:ext cx="1326429" cy="411480"/>
          </a:xfrm>
          <a:prstGeom prst="rect">
            <a:avLst/>
          </a:prstGeom>
          <a:noFill/>
          <a:ln/>
        </p:spPr>
        <p:txBody>
          <a:bodyPr wrap="square" lIns="0" tIns="0" rIns="0" bIns="0" rtlCol="0" anchor="t"/>
          <a:lstStyle/>
          <a:p>
            <a:pPr indent="0" marL="0">
              <a:buNone/>
            </a:pPr>
            <a:r>
              <a:rPr lang="en-US" sz="2000" b="1" dirty="0">
                <a:solidFill>
                  <a:srgbClr val="5B2FAE"/>
                </a:solidFill>
              </a:rPr>
              <a:t>Generate</a:t>
            </a:r>
            <a:endParaRPr lang="en-US" sz="2000" dirty="0"/>
          </a:p>
        </p:txBody>
      </p:sp>
      <p:sp>
        <p:nvSpPr>
          <p:cNvPr id="15" name="text-36"/>
          <p:cNvSpPr txBox="1"/>
          <p:nvPr/>
        </p:nvSpPr>
        <p:spPr>
          <a:xfrm>
            <a:off x="5432633" y="2788920"/>
            <a:ext cx="1326429" cy="822960"/>
          </a:xfrm>
          <a:prstGeom prst="rect">
            <a:avLst/>
          </a:prstGeom>
          <a:noFill/>
          <a:ln/>
        </p:spPr>
        <p:txBody>
          <a:bodyPr wrap="square" lIns="0" tIns="0" rIns="0" bIns="0" rtlCol="0" anchor="t"/>
          <a:lstStyle/>
          <a:p>
            <a:pPr indent="0" marL="0">
              <a:buNone/>
            </a:pPr>
            <a:r>
              <a:rPr lang="en-US" sz="1500" dirty="0">
                <a:solidFill>
                  <a:srgbClr val="5B2FAE"/>
                </a:solidFill>
              </a:rPr>
              <a:t>boundary, invalid, fuzz inputs</a:t>
            </a:r>
            <a:endParaRPr lang="en-US" sz="1500" dirty="0"/>
          </a:p>
        </p:txBody>
      </p:sp>
      <p:sp>
        <p:nvSpPr>
          <p:cNvPr id="16" name="arrow-37"/>
          <p:cNvSpPr/>
          <p:nvPr/>
        </p:nvSpPr>
        <p:spPr>
          <a:xfrm>
            <a:off x="7033382" y="2834640"/>
            <a:ext cx="384048" cy="237744"/>
          </a:xfrm>
          <a:prstGeom prst="rightArrow">
            <a:avLst/>
          </a:prstGeom>
          <a:solidFill>
            <a:srgbClr val="AAB6FF"/>
          </a:solidFill>
          <a:ln/>
        </p:spPr>
      </p:sp>
      <p:sp>
        <p:nvSpPr>
          <p:cNvPr id="17" name="card-38"/>
          <p:cNvSpPr/>
          <p:nvPr/>
        </p:nvSpPr>
        <p:spPr>
          <a:xfrm>
            <a:off x="7508870" y="2148840"/>
            <a:ext cx="1692189" cy="1600200"/>
          </a:xfrm>
          <a:prstGeom prst="roundRect">
            <a:avLst>
              <a:gd name="adj" fmla="val 6857"/>
            </a:avLst>
          </a:prstGeom>
          <a:solidFill>
            <a:srgbClr val="DCF7E7"/>
          </a:solidFill>
          <a:ln/>
        </p:spPr>
      </p:sp>
      <p:sp>
        <p:nvSpPr>
          <p:cNvPr id="18" name="text-39"/>
          <p:cNvSpPr txBox="1"/>
          <p:nvPr/>
        </p:nvSpPr>
        <p:spPr>
          <a:xfrm>
            <a:off x="7691750" y="2331720"/>
            <a:ext cx="1326429" cy="411480"/>
          </a:xfrm>
          <a:prstGeom prst="rect">
            <a:avLst/>
          </a:prstGeom>
          <a:noFill/>
          <a:ln/>
        </p:spPr>
        <p:txBody>
          <a:bodyPr wrap="square" lIns="0" tIns="0" rIns="0" bIns="0" rtlCol="0" anchor="t"/>
          <a:lstStyle/>
          <a:p>
            <a:pPr indent="0" marL="0">
              <a:buNone/>
            </a:pPr>
            <a:r>
              <a:rPr lang="en-US" sz="2000" b="1" dirty="0">
                <a:solidFill>
                  <a:srgbClr val="19673F"/>
                </a:solidFill>
              </a:rPr>
              <a:t>Execute</a:t>
            </a:r>
            <a:endParaRPr lang="en-US" sz="2000" dirty="0"/>
          </a:p>
        </p:txBody>
      </p:sp>
      <p:sp>
        <p:nvSpPr>
          <p:cNvPr id="19" name="text-40"/>
          <p:cNvSpPr txBox="1"/>
          <p:nvPr/>
        </p:nvSpPr>
        <p:spPr>
          <a:xfrm>
            <a:off x="7691750" y="2788920"/>
            <a:ext cx="1326429" cy="822960"/>
          </a:xfrm>
          <a:prstGeom prst="rect">
            <a:avLst/>
          </a:prstGeom>
          <a:noFill/>
          <a:ln/>
        </p:spPr>
        <p:txBody>
          <a:bodyPr wrap="square" lIns="0" tIns="0" rIns="0" bIns="0" rtlCol="0" anchor="t"/>
          <a:lstStyle/>
          <a:p>
            <a:pPr indent="0" marL="0">
              <a:buNone/>
            </a:pPr>
            <a:r>
              <a:rPr lang="en-US" sz="1500" dirty="0">
                <a:solidFill>
                  <a:srgbClr val="19673F"/>
                </a:solidFill>
              </a:rPr>
              <a:t>isolated runs, one build</a:t>
            </a:r>
            <a:endParaRPr lang="en-US" sz="1500" dirty="0"/>
          </a:p>
        </p:txBody>
      </p:sp>
      <p:sp>
        <p:nvSpPr>
          <p:cNvPr id="20" name="arrow-41"/>
          <p:cNvSpPr/>
          <p:nvPr/>
        </p:nvSpPr>
        <p:spPr>
          <a:xfrm>
            <a:off x="9292499" y="2834640"/>
            <a:ext cx="384048" cy="237744"/>
          </a:xfrm>
          <a:prstGeom prst="rightArrow">
            <a:avLst/>
          </a:prstGeom>
          <a:solidFill>
            <a:srgbClr val="AAB6FF"/>
          </a:solidFill>
          <a:ln/>
        </p:spPr>
      </p:sp>
      <p:sp>
        <p:nvSpPr>
          <p:cNvPr id="21" name="card-42"/>
          <p:cNvSpPr/>
          <p:nvPr/>
        </p:nvSpPr>
        <p:spPr>
          <a:xfrm>
            <a:off x="9767987" y="2148840"/>
            <a:ext cx="1692189" cy="1600200"/>
          </a:xfrm>
          <a:prstGeom prst="roundRect">
            <a:avLst>
              <a:gd name="adj" fmla="val 6857"/>
            </a:avLst>
          </a:prstGeom>
          <a:solidFill>
            <a:srgbClr val="FDF1D3"/>
          </a:solidFill>
          <a:ln/>
        </p:spPr>
      </p:sp>
      <p:sp>
        <p:nvSpPr>
          <p:cNvPr id="22" name="text-43"/>
          <p:cNvSpPr txBox="1"/>
          <p:nvPr/>
        </p:nvSpPr>
        <p:spPr>
          <a:xfrm>
            <a:off x="9950867" y="2331720"/>
            <a:ext cx="1326429" cy="411480"/>
          </a:xfrm>
          <a:prstGeom prst="rect">
            <a:avLst/>
          </a:prstGeom>
          <a:noFill/>
          <a:ln/>
        </p:spPr>
        <p:txBody>
          <a:bodyPr wrap="square" lIns="0" tIns="0" rIns="0" bIns="0" rtlCol="0" anchor="t"/>
          <a:lstStyle/>
          <a:p>
            <a:pPr indent="0" marL="0">
              <a:buNone/>
            </a:pPr>
            <a:r>
              <a:rPr lang="en-US" sz="2000" b="1" dirty="0">
                <a:solidFill>
                  <a:srgbClr val="8A4B0F"/>
                </a:solidFill>
              </a:rPr>
              <a:t>Measure</a:t>
            </a:r>
            <a:endParaRPr lang="en-US" sz="2000" dirty="0"/>
          </a:p>
        </p:txBody>
      </p:sp>
      <p:sp>
        <p:nvSpPr>
          <p:cNvPr id="23" name="text-44"/>
          <p:cNvSpPr txBox="1"/>
          <p:nvPr/>
        </p:nvSpPr>
        <p:spPr>
          <a:xfrm>
            <a:off x="9950867" y="2788920"/>
            <a:ext cx="1326429" cy="822960"/>
          </a:xfrm>
          <a:prstGeom prst="rect">
            <a:avLst/>
          </a:prstGeom>
          <a:noFill/>
          <a:ln/>
        </p:spPr>
        <p:txBody>
          <a:bodyPr wrap="square" lIns="0" tIns="0" rIns="0" bIns="0" rtlCol="0" anchor="t"/>
          <a:lstStyle/>
          <a:p>
            <a:pPr indent="0" marL="0">
              <a:buNone/>
            </a:pPr>
            <a:r>
              <a:rPr lang="en-US" sz="1500" dirty="0">
                <a:solidFill>
                  <a:srgbClr val="8A4B0F"/>
                </a:solidFill>
              </a:rPr>
              <a:t>coverage and suggestions</a:t>
            </a:r>
            <a:endParaRPr lang="en-US" sz="1500" dirty="0"/>
          </a:p>
        </p:txBody>
      </p:sp>
      <p:sp>
        <p:nvSpPr>
          <p:cNvPr id="24" name="card-45"/>
          <p:cNvSpPr/>
          <p:nvPr/>
        </p:nvSpPr>
        <p:spPr>
          <a:xfrm>
            <a:off x="731520" y="4251960"/>
            <a:ext cx="5227168" cy="914400"/>
          </a:xfrm>
          <a:prstGeom prst="roundRect">
            <a:avLst>
              <a:gd name="adj" fmla="val 12000"/>
            </a:avLst>
          </a:prstGeom>
          <a:solidFill>
            <a:srgbClr val="FDFDFF"/>
          </a:solidFill>
          <a:ln w="12700">
            <a:solidFill>
              <a:srgbClr val="E1E4F5"/>
            </a:solidFill>
            <a:prstDash val="solid"/>
          </a:ln>
        </p:spPr>
      </p:sp>
      <p:sp>
        <p:nvSpPr>
          <p:cNvPr id="25" name="text-46"/>
          <p:cNvSpPr txBox="1"/>
          <p:nvPr/>
        </p:nvSpPr>
        <p:spPr>
          <a:xfrm>
            <a:off x="1005840" y="4251960"/>
            <a:ext cx="4678528" cy="914400"/>
          </a:xfrm>
          <a:prstGeom prst="rect">
            <a:avLst/>
          </a:prstGeom>
          <a:noFill/>
          <a:ln/>
        </p:spPr>
        <p:txBody>
          <a:bodyPr wrap="square" lIns="0" tIns="0" rIns="0" bIns="0" rtlCol="0" anchor="ctr"/>
          <a:lstStyle/>
          <a:p>
            <a:pPr indent="0" marL="0">
              <a:buNone/>
            </a:pPr>
            <a:r>
              <a:rPr lang="en-US" sz="1700" b="1" dirty="0">
                <a:solidFill>
                  <a:schemeClr val="tx1"/>
                </a:solidFill>
              </a:rPr>
              <a:t>React UI</a:t>
            </a:r>
            <a:pPr indent="0" marL="0">
              <a:buNone/>
            </a:pPr>
            <a:r>
              <a:rPr lang="en-US" sz="1700" dirty="0">
                <a:solidFill>
                  <a:schemeClr val="tx2"/>
                </a:solidFill>
              </a:rPr>
              <a:t> sends the program to a </a:t>
            </a:r>
            <a:pPr indent="0" marL="0">
              <a:buNone/>
            </a:pPr>
            <a:r>
              <a:rPr lang="en-US" sz="1700" b="1" dirty="0">
                <a:solidFill>
                  <a:schemeClr val="tx1"/>
                </a:solidFill>
              </a:rPr>
              <a:t>FastAPI</a:t>
            </a:r>
            <a:pPr indent="0" marL="0">
              <a:buNone/>
            </a:pPr>
            <a:r>
              <a:rPr lang="en-US" sz="1700" dirty="0">
                <a:solidFill>
                  <a:schemeClr val="tx2"/>
                </a:solidFill>
              </a:rPr>
              <a:t> backend: POST /api/run</a:t>
            </a:r>
            <a:endParaRPr lang="en-US" sz="1700" dirty="0"/>
          </a:p>
        </p:txBody>
      </p:sp>
      <p:sp>
        <p:nvSpPr>
          <p:cNvPr id="26" name="card-47"/>
          <p:cNvSpPr/>
          <p:nvPr/>
        </p:nvSpPr>
        <p:spPr>
          <a:xfrm>
            <a:off x="6233008" y="4251960"/>
            <a:ext cx="5227168" cy="914400"/>
          </a:xfrm>
          <a:prstGeom prst="roundRect">
            <a:avLst>
              <a:gd name="adj" fmla="val 12000"/>
            </a:avLst>
          </a:prstGeom>
          <a:solidFill>
            <a:srgbClr val="FDFDFF"/>
          </a:solidFill>
          <a:ln w="12700">
            <a:solidFill>
              <a:srgbClr val="E1E4F5"/>
            </a:solidFill>
            <a:prstDash val="solid"/>
          </a:ln>
        </p:spPr>
      </p:sp>
      <p:sp>
        <p:nvSpPr>
          <p:cNvPr id="27" name="text-48"/>
          <p:cNvSpPr txBox="1"/>
          <p:nvPr/>
        </p:nvSpPr>
        <p:spPr>
          <a:xfrm>
            <a:off x="6507328" y="4251960"/>
            <a:ext cx="4678528" cy="914400"/>
          </a:xfrm>
          <a:prstGeom prst="rect">
            <a:avLst/>
          </a:prstGeom>
          <a:noFill/>
          <a:ln/>
        </p:spPr>
        <p:txBody>
          <a:bodyPr wrap="square" lIns="0" tIns="0" rIns="0" bIns="0" rtlCol="0" anchor="ctr"/>
          <a:lstStyle/>
          <a:p>
            <a:pPr indent="0" marL="0">
              <a:buNone/>
            </a:pPr>
            <a:r>
              <a:rPr lang="en-US" sz="1700" dirty="0">
                <a:solidFill>
                  <a:schemeClr val="tx2"/>
                </a:solidFill>
              </a:rPr>
              <a:t>Each language plugs in through one </a:t>
            </a:r>
            <a:pPr indent="0" marL="0">
              <a:buNone/>
            </a:pPr>
            <a:r>
              <a:rPr lang="en-US" sz="1700" b="1" dirty="0">
                <a:solidFill>
                  <a:schemeClr val="tx1"/>
                </a:solidFill>
              </a:rPr>
              <a:t>adapter</a:t>
            </a:r>
            <a:pPr indent="0" marL="0">
              <a:buNone/>
            </a:pPr>
            <a:r>
              <a:rPr lang="en-US" sz="1700" dirty="0">
                <a:solidFill>
                  <a:schemeClr val="tx2"/>
                </a:solidFill>
              </a:rPr>
              <a:t>: parse, analyze, execute</a:t>
            </a:r>
            <a:endParaRPr lang="en-US" sz="17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AST ANALYSIS</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From one condition to three tests</a:t>
            </a:r>
            <a:endParaRPr lang="en-US" sz="3400" dirty="0"/>
          </a:p>
        </p:txBody>
      </p:sp>
      <p:sp>
        <p:nvSpPr>
          <p:cNvPr id="5" name="card-49"/>
          <p:cNvSpPr/>
          <p:nvPr/>
        </p:nvSpPr>
        <p:spPr>
          <a:xfrm>
            <a:off x="731520" y="1965960"/>
            <a:ext cx="3154680" cy="2971800"/>
          </a:xfrm>
          <a:prstGeom prst="roundRect">
            <a:avLst>
              <a:gd name="adj" fmla="val 3692"/>
            </a:avLst>
          </a:prstGeom>
          <a:solidFill>
            <a:srgbClr val="FDFDFF"/>
          </a:solidFill>
          <a:ln w="12700">
            <a:solidFill>
              <a:srgbClr val="E1E4F5"/>
            </a:solidFill>
            <a:prstDash val="solid"/>
          </a:ln>
        </p:spPr>
      </p:sp>
      <p:sp>
        <p:nvSpPr>
          <p:cNvPr id="6" name="text-50"/>
          <p:cNvSpPr txBox="1"/>
          <p:nvPr/>
        </p:nvSpPr>
        <p:spPr>
          <a:xfrm>
            <a:off x="1005840" y="2148840"/>
            <a:ext cx="2606040" cy="320040"/>
          </a:xfrm>
          <a:prstGeom prst="rect">
            <a:avLst/>
          </a:prstGeom>
          <a:noFill/>
          <a:ln/>
        </p:spPr>
        <p:txBody>
          <a:bodyPr wrap="square" lIns="0" tIns="0" rIns="0" bIns="0" rtlCol="0" anchor="t"/>
          <a:lstStyle/>
          <a:p>
            <a:pPr indent="0" marL="0">
              <a:buNone/>
            </a:pPr>
            <a:r>
              <a:rPr lang="en-US" sz="1300" b="1" spc="100" kern="0" dirty="0">
                <a:solidFill>
                  <a:srgbClr val="6B7190"/>
                </a:solidFill>
              </a:rPr>
              <a:t>SOURCE</a:t>
            </a:r>
            <a:endParaRPr lang="en-US" sz="1300" dirty="0"/>
          </a:p>
        </p:txBody>
      </p:sp>
      <p:sp>
        <p:nvSpPr>
          <p:cNvPr id="7" name="arrow-51"/>
          <p:cNvSpPr/>
          <p:nvPr/>
        </p:nvSpPr>
        <p:spPr>
          <a:xfrm>
            <a:off x="4010330" y="3337560"/>
            <a:ext cx="384048" cy="237744"/>
          </a:xfrm>
          <a:prstGeom prst="rightArrow">
            <a:avLst/>
          </a:prstGeom>
          <a:solidFill>
            <a:srgbClr val="AAB6FF"/>
          </a:solidFill>
          <a:ln/>
        </p:spPr>
      </p:sp>
      <p:sp>
        <p:nvSpPr>
          <p:cNvPr id="8" name="card-52"/>
          <p:cNvSpPr/>
          <p:nvPr/>
        </p:nvSpPr>
        <p:spPr>
          <a:xfrm>
            <a:off x="4518508" y="1965960"/>
            <a:ext cx="3154680" cy="2971800"/>
          </a:xfrm>
          <a:prstGeom prst="roundRect">
            <a:avLst>
              <a:gd name="adj" fmla="val 3692"/>
            </a:avLst>
          </a:prstGeom>
          <a:solidFill>
            <a:srgbClr val="FDFDFF"/>
          </a:solidFill>
          <a:ln w="12700">
            <a:solidFill>
              <a:srgbClr val="E1E4F5"/>
            </a:solidFill>
            <a:prstDash val="solid"/>
          </a:ln>
        </p:spPr>
      </p:sp>
      <p:sp>
        <p:nvSpPr>
          <p:cNvPr id="9" name="text-53"/>
          <p:cNvSpPr txBox="1"/>
          <p:nvPr/>
        </p:nvSpPr>
        <p:spPr>
          <a:xfrm>
            <a:off x="4792828" y="2148840"/>
            <a:ext cx="2606040" cy="320040"/>
          </a:xfrm>
          <a:prstGeom prst="rect">
            <a:avLst/>
          </a:prstGeom>
          <a:noFill/>
          <a:ln/>
        </p:spPr>
        <p:txBody>
          <a:bodyPr wrap="square" lIns="0" tIns="0" rIns="0" bIns="0" rtlCol="0" anchor="t"/>
          <a:lstStyle/>
          <a:p>
            <a:pPr indent="0" marL="0">
              <a:buNone/>
            </a:pPr>
            <a:r>
              <a:rPr lang="en-US" sz="1300" b="1" spc="100" kern="0" dirty="0">
                <a:solidFill>
                  <a:srgbClr val="6B7190"/>
                </a:solidFill>
              </a:rPr>
              <a:t>AST NODE</a:t>
            </a:r>
            <a:endParaRPr lang="en-US" sz="1300" dirty="0"/>
          </a:p>
        </p:txBody>
      </p:sp>
      <p:sp>
        <p:nvSpPr>
          <p:cNvPr id="10" name="arrow-54"/>
          <p:cNvSpPr/>
          <p:nvPr/>
        </p:nvSpPr>
        <p:spPr>
          <a:xfrm>
            <a:off x="7797317" y="3337560"/>
            <a:ext cx="384048" cy="237744"/>
          </a:xfrm>
          <a:prstGeom prst="rightArrow">
            <a:avLst/>
          </a:prstGeom>
          <a:solidFill>
            <a:srgbClr val="AAB6FF"/>
          </a:solidFill>
          <a:ln/>
        </p:spPr>
      </p:sp>
      <p:sp>
        <p:nvSpPr>
          <p:cNvPr id="11" name="card-55"/>
          <p:cNvSpPr/>
          <p:nvPr/>
        </p:nvSpPr>
        <p:spPr>
          <a:xfrm>
            <a:off x="8305495" y="1965960"/>
            <a:ext cx="3154680" cy="2971800"/>
          </a:xfrm>
          <a:prstGeom prst="roundRect">
            <a:avLst>
              <a:gd name="adj" fmla="val 3692"/>
            </a:avLst>
          </a:prstGeom>
          <a:solidFill>
            <a:srgbClr val="FDFDFF"/>
          </a:solidFill>
          <a:ln w="12700">
            <a:solidFill>
              <a:srgbClr val="E1E4F5"/>
            </a:solidFill>
            <a:prstDash val="solid"/>
          </a:ln>
        </p:spPr>
      </p:sp>
      <p:sp>
        <p:nvSpPr>
          <p:cNvPr id="12" name="text-56"/>
          <p:cNvSpPr txBox="1"/>
          <p:nvPr/>
        </p:nvSpPr>
        <p:spPr>
          <a:xfrm>
            <a:off x="8579815" y="2148840"/>
            <a:ext cx="2606040" cy="320040"/>
          </a:xfrm>
          <a:prstGeom prst="rect">
            <a:avLst/>
          </a:prstGeom>
          <a:noFill/>
          <a:ln/>
        </p:spPr>
        <p:txBody>
          <a:bodyPr wrap="square" lIns="0" tIns="0" rIns="0" bIns="0" rtlCol="0" anchor="t"/>
          <a:lstStyle/>
          <a:p>
            <a:pPr indent="0" marL="0">
              <a:buNone/>
            </a:pPr>
            <a:r>
              <a:rPr lang="en-US" sz="1300" b="1" spc="100" kern="0" dirty="0">
                <a:solidFill>
                  <a:srgbClr val="6B7190"/>
                </a:solidFill>
              </a:rPr>
              <a:t>TESTS RUN</a:t>
            </a:r>
            <a:endParaRPr lang="en-US" sz="1300" dirty="0"/>
          </a:p>
        </p:txBody>
      </p:sp>
      <p:sp>
        <p:nvSpPr>
          <p:cNvPr id="13" name="text-57"/>
          <p:cNvSpPr txBox="1"/>
          <p:nvPr/>
        </p:nvSpPr>
        <p:spPr>
          <a:xfrm>
            <a:off x="1005840" y="2606040"/>
            <a:ext cx="2606040" cy="2103120"/>
          </a:xfrm>
          <a:prstGeom prst="rect">
            <a:avLst/>
          </a:prstGeom>
          <a:noFill/>
          <a:ln/>
        </p:spPr>
        <p:txBody>
          <a:bodyPr wrap="square" lIns="0" tIns="0" rIns="0" bIns="0" rtlCol="0" anchor="t"/>
          <a:lstStyle/>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age = int(input())</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if age &gt;= 18:</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    print("Adult")</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else:</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    print("Minor")</a:t>
            </a:r>
            <a:endParaRPr lang="en-US" sz="1500" dirty="0"/>
          </a:p>
        </p:txBody>
      </p:sp>
      <p:sp>
        <p:nvSpPr>
          <p:cNvPr id="14" name="text-58"/>
          <p:cNvSpPr txBox="1"/>
          <p:nvPr/>
        </p:nvSpPr>
        <p:spPr>
          <a:xfrm>
            <a:off x="4792828" y="2606040"/>
            <a:ext cx="2606040" cy="1691640"/>
          </a:xfrm>
          <a:prstGeom prst="rect">
            <a:avLst/>
          </a:prstGeom>
          <a:noFill/>
          <a:ln/>
        </p:spPr>
        <p:txBody>
          <a:bodyPr wrap="square" lIns="0" tIns="0" rIns="0" bIns="0" rtlCol="0" anchor="t"/>
          <a:lstStyle/>
          <a:p>
            <a:pPr indent="0" marL="0">
              <a:lnSpc>
                <a:spcPct val="110000"/>
              </a:lnSpc>
              <a:buNone/>
            </a:pPr>
            <a:r>
              <a:rPr lang="en-US" sz="1400" dirty="0">
                <a:solidFill>
                  <a:srgbClr val="3B3F9E"/>
                </a:solidFill>
                <a:latin typeface="Courier New" pitchFamily="34" charset="0"/>
                <a:ea typeface="Courier New" pitchFamily="34" charset="-122"/>
                <a:cs typeface="Courier New" pitchFamily="34" charset="-120"/>
              </a:rPr>
              <a:t>If(</a:t>
            </a:r>
            <a:endParaRPr lang="en-US" sz="1400" dirty="0"/>
          </a:p>
          <a:p>
            <a:pPr indent="0" marL="0">
              <a:lnSpc>
                <a:spcPct val="110000"/>
              </a:lnSpc>
              <a:buNone/>
            </a:pPr>
            <a:r>
              <a:rPr lang="en-US" sz="1400" dirty="0">
                <a:solidFill>
                  <a:srgbClr val="3B3F9E"/>
                </a:solidFill>
                <a:latin typeface="Courier New" pitchFamily="34" charset="0"/>
                <a:ea typeface="Courier New" pitchFamily="34" charset="-122"/>
                <a:cs typeface="Courier New" pitchFamily="34" charset="-120"/>
              </a:rPr>
              <a:t>  test=Compare(</a:t>
            </a:r>
            <a:endParaRPr lang="en-US" sz="1400" dirty="0"/>
          </a:p>
          <a:p>
            <a:pPr indent="0" marL="0">
              <a:lnSpc>
                <a:spcPct val="110000"/>
              </a:lnSpc>
              <a:buNone/>
            </a:pPr>
            <a:r>
              <a:rPr lang="en-US" sz="1400" dirty="0">
                <a:solidFill>
                  <a:srgbClr val="3B3F9E"/>
                </a:solidFill>
                <a:latin typeface="Courier New" pitchFamily="34" charset="0"/>
                <a:ea typeface="Courier New" pitchFamily="34" charset="-122"/>
                <a:cs typeface="Courier New" pitchFamily="34" charset="-120"/>
              </a:rPr>
              <a:t>    Name('age'),</a:t>
            </a:r>
            <a:endParaRPr lang="en-US" sz="1400" dirty="0"/>
          </a:p>
          <a:p>
            <a:pPr indent="0" marL="0">
              <a:lnSpc>
                <a:spcPct val="110000"/>
              </a:lnSpc>
              <a:buNone/>
            </a:pPr>
            <a:r>
              <a:rPr lang="en-US" sz="1400" dirty="0">
                <a:solidFill>
                  <a:srgbClr val="3B3F9E"/>
                </a:solidFill>
                <a:latin typeface="Courier New" pitchFamily="34" charset="0"/>
                <a:ea typeface="Courier New" pitchFamily="34" charset="-122"/>
                <a:cs typeface="Courier New" pitchFamily="34" charset="-120"/>
              </a:rPr>
              <a:t>    GtE(),</a:t>
            </a:r>
            <a:endParaRPr lang="en-US" sz="1400" dirty="0"/>
          </a:p>
          <a:p>
            <a:pPr indent="0" marL="0">
              <a:lnSpc>
                <a:spcPct val="110000"/>
              </a:lnSpc>
              <a:buNone/>
            </a:pPr>
            <a:r>
              <a:rPr lang="en-US" sz="1400" dirty="0">
                <a:solidFill>
                  <a:srgbClr val="3B3F9E"/>
                </a:solidFill>
                <a:latin typeface="Courier New" pitchFamily="34" charset="0"/>
                <a:ea typeface="Courier New" pitchFamily="34" charset="-122"/>
                <a:cs typeface="Courier New" pitchFamily="34" charset="-120"/>
              </a:rPr>
              <a:t>    Constant(18)))</a:t>
            </a:r>
            <a:endParaRPr lang="en-US" sz="1400" dirty="0"/>
          </a:p>
        </p:txBody>
      </p:sp>
      <p:sp>
        <p:nvSpPr>
          <p:cNvPr id="15" name="text-59"/>
          <p:cNvSpPr txBox="1"/>
          <p:nvPr/>
        </p:nvSpPr>
        <p:spPr>
          <a:xfrm>
            <a:off x="4792828" y="4343400"/>
            <a:ext cx="2606040" cy="365760"/>
          </a:xfrm>
          <a:prstGeom prst="rect">
            <a:avLst/>
          </a:prstGeom>
          <a:noFill/>
          <a:ln/>
        </p:spPr>
        <p:txBody>
          <a:bodyPr wrap="square" lIns="0" tIns="0" rIns="0" bIns="0" rtlCol="0" anchor="t"/>
          <a:lstStyle/>
          <a:p>
            <a:pPr indent="0" marL="0">
              <a:buNone/>
            </a:pPr>
            <a:r>
              <a:rPr lang="en-US" sz="1600" dirty="0">
                <a:solidFill>
                  <a:schemeClr val="tx2"/>
                </a:solidFill>
              </a:rPr>
              <a:t>Condition: </a:t>
            </a:r>
            <a:pPr indent="0" marL="0">
              <a:buNone/>
            </a:pPr>
            <a:r>
              <a:rPr lang="en-US" sz="1600" b="1" dirty="0">
                <a:solidFill>
                  <a:schemeClr val="tx1"/>
                </a:solidFill>
              </a:rPr>
              <a:t>age &gt;= 18</a:t>
            </a:r>
            <a:endParaRPr lang="en-US" sz="1600" dirty="0"/>
          </a:p>
        </p:txBody>
      </p:sp>
      <p:graphicFrame>
        <p:nvGraphicFramePr>
          <p:cNvPr id="7" name="table-60"/>
          <p:cNvGraphicFramePr>
            <a:graphicFrameLocks noGrp="1"/>
          </p:cNvGraphicFramePr>
          <p:nvPr>
            <p:extLst>
              <p:ext uri="{D42A27DB-BD31-4B8C-83A1-F6EECF244321}">
                <p14:modId xmlns:p14="http://schemas.microsoft.com/office/powerpoint/2010/main" val="1579011935"/>
              </p:ext>
            </p:extLst>
          </p:nvPr>
        </p:nvGraphicFramePr>
        <p:xfrm>
          <a:off x="8579815" y="2606040"/>
          <a:ext cx="2606040" cy="914400"/>
        </p:xfrm>
        <a:graphic>
          <a:graphicData uri="http://schemas.openxmlformats.org/drawingml/2006/table">
            <a:tbl>
              <a:tblPr/>
              <a:tblGrid>
                <a:gridCol w="1097280"/>
                <a:gridCol w="1508760"/>
              </a:tblGrid>
              <a:tr h="36576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age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output</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36576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17</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Minor</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36576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18</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Adult</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36576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19</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Adult</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17" name="pill-61"/>
          <p:cNvSpPr/>
          <p:nvPr/>
        </p:nvSpPr>
        <p:spPr>
          <a:xfrm>
            <a:off x="8579815" y="4343400"/>
            <a:ext cx="2194560" cy="384048"/>
          </a:xfrm>
          <a:prstGeom prst="roundRect">
            <a:avLst>
              <a:gd name="adj" fmla="val 50000"/>
            </a:avLst>
          </a:prstGeom>
          <a:solidFill>
            <a:srgbClr val="DCF7E7"/>
          </a:solidFill>
          <a:ln/>
        </p:spPr>
      </p:sp>
      <p:sp>
        <p:nvSpPr>
          <p:cNvPr id="18" name="text-62"/>
          <p:cNvSpPr txBox="1"/>
          <p:nvPr/>
        </p:nvSpPr>
        <p:spPr>
          <a:xfrm>
            <a:off x="8579815" y="4343400"/>
            <a:ext cx="2194560" cy="384048"/>
          </a:xfrm>
          <a:prstGeom prst="rect">
            <a:avLst/>
          </a:prstGeom>
          <a:noFill/>
          <a:ln/>
        </p:spPr>
        <p:txBody>
          <a:bodyPr wrap="square" lIns="0" tIns="0" rIns="0" bIns="0" rtlCol="0" anchor="ctr"/>
          <a:lstStyle/>
          <a:p>
            <a:pPr algn="ctr" indent="0" marL="0">
              <a:buNone/>
            </a:pPr>
            <a:r>
              <a:rPr lang="en-US" sz="1400" b="1" dirty="0">
                <a:solidFill>
                  <a:srgbClr val="19673F"/>
                </a:solidFill>
              </a:rPr>
              <a:t>Both sides covered</a:t>
            </a:r>
            <a:endParaRPr lang="en-US" sz="1400" dirty="0"/>
          </a:p>
        </p:txBody>
      </p:sp>
      <p:sp>
        <p:nvSpPr>
          <p:cNvPr id="19" name="text-63"/>
          <p:cNvSpPr txBox="1"/>
          <p:nvPr/>
        </p:nvSpPr>
        <p:spPr>
          <a:xfrm>
            <a:off x="731520" y="5257800"/>
            <a:ext cx="10728655" cy="457200"/>
          </a:xfrm>
          <a:prstGeom prst="rect">
            <a:avLst/>
          </a:prstGeom>
          <a:noFill/>
          <a:ln/>
        </p:spPr>
        <p:txBody>
          <a:bodyPr wrap="square" lIns="0" tIns="0" rIns="0" bIns="0" rtlCol="0" anchor="t"/>
          <a:lstStyle/>
          <a:p>
            <a:pPr indent="0" marL="0">
              <a:buNone/>
            </a:pPr>
            <a:r>
              <a:rPr lang="en-US" sz="1700" dirty="0">
                <a:solidFill>
                  <a:schemeClr val="tx2"/>
                </a:solidFill>
              </a:rPr>
              <a:t>Also understood: </a:t>
            </a:r>
            <a:pPr indent="0" marL="0">
              <a:buNone/>
            </a:pPr>
            <a:r>
              <a:rPr lang="en-US" sz="1700" b="1" dirty="0">
                <a:solidFill>
                  <a:schemeClr val="tx1"/>
                </a:solidFill>
              </a:rPr>
              <a:t>and / or / not</a:t>
            </a:r>
            <a:pPr indent="0" marL="0">
              <a:buNone/>
            </a:pPr>
            <a:r>
              <a:rPr lang="en-US" sz="1700" dirty="0">
                <a:solidFill>
                  <a:schemeClr val="tx2"/>
                </a:solidFill>
              </a:rPr>
              <a:t>, reversed </a:t>
            </a:r>
            <a:pPr indent="0" marL="0">
              <a:buNone/>
            </a:pPr>
            <a:r>
              <a:rPr lang="en-US" sz="1700" b="1" dirty="0">
                <a:solidFill>
                  <a:schemeClr val="tx1"/>
                </a:solidFill>
              </a:rPr>
              <a:t>10 &lt;= x</a:t>
            </a:r>
            <a:pPr indent="0" marL="0">
              <a:buNone/>
            </a:pPr>
            <a:r>
              <a:rPr lang="en-US" sz="1700" dirty="0">
                <a:solidFill>
                  <a:schemeClr val="tx2"/>
                </a:solidFill>
              </a:rPr>
              <a:t>, literals </a:t>
            </a:r>
            <a:pPr indent="0" marL="0">
              <a:buNone/>
            </a:pPr>
            <a:r>
              <a:rPr lang="en-US" sz="1700" b="1" dirty="0">
                <a:solidFill>
                  <a:schemeClr val="tx1"/>
                </a:solidFill>
              </a:rPr>
              <a:t>-5, 0x1F, 5L</a:t>
            </a:r>
            <a:pPr indent="0" marL="0">
              <a:buNone/>
            </a:pPr>
            <a:r>
              <a:rPr lang="en-US" sz="1700" dirty="0">
                <a:solidFill>
                  <a:schemeClr val="tx2"/>
                </a:solidFill>
              </a:rPr>
              <a:t>, and </a:t>
            </a:r>
            <a:pPr indent="0" marL="0">
              <a:buNone/>
            </a:pPr>
            <a:r>
              <a:rPr lang="en-US" sz="1700" b="1" dirty="0">
                <a:solidFill>
                  <a:schemeClr val="tx1"/>
                </a:solidFill>
              </a:rPr>
              <a:t>switch / match</a:t>
            </a:r>
            <a:pPr indent="0" marL="0">
              <a:buNone/>
            </a:pPr>
            <a:r>
              <a:rPr lang="en-US" sz="1700" dirty="0">
                <a:solidFill>
                  <a:schemeClr val="tx2"/>
                </a:solidFill>
              </a:rPr>
              <a:t> cases.</a:t>
            </a:r>
            <a:endParaRPr lang="en-US" sz="17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DELIVERING INPUTS</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Each test answers the reads on its own path</a:t>
            </a:r>
            <a:endParaRPr lang="en-US" sz="3400" dirty="0"/>
          </a:p>
        </p:txBody>
      </p:sp>
      <p:sp>
        <p:nvSpPr>
          <p:cNvPr id="5" name="card-64"/>
          <p:cNvSpPr/>
          <p:nvPr/>
        </p:nvSpPr>
        <p:spPr>
          <a:xfrm>
            <a:off x="731520" y="1920240"/>
            <a:ext cx="5227168" cy="2468880"/>
          </a:xfrm>
          <a:prstGeom prst="roundRect">
            <a:avLst>
              <a:gd name="adj" fmla="val 4444"/>
            </a:avLst>
          </a:prstGeom>
          <a:solidFill>
            <a:srgbClr val="FDFDFF"/>
          </a:solidFill>
          <a:ln w="12700">
            <a:solidFill>
              <a:srgbClr val="E1E4F5"/>
            </a:solidFill>
            <a:prstDash val="solid"/>
          </a:ln>
        </p:spPr>
      </p:sp>
      <p:sp>
        <p:nvSpPr>
          <p:cNvPr id="6" name="text-65"/>
          <p:cNvSpPr txBox="1"/>
          <p:nvPr/>
        </p:nvSpPr>
        <p:spPr>
          <a:xfrm>
            <a:off x="1005840" y="2103120"/>
            <a:ext cx="4678528" cy="320040"/>
          </a:xfrm>
          <a:prstGeom prst="rect">
            <a:avLst/>
          </a:prstGeom>
          <a:noFill/>
          <a:ln/>
        </p:spPr>
        <p:txBody>
          <a:bodyPr wrap="square" lIns="0" tIns="0" rIns="0" bIns="0" rtlCol="0" anchor="t"/>
          <a:lstStyle/>
          <a:p>
            <a:pPr indent="0" marL="0">
              <a:buNone/>
            </a:pPr>
            <a:r>
              <a:rPr lang="en-US" sz="1300" b="1" spc="100" kern="0" dirty="0">
                <a:solidFill>
                  <a:srgbClr val="6B7190"/>
                </a:solidFill>
              </a:rPr>
              <a:t>A MENU PROGRAM IN C</a:t>
            </a:r>
            <a:endParaRPr lang="en-US" sz="1300" dirty="0"/>
          </a:p>
        </p:txBody>
      </p:sp>
      <p:sp>
        <p:nvSpPr>
          <p:cNvPr id="7" name="text-66"/>
          <p:cNvSpPr txBox="1"/>
          <p:nvPr/>
        </p:nvSpPr>
        <p:spPr>
          <a:xfrm>
            <a:off x="1005840" y="2560320"/>
            <a:ext cx="4678528" cy="1691640"/>
          </a:xfrm>
          <a:prstGeom prst="rect">
            <a:avLst/>
          </a:prstGeom>
          <a:noFill/>
          <a:ln/>
        </p:spPr>
        <p:txBody>
          <a:bodyPr wrap="square" lIns="0" tIns="0" rIns="0" bIns="0" rtlCol="0" anchor="t"/>
          <a:lstStyle/>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scanf("%d", &amp;choice);</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switch (choice) {</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case 1: scanf no, name, amount</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case 2: scanf no, amount</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a:t>
            </a:r>
            <a:endParaRPr lang="en-US" sz="1500" dirty="0"/>
          </a:p>
        </p:txBody>
      </p:sp>
      <p:sp>
        <p:nvSpPr>
          <p:cNvPr id="8" name="card-67"/>
          <p:cNvSpPr/>
          <p:nvPr/>
        </p:nvSpPr>
        <p:spPr>
          <a:xfrm>
            <a:off x="6233008" y="1920240"/>
            <a:ext cx="5227168" cy="2468880"/>
          </a:xfrm>
          <a:prstGeom prst="roundRect">
            <a:avLst>
              <a:gd name="adj" fmla="val 4444"/>
            </a:avLst>
          </a:prstGeom>
          <a:solidFill>
            <a:srgbClr val="FDFDFF"/>
          </a:solidFill>
          <a:ln w="12700">
            <a:solidFill>
              <a:srgbClr val="E1E4F5"/>
            </a:solidFill>
            <a:prstDash val="solid"/>
          </a:ln>
        </p:spPr>
      </p:sp>
      <p:sp>
        <p:nvSpPr>
          <p:cNvPr id="9" name="text-68"/>
          <p:cNvSpPr txBox="1"/>
          <p:nvPr/>
        </p:nvSpPr>
        <p:spPr>
          <a:xfrm>
            <a:off x="6507328" y="2103120"/>
            <a:ext cx="4678528" cy="320040"/>
          </a:xfrm>
          <a:prstGeom prst="rect">
            <a:avLst/>
          </a:prstGeom>
          <a:noFill/>
          <a:ln/>
        </p:spPr>
        <p:txBody>
          <a:bodyPr wrap="square" lIns="0" tIns="0" rIns="0" bIns="0" rtlCol="0" anchor="t"/>
          <a:lstStyle/>
          <a:p>
            <a:pPr indent="0" marL="0">
              <a:buNone/>
            </a:pPr>
            <a:r>
              <a:rPr lang="en-US" sz="1300" b="1" spc="100" kern="0" dirty="0">
                <a:solidFill>
                  <a:srgbClr val="6B7190"/>
                </a:solidFill>
              </a:rPr>
              <a:t>WHAT EACH TEST RECEIVES</a:t>
            </a:r>
            <a:endParaRPr lang="en-US" sz="1300" dirty="0"/>
          </a:p>
        </p:txBody>
      </p:sp>
      <p:graphicFrame>
        <p:nvGraphicFramePr>
          <p:cNvPr id="8" name="table-69"/>
          <p:cNvGraphicFramePr>
            <a:graphicFrameLocks noGrp="1"/>
          </p:cNvGraphicFramePr>
          <p:nvPr>
            <p:extLst>
              <p:ext uri="{D42A27DB-BD31-4B8C-83A1-F6EECF244321}">
                <p14:modId xmlns:p14="http://schemas.microsoft.com/office/powerpoint/2010/main" val="1579011935"/>
              </p:ext>
            </p:extLst>
          </p:nvPr>
        </p:nvGraphicFramePr>
        <p:xfrm>
          <a:off x="6507328" y="2560320"/>
          <a:ext cx="4678528" cy="914400"/>
        </p:xfrm>
        <a:graphic>
          <a:graphicData uri="http://schemas.openxmlformats.org/drawingml/2006/table">
            <a:tbl>
              <a:tblPr/>
              <a:tblGrid>
                <a:gridCol w="1463040"/>
                <a:gridCol w="3215488"/>
              </a:tblGrid>
              <a:tr h="384048">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test</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stdin, in order</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38404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choice 1</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1 · 1 · test · -1</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38404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choice 2</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2 · 1 · 1</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11" name="text-70"/>
          <p:cNvSpPr txBox="1"/>
          <p:nvPr/>
        </p:nvSpPr>
        <p:spPr>
          <a:xfrm>
            <a:off x="6507328" y="3794760"/>
            <a:ext cx="4678528" cy="457200"/>
          </a:xfrm>
          <a:prstGeom prst="rect">
            <a:avLst/>
          </a:prstGeom>
          <a:noFill/>
          <a:ln/>
        </p:spPr>
        <p:txBody>
          <a:bodyPr wrap="square" lIns="0" tIns="0" rIns="0" bIns="0" rtlCol="0" anchor="t"/>
          <a:lstStyle/>
          <a:p>
            <a:pPr indent="0" marL="0">
              <a:buNone/>
            </a:pPr>
            <a:r>
              <a:rPr lang="en-US" sz="1500" dirty="0">
                <a:solidFill>
                  <a:schemeClr val="tx2"/>
                </a:solidFill>
              </a:rPr>
              <a:t>Values no condition needs get a typed placeholder: 1, 1.0 or test.</a:t>
            </a:r>
            <a:endParaRPr lang="en-US" sz="1500" dirty="0"/>
          </a:p>
        </p:txBody>
      </p:sp>
      <p:sp>
        <p:nvSpPr>
          <p:cNvPr id="12" name="card-71"/>
          <p:cNvSpPr/>
          <p:nvPr/>
        </p:nvSpPr>
        <p:spPr>
          <a:xfrm>
            <a:off x="731520" y="4709160"/>
            <a:ext cx="3393338" cy="914400"/>
          </a:xfrm>
          <a:prstGeom prst="roundRect">
            <a:avLst>
              <a:gd name="adj" fmla="val 12000"/>
            </a:avLst>
          </a:prstGeom>
          <a:solidFill>
            <a:srgbClr val="E6EBFF"/>
          </a:solidFill>
          <a:ln/>
        </p:spPr>
      </p:sp>
      <p:sp>
        <p:nvSpPr>
          <p:cNvPr id="13" name="text-72"/>
          <p:cNvSpPr txBox="1"/>
          <p:nvPr/>
        </p:nvSpPr>
        <p:spPr>
          <a:xfrm>
            <a:off x="960120" y="4709160"/>
            <a:ext cx="2936138" cy="914400"/>
          </a:xfrm>
          <a:prstGeom prst="rect">
            <a:avLst/>
          </a:prstGeom>
          <a:noFill/>
          <a:ln/>
        </p:spPr>
        <p:txBody>
          <a:bodyPr wrap="square" lIns="0" tIns="0" rIns="0" bIns="0" rtlCol="0" anchor="ctr"/>
          <a:lstStyle/>
          <a:p>
            <a:pPr indent="0" marL="0">
              <a:buNone/>
            </a:pPr>
            <a:r>
              <a:rPr lang="en-US" sz="1500" dirty="0">
                <a:solidFill>
                  <a:srgbClr val="3B3F9E"/>
                </a:solidFill>
              </a:rPr>
              <a:t>Follows switch, match and if branches, with C/Java fall-through</a:t>
            </a:r>
            <a:endParaRPr lang="en-US" sz="1500" dirty="0"/>
          </a:p>
        </p:txBody>
      </p:sp>
      <p:sp>
        <p:nvSpPr>
          <p:cNvPr id="14" name="card-73"/>
          <p:cNvSpPr/>
          <p:nvPr/>
        </p:nvSpPr>
        <p:spPr>
          <a:xfrm>
            <a:off x="4399178" y="4709160"/>
            <a:ext cx="3393338" cy="914400"/>
          </a:xfrm>
          <a:prstGeom prst="roundRect">
            <a:avLst>
              <a:gd name="adj" fmla="val 12000"/>
            </a:avLst>
          </a:prstGeom>
          <a:solidFill>
            <a:srgbClr val="EFE9FF"/>
          </a:solidFill>
          <a:ln/>
        </p:spPr>
      </p:sp>
      <p:sp>
        <p:nvSpPr>
          <p:cNvPr id="15" name="text-74"/>
          <p:cNvSpPr txBox="1"/>
          <p:nvPr/>
        </p:nvSpPr>
        <p:spPr>
          <a:xfrm>
            <a:off x="4627778" y="4709160"/>
            <a:ext cx="2936138" cy="914400"/>
          </a:xfrm>
          <a:prstGeom prst="rect">
            <a:avLst/>
          </a:prstGeom>
          <a:noFill/>
          <a:ln/>
        </p:spPr>
        <p:txBody>
          <a:bodyPr wrap="square" lIns="0" tIns="0" rIns="0" bIns="0" rtlCol="0" anchor="ctr"/>
          <a:lstStyle/>
          <a:p>
            <a:pPr indent="0" marL="0">
              <a:buNone/>
            </a:pPr>
            <a:r>
              <a:rPr lang="en-US" sz="1500" dirty="0">
                <a:solidFill>
                  <a:srgbClr val="5B2FAE"/>
                </a:solidFill>
              </a:rPr>
              <a:t>Includes reads inside helper functions the program calls</a:t>
            </a:r>
            <a:endParaRPr lang="en-US" sz="1500" dirty="0"/>
          </a:p>
        </p:txBody>
      </p:sp>
      <p:sp>
        <p:nvSpPr>
          <p:cNvPr id="16" name="card-75"/>
          <p:cNvSpPr/>
          <p:nvPr/>
        </p:nvSpPr>
        <p:spPr>
          <a:xfrm>
            <a:off x="8066837" y="4709160"/>
            <a:ext cx="3393338" cy="914400"/>
          </a:xfrm>
          <a:prstGeom prst="roundRect">
            <a:avLst>
              <a:gd name="adj" fmla="val 12000"/>
            </a:avLst>
          </a:prstGeom>
          <a:solidFill>
            <a:srgbClr val="DCF7E7"/>
          </a:solidFill>
          <a:ln/>
        </p:spPr>
      </p:sp>
      <p:sp>
        <p:nvSpPr>
          <p:cNvPr id="17" name="text-76"/>
          <p:cNvSpPr txBox="1"/>
          <p:nvPr/>
        </p:nvSpPr>
        <p:spPr>
          <a:xfrm>
            <a:off x="8295437" y="4709160"/>
            <a:ext cx="2936138" cy="914400"/>
          </a:xfrm>
          <a:prstGeom prst="rect">
            <a:avLst/>
          </a:prstGeom>
          <a:noFill/>
          <a:ln/>
        </p:spPr>
        <p:txBody>
          <a:bodyPr wrap="square" lIns="0" tIns="0" rIns="0" bIns="0" rtlCol="0" anchor="ctr"/>
          <a:lstStyle/>
          <a:p>
            <a:pPr indent="0" marL="0">
              <a:buNone/>
            </a:pPr>
            <a:r>
              <a:rPr lang="en-US" sz="1500" dirty="0">
                <a:solidFill>
                  <a:srgbClr val="19673F"/>
                </a:solidFill>
              </a:rPr>
              <a:t>Handles Java’s nextLine() after nextInt()</a:t>
            </a:r>
            <a:endParaRPr lang="en-US" sz="15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EXECUTION</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Every test runs on its own, with a time limit</a:t>
            </a:r>
            <a:endParaRPr lang="en-US" sz="3400" dirty="0"/>
          </a:p>
        </p:txBody>
      </p:sp>
      <p:sp>
        <p:nvSpPr>
          <p:cNvPr id="5" name="card-77"/>
          <p:cNvSpPr/>
          <p:nvPr/>
        </p:nvSpPr>
        <p:spPr>
          <a:xfrm>
            <a:off x="731520" y="1920240"/>
            <a:ext cx="5227168" cy="3017520"/>
          </a:xfrm>
          <a:prstGeom prst="roundRect">
            <a:avLst>
              <a:gd name="adj" fmla="val 3636"/>
            </a:avLst>
          </a:prstGeom>
          <a:solidFill>
            <a:srgbClr val="FDFDFF"/>
          </a:solidFill>
          <a:ln w="12700">
            <a:solidFill>
              <a:srgbClr val="E1E4F5"/>
            </a:solidFill>
            <a:prstDash val="solid"/>
          </a:ln>
        </p:spPr>
      </p:sp>
      <p:sp>
        <p:nvSpPr>
          <p:cNvPr id="6" name="pill-78"/>
          <p:cNvSpPr/>
          <p:nvPr/>
        </p:nvSpPr>
        <p:spPr>
          <a:xfrm>
            <a:off x="1051560" y="2148840"/>
            <a:ext cx="1188720" cy="384048"/>
          </a:xfrm>
          <a:prstGeom prst="roundRect">
            <a:avLst>
              <a:gd name="adj" fmla="val 50000"/>
            </a:avLst>
          </a:prstGeom>
          <a:solidFill>
            <a:srgbClr val="E6EBFF"/>
          </a:solidFill>
          <a:ln/>
        </p:spPr>
      </p:sp>
      <p:sp>
        <p:nvSpPr>
          <p:cNvPr id="7" name="text-79"/>
          <p:cNvSpPr txBox="1"/>
          <p:nvPr/>
        </p:nvSpPr>
        <p:spPr>
          <a:xfrm>
            <a:off x="1051560" y="2148840"/>
            <a:ext cx="1188720" cy="384048"/>
          </a:xfrm>
          <a:prstGeom prst="rect">
            <a:avLst/>
          </a:prstGeom>
          <a:noFill/>
          <a:ln/>
        </p:spPr>
        <p:txBody>
          <a:bodyPr wrap="square" lIns="0" tIns="0" rIns="0" bIns="0" rtlCol="0" anchor="ctr"/>
          <a:lstStyle/>
          <a:p>
            <a:pPr algn="ctr" indent="0" marL="0">
              <a:buNone/>
            </a:pPr>
            <a:r>
              <a:rPr lang="en-US" sz="1400" b="1" dirty="0">
                <a:solidFill>
                  <a:srgbClr val="3B3F9E"/>
                </a:solidFill>
              </a:rPr>
              <a:t>Python</a:t>
            </a:r>
            <a:endParaRPr lang="en-US" sz="1400" dirty="0"/>
          </a:p>
        </p:txBody>
      </p:sp>
      <p:sp>
        <p:nvSpPr>
          <p:cNvPr id="8" name="text-80"/>
          <p:cNvSpPr txBox="1"/>
          <p:nvPr/>
        </p:nvSpPr>
        <p:spPr>
          <a:xfrm>
            <a:off x="1051560" y="2743200"/>
            <a:ext cx="4587088" cy="201168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2"/>
                </a:solidFill>
              </a:rPr>
              <a:t>A fresh Python process per test</a:t>
            </a:r>
            <a:endParaRPr lang="en-US" sz="1800" dirty="0"/>
          </a:p>
          <a:p>
            <a:pPr marL="342900" indent="-342900">
              <a:spcAft>
                <a:spcPts val="600"/>
              </a:spcAft>
              <a:buSzPct val="100000"/>
              <a:buChar char="•"/>
            </a:pPr>
            <a:r>
              <a:rPr lang="en-US" sz="1800" dirty="0">
                <a:solidFill>
                  <a:schemeClr val="tx2"/>
                </a:solidFill>
              </a:rPr>
              <a:t>Answers input() calls in order</a:t>
            </a:r>
            <a:endParaRPr lang="en-US" sz="1800" dirty="0"/>
          </a:p>
          <a:p>
            <a:pPr marL="342900" indent="-342900">
              <a:spcAft>
                <a:spcPts val="600"/>
              </a:spcAft>
              <a:buSzPct val="100000"/>
              <a:buChar char="•"/>
            </a:pPr>
            <a:r>
              <a:rPr lang="en-US" sz="1800" dirty="0">
                <a:solidFill>
                  <a:schemeClr val="tx2"/>
                </a:solidFill>
              </a:rPr>
              <a:t>Killed after 3 seconds if it hangs</a:t>
            </a:r>
            <a:endParaRPr lang="en-US" sz="1800" dirty="0"/>
          </a:p>
          <a:p>
            <a:pPr marL="342900" indent="-342900">
              <a:spcAft>
                <a:spcPts val="600"/>
              </a:spcAft>
              <a:buSzPct val="100000"/>
              <a:buChar char="•"/>
            </a:pPr>
            <a:r>
              <a:rPr lang="en-US" sz="1800" dirty="0">
                <a:solidFill>
                  <a:schemeClr val="tx2"/>
                </a:solidFill>
              </a:rPr>
              <a:t>Output capped at 100,000 characters</a:t>
            </a:r>
            <a:endParaRPr lang="en-US" sz="1800" dirty="0"/>
          </a:p>
        </p:txBody>
      </p:sp>
      <p:sp>
        <p:nvSpPr>
          <p:cNvPr id="9" name="card-81"/>
          <p:cNvSpPr/>
          <p:nvPr/>
        </p:nvSpPr>
        <p:spPr>
          <a:xfrm>
            <a:off x="6233008" y="1920240"/>
            <a:ext cx="5227168" cy="3017520"/>
          </a:xfrm>
          <a:prstGeom prst="roundRect">
            <a:avLst>
              <a:gd name="adj" fmla="val 3636"/>
            </a:avLst>
          </a:prstGeom>
          <a:solidFill>
            <a:srgbClr val="FDFDFF"/>
          </a:solidFill>
          <a:ln w="12700">
            <a:solidFill>
              <a:srgbClr val="E1E4F5"/>
            </a:solidFill>
            <a:prstDash val="solid"/>
          </a:ln>
        </p:spPr>
      </p:sp>
      <p:sp>
        <p:nvSpPr>
          <p:cNvPr id="10" name="pill-82"/>
          <p:cNvSpPr/>
          <p:nvPr/>
        </p:nvSpPr>
        <p:spPr>
          <a:xfrm>
            <a:off x="6553048" y="2148840"/>
            <a:ext cx="1005840" cy="384048"/>
          </a:xfrm>
          <a:prstGeom prst="roundRect">
            <a:avLst>
              <a:gd name="adj" fmla="val 50000"/>
            </a:avLst>
          </a:prstGeom>
          <a:solidFill>
            <a:srgbClr val="EFE9FF"/>
          </a:solidFill>
          <a:ln/>
        </p:spPr>
      </p:sp>
      <p:sp>
        <p:nvSpPr>
          <p:cNvPr id="11" name="text-83"/>
          <p:cNvSpPr txBox="1"/>
          <p:nvPr/>
        </p:nvSpPr>
        <p:spPr>
          <a:xfrm>
            <a:off x="6553048" y="2148840"/>
            <a:ext cx="1005840" cy="384048"/>
          </a:xfrm>
          <a:prstGeom prst="rect">
            <a:avLst/>
          </a:prstGeom>
          <a:noFill/>
          <a:ln/>
        </p:spPr>
        <p:txBody>
          <a:bodyPr wrap="square" lIns="0" tIns="0" rIns="0" bIns="0" rtlCol="0" anchor="ctr"/>
          <a:lstStyle/>
          <a:p>
            <a:pPr algn="ctr" indent="0" marL="0">
              <a:buNone/>
            </a:pPr>
            <a:r>
              <a:rPr lang="en-US" sz="1400" b="1" dirty="0">
                <a:solidFill>
                  <a:srgbClr val="5B2FAE"/>
                </a:solidFill>
              </a:rPr>
              <a:t>Java</a:t>
            </a:r>
            <a:endParaRPr lang="en-US" sz="1400" dirty="0"/>
          </a:p>
        </p:txBody>
      </p:sp>
      <p:sp>
        <p:nvSpPr>
          <p:cNvPr id="12" name="pill-84"/>
          <p:cNvSpPr/>
          <p:nvPr/>
        </p:nvSpPr>
        <p:spPr>
          <a:xfrm>
            <a:off x="7696048" y="2148840"/>
            <a:ext cx="731520" cy="384048"/>
          </a:xfrm>
          <a:prstGeom prst="roundRect">
            <a:avLst>
              <a:gd name="adj" fmla="val 50000"/>
            </a:avLst>
          </a:prstGeom>
          <a:solidFill>
            <a:srgbClr val="DCF7E7"/>
          </a:solidFill>
          <a:ln/>
        </p:spPr>
      </p:sp>
      <p:sp>
        <p:nvSpPr>
          <p:cNvPr id="13" name="text-85"/>
          <p:cNvSpPr txBox="1"/>
          <p:nvPr/>
        </p:nvSpPr>
        <p:spPr>
          <a:xfrm>
            <a:off x="7696048" y="2148840"/>
            <a:ext cx="731520" cy="384048"/>
          </a:xfrm>
          <a:prstGeom prst="rect">
            <a:avLst/>
          </a:prstGeom>
          <a:noFill/>
          <a:ln/>
        </p:spPr>
        <p:txBody>
          <a:bodyPr wrap="square" lIns="0" tIns="0" rIns="0" bIns="0" rtlCol="0" anchor="ctr"/>
          <a:lstStyle/>
          <a:p>
            <a:pPr algn="ctr" indent="0" marL="0">
              <a:buNone/>
            </a:pPr>
            <a:r>
              <a:rPr lang="en-US" sz="1400" b="1" dirty="0">
                <a:solidFill>
                  <a:srgbClr val="19673F"/>
                </a:solidFill>
              </a:rPr>
              <a:t>C</a:t>
            </a:r>
            <a:endParaRPr lang="en-US" sz="1400" dirty="0"/>
          </a:p>
        </p:txBody>
      </p:sp>
      <p:sp>
        <p:nvSpPr>
          <p:cNvPr id="14" name="text-86"/>
          <p:cNvSpPr txBox="1"/>
          <p:nvPr/>
        </p:nvSpPr>
        <p:spPr>
          <a:xfrm>
            <a:off x="6553048" y="2743200"/>
            <a:ext cx="4587088" cy="201168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2"/>
                </a:solidFill>
              </a:rPr>
              <a:t>Compiled once per run, not once per test</a:t>
            </a:r>
            <a:endParaRPr lang="en-US" sz="1800" dirty="0"/>
          </a:p>
          <a:p>
            <a:pPr marL="342900" indent="-342900">
              <a:spcAft>
                <a:spcPts val="600"/>
              </a:spcAft>
              <a:buSzPct val="100000"/>
              <a:buChar char="•"/>
            </a:pPr>
            <a:r>
              <a:rPr lang="en-US" sz="1800" dirty="0">
                <a:solidFill>
                  <a:schemeClr val="tx2"/>
                </a:solidFill>
              </a:rPr>
              <a:t>Values on stdin, argv / args, or properties</a:t>
            </a:r>
            <a:endParaRPr lang="en-US" sz="1800" dirty="0"/>
          </a:p>
          <a:p>
            <a:pPr marL="342900" indent="-342900">
              <a:spcAft>
                <a:spcPts val="600"/>
              </a:spcAft>
              <a:buSzPct val="100000"/>
              <a:buChar char="•"/>
            </a:pPr>
            <a:r>
              <a:rPr lang="en-US" sz="1800" dirty="0">
                <a:solidFill>
                  <a:schemeClr val="tx2"/>
                </a:solidFill>
              </a:rPr>
              <a:t>10-second limit per test run</a:t>
            </a:r>
            <a:endParaRPr lang="en-US" sz="1800" dirty="0"/>
          </a:p>
          <a:p>
            <a:pPr marL="342900" indent="-342900">
              <a:spcAft>
                <a:spcPts val="600"/>
              </a:spcAft>
              <a:buSzPct val="100000"/>
              <a:buChar char="•"/>
            </a:pPr>
            <a:r>
              <a:rPr lang="en-US" sz="1800" dirty="0">
                <a:solidFill>
                  <a:schemeClr val="tx2"/>
                </a:solidFill>
              </a:rPr>
              <a:t>Compile errors shown on every result</a:t>
            </a:r>
            <a:endParaRPr lang="en-US" sz="1800" dirty="0"/>
          </a:p>
        </p:txBody>
      </p:sp>
      <p:sp>
        <p:nvSpPr>
          <p:cNvPr id="15" name="text-87"/>
          <p:cNvSpPr txBox="1"/>
          <p:nvPr/>
        </p:nvSpPr>
        <p:spPr>
          <a:xfrm>
            <a:off x="731520" y="5303520"/>
            <a:ext cx="10728655" cy="457200"/>
          </a:xfrm>
          <a:prstGeom prst="rect">
            <a:avLst/>
          </a:prstGeom>
          <a:noFill/>
          <a:ln/>
        </p:spPr>
        <p:txBody>
          <a:bodyPr wrap="square" lIns="0" tIns="0" rIns="0" bIns="0" rtlCol="0" anchor="t"/>
          <a:lstStyle/>
          <a:p>
            <a:pPr indent="0" marL="0">
              <a:buNone/>
            </a:pPr>
            <a:r>
              <a:rPr lang="en-US" sz="1700" dirty="0">
                <a:solidFill>
                  <a:schemeClr val="tx2"/>
                </a:solidFill>
              </a:rPr>
              <a:t>Each result records its </a:t>
            </a:r>
            <a:pPr indent="0" marL="0">
              <a:buNone/>
            </a:pPr>
            <a:r>
              <a:rPr lang="en-US" sz="1700" b="1" dirty="0">
                <a:solidFill>
                  <a:schemeClr val="tx1"/>
                </a:solidFill>
              </a:rPr>
              <a:t>output</a:t>
            </a:r>
            <a:pPr indent="0" marL="0">
              <a:buNone/>
            </a:pPr>
            <a:r>
              <a:rPr lang="en-US" sz="1700" dirty="0">
                <a:solidFill>
                  <a:schemeClr val="tx2"/>
                </a:solidFill>
              </a:rPr>
              <a:t>, </a:t>
            </a:r>
            <a:pPr indent="0" marL="0">
              <a:buNone/>
            </a:pPr>
            <a:r>
              <a:rPr lang="en-US" sz="1700" b="1" dirty="0">
                <a:solidFill>
                  <a:schemeClr val="tx1"/>
                </a:solidFill>
              </a:rPr>
              <a:t>error</a:t>
            </a:r>
            <a:pPr indent="0" marL="0">
              <a:buNone/>
            </a:pPr>
            <a:r>
              <a:rPr lang="en-US" sz="1700" dirty="0">
                <a:solidFill>
                  <a:schemeClr val="tx2"/>
                </a:solidFill>
              </a:rPr>
              <a:t>, </a:t>
            </a:r>
            <a:pPr indent="0" marL="0">
              <a:buNone/>
            </a:pPr>
            <a:r>
              <a:rPr lang="en-US" sz="1700" b="1" dirty="0">
                <a:solidFill>
                  <a:schemeClr val="tx1"/>
                </a:solidFill>
              </a:rPr>
              <a:t>exit code</a:t>
            </a:r>
            <a:pPr indent="0" marL="0">
              <a:buNone/>
            </a:pPr>
            <a:r>
              <a:rPr lang="en-US" sz="1700" dirty="0">
                <a:solidFill>
                  <a:schemeClr val="tx2"/>
                </a:solidFill>
              </a:rPr>
              <a:t> or </a:t>
            </a:r>
            <a:pPr indent="0" marL="0">
              <a:buNone/>
            </a:pPr>
            <a:r>
              <a:rPr lang="en-US" sz="1700" b="1" dirty="0">
                <a:solidFill>
                  <a:schemeClr val="tx1"/>
                </a:solidFill>
              </a:rPr>
              <a:t>timeout</a:t>
            </a:r>
            <a:pPr indent="0" marL="0">
              <a:buNone/>
            </a:pPr>
            <a:r>
              <a:rPr lang="en-US" sz="1700" dirty="0">
                <a:solidFill>
                  <a:schemeClr val="tx2"/>
                </a:solidFill>
              </a:rPr>
              <a:t>, so a crash in one test never hides the others.</a:t>
            </a:r>
            <a:endParaRPr lang="en-US" sz="17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COVERAGE</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Every condition has two outcomes. Which ones ran?</a:t>
            </a:r>
            <a:endParaRPr lang="en-US" sz="3400" dirty="0"/>
          </a:p>
        </p:txBody>
      </p:sp>
      <p:sp>
        <p:nvSpPr>
          <p:cNvPr id="5" name="card-88"/>
          <p:cNvSpPr/>
          <p:nvPr/>
        </p:nvSpPr>
        <p:spPr>
          <a:xfrm>
            <a:off x="731520" y="1920240"/>
            <a:ext cx="4206240" cy="2468880"/>
          </a:xfrm>
          <a:prstGeom prst="roundRect">
            <a:avLst>
              <a:gd name="adj" fmla="val 4444"/>
            </a:avLst>
          </a:prstGeom>
          <a:solidFill>
            <a:srgbClr val="FDFDFF"/>
          </a:solidFill>
          <a:ln w="12700">
            <a:solidFill>
              <a:srgbClr val="E1E4F5"/>
            </a:solidFill>
            <a:prstDash val="solid"/>
          </a:ln>
        </p:spPr>
      </p:sp>
      <p:sp>
        <p:nvSpPr>
          <p:cNvPr id="6" name="pill-89"/>
          <p:cNvSpPr/>
          <p:nvPr/>
        </p:nvSpPr>
        <p:spPr>
          <a:xfrm>
            <a:off x="1051560" y="2148840"/>
            <a:ext cx="1188720" cy="384048"/>
          </a:xfrm>
          <a:prstGeom prst="roundRect">
            <a:avLst>
              <a:gd name="adj" fmla="val 50000"/>
            </a:avLst>
          </a:prstGeom>
          <a:solidFill>
            <a:srgbClr val="E6EBFF"/>
          </a:solidFill>
          <a:ln/>
        </p:spPr>
      </p:sp>
      <p:sp>
        <p:nvSpPr>
          <p:cNvPr id="7" name="text-90"/>
          <p:cNvSpPr txBox="1"/>
          <p:nvPr/>
        </p:nvSpPr>
        <p:spPr>
          <a:xfrm>
            <a:off x="1051560" y="2148840"/>
            <a:ext cx="1188720" cy="384048"/>
          </a:xfrm>
          <a:prstGeom prst="rect">
            <a:avLst/>
          </a:prstGeom>
          <a:noFill/>
          <a:ln/>
        </p:spPr>
        <p:txBody>
          <a:bodyPr wrap="square" lIns="0" tIns="0" rIns="0" bIns="0" rtlCol="0" anchor="ctr"/>
          <a:lstStyle/>
          <a:p>
            <a:pPr algn="ctr" indent="0" marL="0">
              <a:buNone/>
            </a:pPr>
            <a:r>
              <a:rPr lang="en-US" sz="1400" b="1" dirty="0">
                <a:solidFill>
                  <a:srgbClr val="3B3F9E"/>
                </a:solidFill>
              </a:rPr>
              <a:t>Python</a:t>
            </a:r>
            <a:endParaRPr lang="en-US" sz="1400" dirty="0"/>
          </a:p>
        </p:txBody>
      </p:sp>
      <p:sp>
        <p:nvSpPr>
          <p:cNvPr id="8" name="text-91"/>
          <p:cNvSpPr txBox="1"/>
          <p:nvPr/>
        </p:nvSpPr>
        <p:spPr>
          <a:xfrm>
            <a:off x="1051560" y="2743200"/>
            <a:ext cx="3566160" cy="1463040"/>
          </a:xfrm>
          <a:prstGeom prst="rect">
            <a:avLst/>
          </a:prstGeom>
          <a:noFill/>
          <a:ln/>
        </p:spPr>
        <p:txBody>
          <a:bodyPr wrap="square" lIns="0" tIns="0" rIns="0" bIns="0" rtlCol="0" anchor="t"/>
          <a:lstStyle/>
          <a:p>
            <a:pPr indent="0" marL="0">
              <a:buNone/>
            </a:pPr>
            <a:r>
              <a:rPr lang="en-US" sz="1800" dirty="0">
                <a:solidFill>
                  <a:schemeClr val="tx2"/>
                </a:solidFill>
              </a:rPr>
              <a:t>A tracer records the value of each if / while condition as the program really runs.</a:t>
            </a:r>
            <a:endParaRPr lang="en-US" sz="1800" dirty="0"/>
          </a:p>
        </p:txBody>
      </p:sp>
      <p:sp>
        <p:nvSpPr>
          <p:cNvPr id="9" name="card-92"/>
          <p:cNvSpPr/>
          <p:nvPr/>
        </p:nvSpPr>
        <p:spPr>
          <a:xfrm>
            <a:off x="5212080" y="1920240"/>
            <a:ext cx="6248095" cy="2468880"/>
          </a:xfrm>
          <a:prstGeom prst="roundRect">
            <a:avLst>
              <a:gd name="adj" fmla="val 4444"/>
            </a:avLst>
          </a:prstGeom>
          <a:solidFill>
            <a:srgbClr val="FDFDFF"/>
          </a:solidFill>
          <a:ln w="12700">
            <a:solidFill>
              <a:srgbClr val="E1E4F5"/>
            </a:solidFill>
            <a:prstDash val="solid"/>
          </a:ln>
        </p:spPr>
      </p:sp>
      <p:sp>
        <p:nvSpPr>
          <p:cNvPr id="10" name="pill-93"/>
          <p:cNvSpPr/>
          <p:nvPr/>
        </p:nvSpPr>
        <p:spPr>
          <a:xfrm>
            <a:off x="5532120" y="2148840"/>
            <a:ext cx="1005840" cy="384048"/>
          </a:xfrm>
          <a:prstGeom prst="roundRect">
            <a:avLst>
              <a:gd name="adj" fmla="val 50000"/>
            </a:avLst>
          </a:prstGeom>
          <a:solidFill>
            <a:srgbClr val="EFE9FF"/>
          </a:solidFill>
          <a:ln/>
        </p:spPr>
      </p:sp>
      <p:sp>
        <p:nvSpPr>
          <p:cNvPr id="11" name="text-94"/>
          <p:cNvSpPr txBox="1"/>
          <p:nvPr/>
        </p:nvSpPr>
        <p:spPr>
          <a:xfrm>
            <a:off x="5532120" y="2148840"/>
            <a:ext cx="1005840" cy="384048"/>
          </a:xfrm>
          <a:prstGeom prst="rect">
            <a:avLst/>
          </a:prstGeom>
          <a:noFill/>
          <a:ln/>
        </p:spPr>
        <p:txBody>
          <a:bodyPr wrap="square" lIns="0" tIns="0" rIns="0" bIns="0" rtlCol="0" anchor="ctr"/>
          <a:lstStyle/>
          <a:p>
            <a:pPr algn="ctr" indent="0" marL="0">
              <a:buNone/>
            </a:pPr>
            <a:r>
              <a:rPr lang="en-US" sz="1400" b="1" dirty="0">
                <a:solidFill>
                  <a:srgbClr val="5B2FAE"/>
                </a:solidFill>
              </a:rPr>
              <a:t>Java</a:t>
            </a:r>
            <a:endParaRPr lang="en-US" sz="1400" dirty="0"/>
          </a:p>
        </p:txBody>
      </p:sp>
      <p:sp>
        <p:nvSpPr>
          <p:cNvPr id="12" name="pill-95"/>
          <p:cNvSpPr/>
          <p:nvPr/>
        </p:nvSpPr>
        <p:spPr>
          <a:xfrm>
            <a:off x="6675120" y="2148840"/>
            <a:ext cx="731520" cy="384048"/>
          </a:xfrm>
          <a:prstGeom prst="roundRect">
            <a:avLst>
              <a:gd name="adj" fmla="val 50000"/>
            </a:avLst>
          </a:prstGeom>
          <a:solidFill>
            <a:srgbClr val="DCF7E7"/>
          </a:solidFill>
          <a:ln/>
        </p:spPr>
      </p:sp>
      <p:sp>
        <p:nvSpPr>
          <p:cNvPr id="13" name="text-96"/>
          <p:cNvSpPr txBox="1"/>
          <p:nvPr/>
        </p:nvSpPr>
        <p:spPr>
          <a:xfrm>
            <a:off x="6675120" y="2148840"/>
            <a:ext cx="731520" cy="384048"/>
          </a:xfrm>
          <a:prstGeom prst="rect">
            <a:avLst/>
          </a:prstGeom>
          <a:noFill/>
          <a:ln/>
        </p:spPr>
        <p:txBody>
          <a:bodyPr wrap="square" lIns="0" tIns="0" rIns="0" bIns="0" rtlCol="0" anchor="ctr"/>
          <a:lstStyle/>
          <a:p>
            <a:pPr algn="ctr" indent="0" marL="0">
              <a:buNone/>
            </a:pPr>
            <a:r>
              <a:rPr lang="en-US" sz="1400" b="1" dirty="0">
                <a:solidFill>
                  <a:srgbClr val="19673F"/>
                </a:solidFill>
              </a:rPr>
              <a:t>C</a:t>
            </a:r>
            <a:endParaRPr lang="en-US" sz="1400" dirty="0"/>
          </a:p>
        </p:txBody>
      </p:sp>
      <p:sp>
        <p:nvSpPr>
          <p:cNvPr id="14" name="text-97"/>
          <p:cNvSpPr txBox="1"/>
          <p:nvPr/>
        </p:nvSpPr>
        <p:spPr>
          <a:xfrm>
            <a:off x="5532120" y="2743200"/>
            <a:ext cx="5608015" cy="685800"/>
          </a:xfrm>
          <a:prstGeom prst="rect">
            <a:avLst/>
          </a:prstGeom>
          <a:noFill/>
          <a:ln/>
        </p:spPr>
        <p:txBody>
          <a:bodyPr wrap="square" lIns="0" tIns="0" rIns="0" bIns="0" rtlCol="0" anchor="t"/>
          <a:lstStyle/>
          <a:p>
            <a:pPr indent="0" marL="0">
              <a:buNone/>
            </a:pPr>
            <a:r>
              <a:rPr lang="en-US" sz="1700" dirty="0">
                <a:solidFill>
                  <a:schemeClr val="tx2"/>
                </a:solidFill>
              </a:rPr>
              <a:t>Each condition is wrapped in a probe that records the outcome and returns the value unchanged:</a:t>
            </a:r>
            <a:endParaRPr lang="en-US" sz="1700" dirty="0"/>
          </a:p>
        </p:txBody>
      </p:sp>
      <p:sp>
        <p:nvSpPr>
          <p:cNvPr id="15" name="card-98"/>
          <p:cNvSpPr/>
          <p:nvPr/>
        </p:nvSpPr>
        <p:spPr>
          <a:xfrm>
            <a:off x="5532120" y="3474720"/>
            <a:ext cx="5608015" cy="731520"/>
          </a:xfrm>
          <a:prstGeom prst="roundRect">
            <a:avLst>
              <a:gd name="adj" fmla="val 15000"/>
            </a:avLst>
          </a:prstGeom>
          <a:solidFill>
            <a:srgbClr val="F2F3FA"/>
          </a:solidFill>
          <a:ln/>
        </p:spPr>
      </p:sp>
      <p:sp>
        <p:nvSpPr>
          <p:cNvPr id="16" name="text-99"/>
          <p:cNvSpPr txBox="1"/>
          <p:nvPr/>
        </p:nvSpPr>
        <p:spPr>
          <a:xfrm>
            <a:off x="5715000" y="3511296"/>
            <a:ext cx="5242255" cy="658368"/>
          </a:xfrm>
          <a:prstGeom prst="rect">
            <a:avLst/>
          </a:prstGeom>
          <a:noFill/>
          <a:ln/>
        </p:spPr>
        <p:txBody>
          <a:bodyPr wrap="square" lIns="0" tIns="0" rIns="0" bIns="0" rtlCol="0" anchor="ctr"/>
          <a:lstStyle/>
          <a:p>
            <a:pPr indent="0" marL="0">
              <a:buNone/>
            </a:pPr>
            <a:r>
              <a:rPr lang="en-US" sz="1500" dirty="0">
                <a:solidFill>
                  <a:schemeClr val="tx1"/>
                </a:solidFill>
                <a:latin typeface="Courier New" pitchFamily="34" charset="0"/>
                <a:ea typeface="Courier New" pitchFamily="34" charset="-122"/>
                <a:cs typeface="Courier New" pitchFamily="34" charset="-120"/>
              </a:rPr>
              <a:t>if (x &gt; 5)</a:t>
            </a:r>
            <a:endParaRPr lang="en-US" sz="1500" dirty="0"/>
          </a:p>
          <a:p>
            <a:pPr indent="0" marL="0">
              <a:buNone/>
            </a:pPr>
            <a:r>
              <a:rPr lang="en-US" sz="1500" dirty="0">
                <a:solidFill>
                  <a:srgbClr val="5B2FAE"/>
                </a:solidFill>
                <a:latin typeface="Courier New" pitchFamily="34" charset="0"/>
                <a:ea typeface="Courier New" pitchFamily="34" charset="-122"/>
                <a:cs typeface="Courier New" pitchFamily="34" charset="-120"/>
              </a:rPr>
              <a:t>if (probe(3, (x &gt; 5)))</a:t>
            </a:r>
            <a:endParaRPr lang="en-US" sz="1500" dirty="0"/>
          </a:p>
        </p:txBody>
      </p:sp>
      <p:sp>
        <p:nvSpPr>
          <p:cNvPr id="17" name="card-100"/>
          <p:cNvSpPr/>
          <p:nvPr/>
        </p:nvSpPr>
        <p:spPr>
          <a:xfrm>
            <a:off x="731520" y="4709160"/>
            <a:ext cx="3393338" cy="914400"/>
          </a:xfrm>
          <a:prstGeom prst="roundRect">
            <a:avLst>
              <a:gd name="adj" fmla="val 12000"/>
            </a:avLst>
          </a:prstGeom>
          <a:solidFill>
            <a:srgbClr val="FDFDFF"/>
          </a:solidFill>
          <a:ln w="12700">
            <a:solidFill>
              <a:srgbClr val="E1E4F5"/>
            </a:solidFill>
            <a:prstDash val="solid"/>
          </a:ln>
        </p:spPr>
      </p:sp>
      <p:sp>
        <p:nvSpPr>
          <p:cNvPr id="18" name="text-101"/>
          <p:cNvSpPr txBox="1"/>
          <p:nvPr/>
        </p:nvSpPr>
        <p:spPr>
          <a:xfrm>
            <a:off x="960120" y="4709160"/>
            <a:ext cx="2936138" cy="914400"/>
          </a:xfrm>
          <a:prstGeom prst="rect">
            <a:avLst/>
          </a:prstGeom>
          <a:noFill/>
          <a:ln/>
        </p:spPr>
        <p:txBody>
          <a:bodyPr wrap="square" lIns="0" tIns="0" rIns="0" bIns="0" rtlCol="0" anchor="ctr"/>
          <a:lstStyle/>
          <a:p>
            <a:pPr indent="0" marL="0">
              <a:buNone/>
            </a:pPr>
            <a:r>
              <a:rPr lang="en-US" sz="1500" dirty="0">
                <a:solidFill>
                  <a:schemeClr val="tx1"/>
                </a:solidFill>
              </a:rPr>
              <a:t>while: true = the body ran, false = the loop ended</a:t>
            </a:r>
            <a:endParaRPr lang="en-US" sz="1500" dirty="0"/>
          </a:p>
        </p:txBody>
      </p:sp>
      <p:sp>
        <p:nvSpPr>
          <p:cNvPr id="19" name="card-102"/>
          <p:cNvSpPr/>
          <p:nvPr/>
        </p:nvSpPr>
        <p:spPr>
          <a:xfrm>
            <a:off x="4399178" y="4709160"/>
            <a:ext cx="3393338" cy="914400"/>
          </a:xfrm>
          <a:prstGeom prst="roundRect">
            <a:avLst>
              <a:gd name="adj" fmla="val 12000"/>
            </a:avLst>
          </a:prstGeom>
          <a:solidFill>
            <a:srgbClr val="FDFDFF"/>
          </a:solidFill>
          <a:ln w="12700">
            <a:solidFill>
              <a:srgbClr val="E1E4F5"/>
            </a:solidFill>
            <a:prstDash val="solid"/>
          </a:ln>
        </p:spPr>
      </p:sp>
      <p:sp>
        <p:nvSpPr>
          <p:cNvPr id="20" name="text-103"/>
          <p:cNvSpPr txBox="1"/>
          <p:nvPr/>
        </p:nvSpPr>
        <p:spPr>
          <a:xfrm>
            <a:off x="4627778" y="4709160"/>
            <a:ext cx="2936138" cy="914400"/>
          </a:xfrm>
          <a:prstGeom prst="rect">
            <a:avLst/>
          </a:prstGeom>
          <a:noFill/>
          <a:ln/>
        </p:spPr>
        <p:txBody>
          <a:bodyPr wrap="square" lIns="0" tIns="0" rIns="0" bIns="0" rtlCol="0" anchor="ctr"/>
          <a:lstStyle/>
          <a:p>
            <a:pPr indent="0" marL="0">
              <a:buNone/>
            </a:pPr>
            <a:r>
              <a:rPr lang="en-US" sz="1500" dirty="0">
                <a:solidFill>
                  <a:schemeClr val="tx1"/>
                </a:solidFill>
              </a:rPr>
              <a:t>Outcomes survive exit(), crashes and timeouts</a:t>
            </a:r>
            <a:endParaRPr lang="en-US" sz="1500" dirty="0"/>
          </a:p>
        </p:txBody>
      </p:sp>
      <p:sp>
        <p:nvSpPr>
          <p:cNvPr id="21" name="card-104"/>
          <p:cNvSpPr/>
          <p:nvPr/>
        </p:nvSpPr>
        <p:spPr>
          <a:xfrm>
            <a:off x="8066837" y="4709160"/>
            <a:ext cx="3393338" cy="914400"/>
          </a:xfrm>
          <a:prstGeom prst="roundRect">
            <a:avLst>
              <a:gd name="adj" fmla="val 12000"/>
            </a:avLst>
          </a:prstGeom>
          <a:solidFill>
            <a:srgbClr val="FDFDFF"/>
          </a:solidFill>
          <a:ln w="12700">
            <a:solidFill>
              <a:srgbClr val="E1E4F5"/>
            </a:solidFill>
            <a:prstDash val="solid"/>
          </a:ln>
        </p:spPr>
      </p:sp>
      <p:sp>
        <p:nvSpPr>
          <p:cNvPr id="22" name="text-105"/>
          <p:cNvSpPr txBox="1"/>
          <p:nvPr/>
        </p:nvSpPr>
        <p:spPr>
          <a:xfrm>
            <a:off x="8295437" y="4709160"/>
            <a:ext cx="2936138" cy="914400"/>
          </a:xfrm>
          <a:prstGeom prst="rect">
            <a:avLst/>
          </a:prstGeom>
          <a:noFill/>
          <a:ln/>
        </p:spPr>
        <p:txBody>
          <a:bodyPr wrap="square" lIns="0" tIns="0" rIns="0" bIns="0" rtlCol="0" anchor="ctr"/>
          <a:lstStyle/>
          <a:p>
            <a:pPr indent="0" marL="0">
              <a:buNone/>
            </a:pPr>
            <a:r>
              <a:rPr lang="en-US" sz="1500" dirty="0">
                <a:solidFill>
                  <a:schemeClr val="tx1"/>
                </a:solidFill>
              </a:rPr>
              <a:t>Statement coverage too: a line probe before every statement</a:t>
            </a:r>
            <a:endParaRPr lang="en-US" sz="15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SUGGESTIONS</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Suggestions are run before they are shown</a:t>
            </a:r>
            <a:endParaRPr lang="en-US" sz="3400" dirty="0"/>
          </a:p>
        </p:txBody>
      </p:sp>
      <p:sp>
        <p:nvSpPr>
          <p:cNvPr id="5" name="card-106"/>
          <p:cNvSpPr/>
          <p:nvPr/>
        </p:nvSpPr>
        <p:spPr>
          <a:xfrm>
            <a:off x="731520" y="1920240"/>
            <a:ext cx="4297680" cy="2743200"/>
          </a:xfrm>
          <a:prstGeom prst="roundRect">
            <a:avLst>
              <a:gd name="adj" fmla="val 4000"/>
            </a:avLst>
          </a:prstGeom>
          <a:solidFill>
            <a:srgbClr val="FDFDFF"/>
          </a:solidFill>
          <a:ln w="12700">
            <a:solidFill>
              <a:srgbClr val="E1E4F5"/>
            </a:solidFill>
            <a:prstDash val="solid"/>
          </a:ln>
        </p:spPr>
      </p:sp>
      <p:sp>
        <p:nvSpPr>
          <p:cNvPr id="6" name="text-107"/>
          <p:cNvSpPr txBox="1"/>
          <p:nvPr/>
        </p:nvSpPr>
        <p:spPr>
          <a:xfrm>
            <a:off x="1005840" y="2103120"/>
            <a:ext cx="3749040" cy="320040"/>
          </a:xfrm>
          <a:prstGeom prst="rect">
            <a:avLst/>
          </a:prstGeom>
          <a:noFill/>
          <a:ln/>
        </p:spPr>
        <p:txBody>
          <a:bodyPr wrap="square" lIns="0" tIns="0" rIns="0" bIns="0" rtlCol="0" anchor="t"/>
          <a:lstStyle/>
          <a:p>
            <a:pPr indent="0" marL="0">
              <a:buNone/>
            </a:pPr>
            <a:r>
              <a:rPr lang="en-US" sz="1300" b="1" spc="100" kern="0" dirty="0">
                <a:solidFill>
                  <a:srgbClr val="6B7190"/>
                </a:solidFill>
              </a:rPr>
              <a:t>PROGRAM · 1 TEST: AGE 17, SCORE 40</a:t>
            </a:r>
            <a:endParaRPr lang="en-US" sz="1300" dirty="0"/>
          </a:p>
        </p:txBody>
      </p:sp>
      <p:sp>
        <p:nvSpPr>
          <p:cNvPr id="7" name="text-108"/>
          <p:cNvSpPr txBox="1"/>
          <p:nvPr/>
        </p:nvSpPr>
        <p:spPr>
          <a:xfrm>
            <a:off x="1005840" y="2606040"/>
            <a:ext cx="3749040" cy="1097280"/>
          </a:xfrm>
          <a:prstGeom prst="rect">
            <a:avLst/>
          </a:prstGeom>
          <a:noFill/>
          <a:ln/>
        </p:spPr>
        <p:txBody>
          <a:bodyPr wrap="square" lIns="0" tIns="0" rIns="0" bIns="0" rtlCol="0" anchor="t"/>
          <a:lstStyle/>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1  if age &gt;= 18:</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2      if score &lt; 40:</a:t>
            </a:r>
            <a:endParaRPr lang="en-US" sz="1500" dirty="0"/>
          </a:p>
          <a:p>
            <a:pPr indent="0" marL="0">
              <a:lnSpc>
                <a:spcPct val="115000"/>
              </a:lnSpc>
              <a:buNone/>
            </a:pPr>
            <a:r>
              <a:rPr lang="en-US" sz="1500" dirty="0">
                <a:solidFill>
                  <a:schemeClr val="tx1"/>
                </a:solidFill>
                <a:latin typeface="Courier New" pitchFamily="34" charset="0"/>
                <a:ea typeface="Courier New" pitchFamily="34" charset="-122"/>
                <a:cs typeface="Courier New" pitchFamily="34" charset="-120"/>
              </a:rPr>
              <a:t>3          print("Fail")</a:t>
            </a:r>
            <a:endParaRPr lang="en-US" sz="1500" dirty="0"/>
          </a:p>
        </p:txBody>
      </p:sp>
      <p:sp>
        <p:nvSpPr>
          <p:cNvPr id="8" name="text-109"/>
          <p:cNvSpPr txBox="1"/>
          <p:nvPr/>
        </p:nvSpPr>
        <p:spPr>
          <a:xfrm>
            <a:off x="1005840" y="3886200"/>
            <a:ext cx="3749040" cy="548640"/>
          </a:xfrm>
          <a:prstGeom prst="rect">
            <a:avLst/>
          </a:prstGeom>
          <a:noFill/>
          <a:ln/>
        </p:spPr>
        <p:txBody>
          <a:bodyPr wrap="square" lIns="0" tIns="0" rIns="0" bIns="0" rtlCol="0" anchor="t"/>
          <a:lstStyle/>
          <a:p>
            <a:pPr indent="0" marL="0">
              <a:buNone/>
            </a:pPr>
            <a:r>
              <a:rPr lang="en-US" sz="1700" dirty="0">
                <a:solidFill>
                  <a:schemeClr val="tx2"/>
                </a:solidFill>
              </a:rPr>
              <a:t>Coverage: </a:t>
            </a:r>
            <a:pPr indent="0" marL="0">
              <a:buNone/>
            </a:pPr>
            <a:r>
              <a:rPr lang="en-US" sz="1700" b="1" dirty="0">
                <a:solidFill>
                  <a:schemeClr val="tx1"/>
                </a:solidFill>
              </a:rPr>
              <a:t>25%</a:t>
            </a:r>
            <a:pPr indent="0" marL="0">
              <a:buNone/>
            </a:pPr>
            <a:r>
              <a:rPr lang="en-US" sz="1700" dirty="0">
                <a:solidFill>
                  <a:schemeClr val="tx2"/>
                </a:solidFill>
              </a:rPr>
              <a:t>. The inner if never ran.</a:t>
            </a:r>
            <a:endParaRPr lang="en-US" sz="1700" dirty="0"/>
          </a:p>
        </p:txBody>
      </p:sp>
      <p:sp>
        <p:nvSpPr>
          <p:cNvPr id="9" name="card-110"/>
          <p:cNvSpPr/>
          <p:nvPr/>
        </p:nvSpPr>
        <p:spPr>
          <a:xfrm>
            <a:off x="5303520" y="1920240"/>
            <a:ext cx="6156655" cy="2743200"/>
          </a:xfrm>
          <a:prstGeom prst="roundRect">
            <a:avLst>
              <a:gd name="adj" fmla="val 4000"/>
            </a:avLst>
          </a:prstGeom>
          <a:solidFill>
            <a:srgbClr val="FDFDFF"/>
          </a:solidFill>
          <a:ln w="12700">
            <a:solidFill>
              <a:srgbClr val="E1E4F5"/>
            </a:solidFill>
            <a:prstDash val="solid"/>
          </a:ln>
        </p:spPr>
      </p:sp>
      <p:sp>
        <p:nvSpPr>
          <p:cNvPr id="10" name="text-111"/>
          <p:cNvSpPr txBox="1"/>
          <p:nvPr/>
        </p:nvSpPr>
        <p:spPr>
          <a:xfrm>
            <a:off x="5577840" y="2103120"/>
            <a:ext cx="5608015" cy="320040"/>
          </a:xfrm>
          <a:prstGeom prst="rect">
            <a:avLst/>
          </a:prstGeom>
          <a:noFill/>
          <a:ln/>
        </p:spPr>
        <p:txBody>
          <a:bodyPr wrap="square" lIns="0" tIns="0" rIns="0" bIns="0" rtlCol="0" anchor="t"/>
          <a:lstStyle/>
          <a:p>
            <a:pPr indent="0" marL="0">
              <a:buNone/>
            </a:pPr>
            <a:r>
              <a:rPr lang="en-US" sz="1300" b="1" spc="100" kern="0" dirty="0">
                <a:solidFill>
                  <a:srgbClr val="6B7190"/>
                </a:solidFill>
              </a:rPr>
              <a:t>SUGGESTED TESTS</a:t>
            </a:r>
            <a:endParaRPr lang="en-US" sz="1300" dirty="0"/>
          </a:p>
        </p:txBody>
      </p:sp>
      <p:graphicFrame>
        <p:nvGraphicFramePr>
          <p:cNvPr id="11" name="table-112"/>
          <p:cNvGraphicFramePr>
            <a:graphicFrameLocks noGrp="1"/>
          </p:cNvGraphicFramePr>
          <p:nvPr>
            <p:extLst>
              <p:ext uri="{D42A27DB-BD31-4B8C-83A1-F6EECF244321}">
                <p14:modId xmlns:p14="http://schemas.microsoft.com/office/powerpoint/2010/main" val="1579011935"/>
              </p:ext>
            </p:extLst>
          </p:nvPr>
        </p:nvGraphicFramePr>
        <p:xfrm>
          <a:off x="5577840" y="2560320"/>
          <a:ext cx="5608015" cy="914400"/>
        </p:xfrm>
        <a:graphic>
          <a:graphicData uri="http://schemas.openxmlformats.org/drawingml/2006/table">
            <a:tbl>
              <a:tblPr/>
              <a:tblGrid>
                <a:gridCol w="731520"/>
                <a:gridCol w="1097280"/>
                <a:gridCol w="2331720"/>
                <a:gridCol w="1447495"/>
              </a:tblGrid>
              <a:tr h="41148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line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missing</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inputs</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check</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41148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true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age 18, score 40</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b="1" dirty="0">
                          <a:solidFill>
                            <a:srgbClr val="19673F"/>
                          </a:solidFill>
                          <a:latin typeface="Calibri" pitchFamily="34" charset="0"/>
                          <a:ea typeface="Calibri" pitchFamily="34" charset="-122"/>
                          <a:cs typeface="Calibri" pitchFamily="34" charset="-120"/>
                        </a:rPr>
                        <a:t>Verified</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true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age 17, score 39</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b="1" dirty="0">
                          <a:solidFill>
                            <a:srgbClr val="A1213F"/>
                          </a:solidFill>
                          <a:latin typeface="Calibri" pitchFamily="34" charset="0"/>
                          <a:ea typeface="Calibri" pitchFamily="34" charset="-122"/>
                          <a:cs typeface="Calibri" pitchFamily="34" charset="-120"/>
                        </a:rPr>
                        <a:t>Not reached</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false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age 17, score 40</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b="1" dirty="0">
                          <a:solidFill>
                            <a:srgbClr val="A1213F"/>
                          </a:solidFill>
                          <a:latin typeface="Calibri" pitchFamily="34" charset="0"/>
                          <a:ea typeface="Calibri" pitchFamily="34" charset="-122"/>
                          <a:cs typeface="Calibri" pitchFamily="34" charset="-120"/>
                        </a:rPr>
                        <a:t>Not reached</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12" name="text-113"/>
          <p:cNvSpPr txBox="1"/>
          <p:nvPr/>
        </p:nvSpPr>
        <p:spPr>
          <a:xfrm>
            <a:off x="731520" y="5029200"/>
            <a:ext cx="10728655" cy="457200"/>
          </a:xfrm>
          <a:prstGeom prst="rect">
            <a:avLst/>
          </a:prstGeom>
          <a:noFill/>
          <a:ln/>
        </p:spPr>
        <p:txBody>
          <a:bodyPr wrap="square" lIns="0" tIns="0" rIns="0" bIns="0" rtlCol="0" anchor="t"/>
          <a:lstStyle/>
          <a:p>
            <a:pPr indent="0" marL="0">
              <a:buNone/>
            </a:pPr>
            <a:r>
              <a:rPr lang="en-US" sz="1800" dirty="0">
                <a:solidFill>
                  <a:schemeClr val="tx2"/>
                </a:solidFill>
              </a:rPr>
              <a:t>With </a:t>
            </a:r>
            <a:pPr indent="0" marL="0">
              <a:buNone/>
            </a:pPr>
            <a:r>
              <a:rPr lang="en-US" sz="1800" b="1" dirty="0">
                <a:solidFill>
                  <a:schemeClr val="tx1"/>
                </a:solidFill>
              </a:rPr>
              <a:t>age</a:t>
            </a:r>
            <a:pPr indent="0" marL="0">
              <a:buNone/>
            </a:pPr>
            <a:r>
              <a:rPr lang="en-US" sz="1800" dirty="0">
                <a:solidFill>
                  <a:schemeClr val="tx2"/>
                </a:solidFill>
              </a:rPr>
              <a:t> at 17, changing </a:t>
            </a:r>
            <a:pPr indent="0" marL="0">
              <a:buNone/>
            </a:pPr>
            <a:r>
              <a:rPr lang="en-US" sz="1800" b="1" dirty="0">
                <a:solidFill>
                  <a:schemeClr val="tx1"/>
                </a:solidFill>
              </a:rPr>
              <a:t>score</a:t>
            </a:r>
            <a:pPr indent="0" marL="0">
              <a:buNone/>
            </a:pPr>
            <a:r>
              <a:rPr lang="en-US" sz="1800" dirty="0">
                <a:solidFill>
                  <a:schemeClr val="tx2"/>
                </a:solidFill>
              </a:rPr>
              <a:t> cannot reach line 2, so it is marked </a:t>
            </a:r>
            <a:pPr indent="0" marL="0">
              <a:buNone/>
            </a:pPr>
            <a:r>
              <a:rPr lang="en-US" sz="1800" b="1" dirty="0">
                <a:solidFill>
                  <a:srgbClr val="A1213F"/>
                </a:solidFill>
              </a:rPr>
              <a:t>Not reached</a:t>
            </a:r>
            <a:pPr indent="0" marL="0">
              <a:buNone/>
            </a:pPr>
            <a:r>
              <a:rPr lang="en-US" sz="1800" dirty="0">
                <a:solidFill>
                  <a:schemeClr val="tx2"/>
                </a:solidFill>
              </a:rPr>
              <a:t>.</a:t>
            </a:r>
            <a:endParaRPr lang="en-US" sz="18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ROBUSTNESS</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Invalid-input and fuzz testing</a:t>
            </a:r>
            <a:endParaRPr lang="en-US" sz="3400" dirty="0"/>
          </a:p>
        </p:txBody>
      </p:sp>
      <p:sp>
        <p:nvSpPr>
          <p:cNvPr id="5" name="card-114"/>
          <p:cNvSpPr/>
          <p:nvPr/>
        </p:nvSpPr>
        <p:spPr>
          <a:xfrm>
            <a:off x="731520" y="1920240"/>
            <a:ext cx="4297680" cy="1325880"/>
          </a:xfrm>
          <a:prstGeom prst="roundRect">
            <a:avLst>
              <a:gd name="adj" fmla="val 8276"/>
            </a:avLst>
          </a:prstGeom>
          <a:solidFill>
            <a:srgbClr val="FDF1D3"/>
          </a:solidFill>
          <a:ln/>
        </p:spPr>
      </p:sp>
      <p:sp>
        <p:nvSpPr>
          <p:cNvPr id="6" name="text-115"/>
          <p:cNvSpPr txBox="1"/>
          <p:nvPr/>
        </p:nvSpPr>
        <p:spPr>
          <a:xfrm>
            <a:off x="1005840" y="2057400"/>
            <a:ext cx="3749040" cy="411480"/>
          </a:xfrm>
          <a:prstGeom prst="rect">
            <a:avLst/>
          </a:prstGeom>
          <a:noFill/>
          <a:ln/>
        </p:spPr>
        <p:txBody>
          <a:bodyPr wrap="square" lIns="0" tIns="0" rIns="0" bIns="0" rtlCol="0" anchor="t"/>
          <a:lstStyle/>
          <a:p>
            <a:pPr indent="0" marL="0">
              <a:buNone/>
            </a:pPr>
            <a:r>
              <a:rPr lang="en-US" sz="2100" b="1" dirty="0">
                <a:solidFill>
                  <a:srgbClr val="8A4B0F"/>
                </a:solidFill>
              </a:rPr>
              <a:t>Invalid input</a:t>
            </a:r>
            <a:endParaRPr lang="en-US" sz="2100" dirty="0"/>
          </a:p>
        </p:txBody>
      </p:sp>
      <p:sp>
        <p:nvSpPr>
          <p:cNvPr id="7" name="text-116"/>
          <p:cNvSpPr txBox="1"/>
          <p:nvPr/>
        </p:nvSpPr>
        <p:spPr>
          <a:xfrm>
            <a:off x="1005840" y="2514600"/>
            <a:ext cx="3749040" cy="640080"/>
          </a:xfrm>
          <a:prstGeom prst="rect">
            <a:avLst/>
          </a:prstGeom>
          <a:noFill/>
          <a:ln/>
        </p:spPr>
        <p:txBody>
          <a:bodyPr wrap="square" lIns="0" tIns="0" rIns="0" bIns="0" rtlCol="0" anchor="t"/>
          <a:lstStyle/>
          <a:p>
            <a:pPr indent="0" marL="0">
              <a:buNone/>
            </a:pPr>
            <a:r>
              <a:rPr lang="en-US" sz="1600" dirty="0">
                <a:solidFill>
                  <a:srgbClr val="8A4B0F"/>
                </a:solidFill>
              </a:rPr>
              <a:t>Text, empty values, None, symbols and huge numbers.</a:t>
            </a:r>
            <a:endParaRPr lang="en-US" sz="1600" dirty="0"/>
          </a:p>
        </p:txBody>
      </p:sp>
      <p:sp>
        <p:nvSpPr>
          <p:cNvPr id="8" name="card-117"/>
          <p:cNvSpPr/>
          <p:nvPr/>
        </p:nvSpPr>
        <p:spPr>
          <a:xfrm>
            <a:off x="731520" y="3429000"/>
            <a:ext cx="4297680" cy="1325880"/>
          </a:xfrm>
          <a:prstGeom prst="roundRect">
            <a:avLst>
              <a:gd name="adj" fmla="val 8276"/>
            </a:avLst>
          </a:prstGeom>
          <a:solidFill>
            <a:srgbClr val="EFE9FF"/>
          </a:solidFill>
          <a:ln/>
        </p:spPr>
      </p:sp>
      <p:sp>
        <p:nvSpPr>
          <p:cNvPr id="9" name="text-118"/>
          <p:cNvSpPr txBox="1"/>
          <p:nvPr/>
        </p:nvSpPr>
        <p:spPr>
          <a:xfrm>
            <a:off x="1005840" y="3566160"/>
            <a:ext cx="3749040" cy="411480"/>
          </a:xfrm>
          <a:prstGeom prst="rect">
            <a:avLst/>
          </a:prstGeom>
          <a:noFill/>
          <a:ln/>
        </p:spPr>
        <p:txBody>
          <a:bodyPr wrap="square" lIns="0" tIns="0" rIns="0" bIns="0" rtlCol="0" anchor="t"/>
          <a:lstStyle/>
          <a:p>
            <a:pPr indent="0" marL="0">
              <a:buNone/>
            </a:pPr>
            <a:r>
              <a:rPr lang="en-US" sz="2100" b="1" dirty="0">
                <a:solidFill>
                  <a:srgbClr val="5B2FAE"/>
                </a:solidFill>
              </a:rPr>
              <a:t>Fuzz</a:t>
            </a:r>
            <a:endParaRPr lang="en-US" sz="2100" dirty="0"/>
          </a:p>
        </p:txBody>
      </p:sp>
      <p:sp>
        <p:nvSpPr>
          <p:cNvPr id="10" name="text-119"/>
          <p:cNvSpPr txBox="1"/>
          <p:nvPr/>
        </p:nvSpPr>
        <p:spPr>
          <a:xfrm>
            <a:off x="1005840" y="4023360"/>
            <a:ext cx="3749040" cy="640080"/>
          </a:xfrm>
          <a:prstGeom prst="rect">
            <a:avLst/>
          </a:prstGeom>
          <a:noFill/>
          <a:ln/>
        </p:spPr>
        <p:txBody>
          <a:bodyPr wrap="square" lIns="0" tIns="0" rIns="0" bIns="0" rtlCol="0" anchor="t"/>
          <a:lstStyle/>
          <a:p>
            <a:pPr indent="0" marL="0">
              <a:buNone/>
            </a:pPr>
            <a:r>
              <a:rPr lang="en-US" sz="1600" dirty="0">
                <a:solidFill>
                  <a:srgbClr val="5B2FAE"/>
                </a:solidFill>
              </a:rPr>
              <a:t>Seeded random and extreme values, so every run is reproducible.</a:t>
            </a:r>
            <a:endParaRPr lang="en-US" sz="1600" dirty="0"/>
          </a:p>
        </p:txBody>
      </p:sp>
      <p:sp>
        <p:nvSpPr>
          <p:cNvPr id="11" name="text-120"/>
          <p:cNvSpPr txBox="1"/>
          <p:nvPr/>
        </p:nvSpPr>
        <p:spPr>
          <a:xfrm>
            <a:off x="731520" y="4983480"/>
            <a:ext cx="4297680" cy="457200"/>
          </a:xfrm>
          <a:prstGeom prst="rect">
            <a:avLst/>
          </a:prstGeom>
          <a:noFill/>
          <a:ln/>
        </p:spPr>
        <p:txBody>
          <a:bodyPr wrap="square" lIns="0" tIns="0" rIns="0" bIns="0" rtlCol="0" anchor="t"/>
          <a:lstStyle/>
          <a:p>
            <a:pPr indent="0" marL="0">
              <a:buNone/>
            </a:pPr>
            <a:r>
              <a:rPr lang="en-US" sz="1600" dirty="0">
                <a:solidFill>
                  <a:schemeClr val="tx2"/>
                </a:solidFill>
              </a:rPr>
              <a:t>Each strategy uses about 20% of the test budget.</a:t>
            </a:r>
            <a:endParaRPr lang="en-US" sz="1600" dirty="0"/>
          </a:p>
        </p:txBody>
      </p:sp>
      <p:sp>
        <p:nvSpPr>
          <p:cNvPr id="12" name="card-121"/>
          <p:cNvSpPr/>
          <p:nvPr/>
        </p:nvSpPr>
        <p:spPr>
          <a:xfrm>
            <a:off x="5303520" y="1920240"/>
            <a:ext cx="6156655" cy="3520440"/>
          </a:xfrm>
          <a:prstGeom prst="roundRect">
            <a:avLst>
              <a:gd name="adj" fmla="val 3117"/>
            </a:avLst>
          </a:prstGeom>
          <a:solidFill>
            <a:srgbClr val="FDFDFF"/>
          </a:solidFill>
          <a:ln w="12700">
            <a:solidFill>
              <a:srgbClr val="E1E4F5"/>
            </a:solidFill>
            <a:prstDash val="solid"/>
          </a:ln>
        </p:spPr>
      </p:sp>
      <p:sp>
        <p:nvSpPr>
          <p:cNvPr id="13" name="text-122"/>
          <p:cNvSpPr txBox="1"/>
          <p:nvPr/>
        </p:nvSpPr>
        <p:spPr>
          <a:xfrm>
            <a:off x="5577840" y="2103120"/>
            <a:ext cx="5608015" cy="320040"/>
          </a:xfrm>
          <a:prstGeom prst="rect">
            <a:avLst/>
          </a:prstGeom>
          <a:noFill/>
          <a:ln/>
        </p:spPr>
        <p:txBody>
          <a:bodyPr wrap="square" lIns="0" tIns="0" rIns="0" bIns="0" rtlCol="0" anchor="t"/>
          <a:lstStyle/>
          <a:p>
            <a:pPr indent="0" marL="0">
              <a:buNone/>
            </a:pPr>
            <a:r>
              <a:rPr lang="en-US" sz="1300" b="1" spc="100" kern="0" dirty="0">
                <a:solidFill>
                  <a:srgbClr val="6B7190"/>
                </a:solidFill>
              </a:rPr>
              <a:t>REAL RUN · GRADE.JAVA</a:t>
            </a:r>
            <a:endParaRPr lang="en-US" sz="1300" dirty="0"/>
          </a:p>
        </p:txBody>
      </p:sp>
      <p:graphicFrame>
        <p:nvGraphicFramePr>
          <p:cNvPr id="12" name="table-123"/>
          <p:cNvGraphicFramePr>
            <a:graphicFrameLocks noGrp="1"/>
          </p:cNvGraphicFramePr>
          <p:nvPr>
            <p:extLst>
              <p:ext uri="{D42A27DB-BD31-4B8C-83A1-F6EECF244321}">
                <p14:modId xmlns:p14="http://schemas.microsoft.com/office/powerpoint/2010/main" val="1579011935"/>
              </p:ext>
            </p:extLst>
          </p:nvPr>
        </p:nvGraphicFramePr>
        <p:xfrm>
          <a:off x="5577840" y="2560320"/>
          <a:ext cx="5608015" cy="914400"/>
        </p:xfrm>
        <a:graphic>
          <a:graphicData uri="http://schemas.openxmlformats.org/drawingml/2006/table">
            <a:tbl>
              <a:tblPr/>
              <a:tblGrid>
                <a:gridCol w="2194560"/>
                <a:gridCol w="3413455"/>
              </a:tblGrid>
              <a:tr h="41148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score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what happened</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41148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"garbage"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NumberFormatException</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 (empty)</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NumberFormatException</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10^100</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overflows int: exception</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-999999</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Invalid score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15" name="text-124"/>
          <p:cNvSpPr txBox="1"/>
          <p:nvPr/>
        </p:nvSpPr>
        <p:spPr>
          <a:xfrm>
            <a:off x="5577840" y="4800600"/>
            <a:ext cx="5608015" cy="457200"/>
          </a:xfrm>
          <a:prstGeom prst="rect">
            <a:avLst/>
          </a:prstGeom>
          <a:noFill/>
          <a:ln/>
        </p:spPr>
        <p:txBody>
          <a:bodyPr wrap="square" lIns="0" tIns="0" rIns="0" bIns="0" rtlCol="0" anchor="t"/>
          <a:lstStyle/>
          <a:p>
            <a:pPr indent="0" marL="0">
              <a:buNone/>
            </a:pPr>
            <a:r>
              <a:rPr lang="en-US" sz="1600" dirty="0">
                <a:solidFill>
                  <a:schemeClr val="tx2"/>
                </a:solidFill>
              </a:rPr>
              <a:t>Shown as </a:t>
            </a:r>
            <a:pPr indent="0" marL="0">
              <a:buNone/>
            </a:pPr>
            <a:r>
              <a:rPr lang="en-US" sz="1600" b="1" dirty="0">
                <a:solidFill>
                  <a:srgbClr val="8A4B0F"/>
                </a:solidFill>
              </a:rPr>
              <a:t>Input rejected</a:t>
            </a:r>
            <a:pPr indent="0" marL="0">
              <a:buNone/>
            </a:pPr>
            <a:r>
              <a:rPr lang="en-US" sz="1600" dirty="0">
                <a:solidFill>
                  <a:schemeClr val="tx2"/>
                </a:solidFill>
              </a:rPr>
              <a:t> or </a:t>
            </a:r>
            <a:pPr indent="0" marL="0">
              <a:buNone/>
            </a:pPr>
            <a:r>
              <a:rPr lang="en-US" sz="1600" b="1" dirty="0">
                <a:solidFill>
                  <a:srgbClr val="8A4B0F"/>
                </a:solidFill>
              </a:rPr>
              <a:t>Exit code N</a:t>
            </a:r>
            <a:pPr indent="0" marL="0">
              <a:buNone/>
            </a:pPr>
            <a:r>
              <a:rPr lang="en-US" sz="1600" dirty="0">
                <a:solidFill>
                  <a:schemeClr val="tx2"/>
                </a:solidFill>
              </a:rPr>
              <a:t>, never as a silent pass.</a:t>
            </a:r>
            <a:endParaRPr lang="en-US" sz="16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THE PROTOTYPE</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BranchLab in the browser</a:t>
            </a:r>
            <a:endParaRPr lang="en-US" sz="3400" dirty="0"/>
          </a:p>
        </p:txBody>
      </p:sp>
      <p:pic>
        <p:nvPicPr>
          <p:cNvPr id="5" name="screenshot-125" descr="BranchLab workspace in light mode: language tabs, code editor and test settings">    </p:cNvPr>
          <p:cNvPicPr>
            <a:picLocks noChangeAspect="1"/>
          </p:cNvPicPr>
          <p:nvPr/>
        </p:nvPicPr>
        <p:blipFill>
          <a:blip r:embed="rId1"/>
          <a:stretch>
            <a:fillRect/>
          </a:stretch>
        </p:blipFill>
        <p:spPr>
          <a:xfrm>
            <a:off x="731520" y="1920240"/>
            <a:ext cx="5181448" cy="3238405"/>
          </a:xfrm>
          <a:prstGeom prst="rect">
            <a:avLst/>
          </a:prstGeom>
          <a:effectLst>
            <a:outerShdw sx="100000" sy="100000" kx="0" ky="0" algn="bl" rotWithShape="0" blurRad="76200" dist="25400" dir="5400000">
              <a:srgbClr val="B9BEDB">
                <a:alpha val="35000"/>
              </a:srgbClr>
            </a:outerShdw>
          </a:effectLst>
        </p:spPr>
      </p:pic>
      <p:sp>
        <p:nvSpPr>
          <p:cNvPr id="6" name="text-126"/>
          <p:cNvSpPr txBox="1"/>
          <p:nvPr/>
        </p:nvSpPr>
        <p:spPr>
          <a:xfrm>
            <a:off x="731520" y="5341525"/>
            <a:ext cx="5181448" cy="457200"/>
          </a:xfrm>
          <a:prstGeom prst="rect">
            <a:avLst/>
          </a:prstGeom>
          <a:noFill/>
          <a:ln/>
        </p:spPr>
        <p:txBody>
          <a:bodyPr wrap="square" lIns="0" tIns="0" rIns="0" bIns="0" rtlCol="0" anchor="t"/>
          <a:lstStyle/>
          <a:p>
            <a:pPr indent="0" marL="0">
              <a:buNone/>
            </a:pPr>
            <a:r>
              <a:rPr lang="en-US" sz="1600" dirty="0">
                <a:solidFill>
                  <a:schemeClr val="tx2"/>
                </a:solidFill>
              </a:rPr>
              <a:t>Write or paste code, pick the language and how many tests</a:t>
            </a:r>
            <a:endParaRPr lang="en-US" sz="1600" dirty="0"/>
          </a:p>
        </p:txBody>
      </p:sp>
      <p:pic>
        <p:nvPicPr>
          <p:cNvPr id="7" name="screenshot-127" descr="BranchLab results in dark mode: metric cards and the generated tests table">    </p:cNvPr>
          <p:cNvPicPr>
            <a:picLocks noChangeAspect="1"/>
          </p:cNvPicPr>
          <p:nvPr/>
        </p:nvPicPr>
        <p:blipFill>
          <a:blip r:embed="rId2"/>
          <a:stretch>
            <a:fillRect/>
          </a:stretch>
        </p:blipFill>
        <p:spPr>
          <a:xfrm>
            <a:off x="6278728" y="1920240"/>
            <a:ext cx="5181448" cy="3238405"/>
          </a:xfrm>
          <a:prstGeom prst="rect">
            <a:avLst/>
          </a:prstGeom>
          <a:effectLst>
            <a:outerShdw sx="100000" sy="100000" kx="0" ky="0" algn="bl" rotWithShape="0" blurRad="76200" dist="25400" dir="5400000">
              <a:srgbClr val="B9BEDB">
                <a:alpha val="35000"/>
              </a:srgbClr>
            </a:outerShdw>
          </a:effectLst>
        </p:spPr>
      </p:pic>
      <p:sp>
        <p:nvSpPr>
          <p:cNvPr id="8" name="text-128"/>
          <p:cNvSpPr txBox="1"/>
          <p:nvPr/>
        </p:nvSpPr>
        <p:spPr>
          <a:xfrm>
            <a:off x="6278728" y="5341525"/>
            <a:ext cx="5181448" cy="457200"/>
          </a:xfrm>
          <a:prstGeom prst="rect">
            <a:avLst/>
          </a:prstGeom>
          <a:noFill/>
          <a:ln/>
        </p:spPr>
        <p:txBody>
          <a:bodyPr wrap="square" lIns="0" tIns="0" rIns="0" bIns="0" rtlCol="0" anchor="t"/>
          <a:lstStyle/>
          <a:p>
            <a:pPr indent="0" marL="0">
              <a:buNone/>
            </a:pPr>
            <a:r>
              <a:rPr lang="en-US" sz="1600" dirty="0">
                <a:solidFill>
                  <a:schemeClr val="tx2"/>
                </a:solidFill>
              </a:rPr>
              <a:t>Results, output and coverage tabs, in light or dark mode</a:t>
            </a:r>
            <a:endParaRPr lang="en-US" sz="16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rgbClr val="AAB6FF"/>
                </a:solidFill>
              </a:rPr>
              <a:t>RESULTS · AST-TARGETED VS RANDOM</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bg1"/>
                </a:solidFill>
              </a:rPr>
              <a:t>Same number of tests, four times the faults found</a:t>
            </a:r>
            <a:endParaRPr lang="en-US" sz="3400" dirty="0"/>
          </a:p>
        </p:txBody>
      </p:sp>
      <p:graphicFrame>
        <p:nvGraphicFramePr>
          <p:cNvPr id="5" name="chart-129" descr=""/>
          <p:cNvGraphicFramePr/>
          <p:nvPr/>
        </p:nvGraphicFramePr>
        <p:xfrm>
          <a:off x="731520" y="1828800"/>
          <a:ext cx="7315200" cy="4023360"/>
        </p:xfrm>
        <a:graphic xmlns:a="http://schemas.openxmlformats.org/drawingml/2006/main">
          <a:graphicData uri="http://schemas.openxmlformats.org/drawingml/2006/chart">
            <c:chart xmlns:c="http://schemas.openxmlformats.org/drawingml/2006/chart" r:id="rId1"/>
          </a:graphicData>
        </a:graphic>
      </p:graphicFrame>
      <p:sp>
        <p:nvSpPr>
          <p:cNvPr id="6" name="card-130"/>
          <p:cNvSpPr/>
          <p:nvPr/>
        </p:nvSpPr>
        <p:spPr>
          <a:xfrm>
            <a:off x="8321040" y="1920240"/>
            <a:ext cx="3139135" cy="1143000"/>
          </a:xfrm>
          <a:prstGeom prst="roundRect">
            <a:avLst>
              <a:gd name="adj" fmla="val 9600"/>
            </a:avLst>
          </a:prstGeom>
          <a:solidFill>
            <a:srgbClr val="2A2F55"/>
          </a:solidFill>
          <a:ln/>
        </p:spPr>
      </p:sp>
      <p:sp>
        <p:nvSpPr>
          <p:cNvPr id="7" name="text-131"/>
          <p:cNvSpPr txBox="1"/>
          <p:nvPr/>
        </p:nvSpPr>
        <p:spPr>
          <a:xfrm>
            <a:off x="8595360" y="2029968"/>
            <a:ext cx="2590495" cy="548640"/>
          </a:xfrm>
          <a:prstGeom prst="rect">
            <a:avLst/>
          </a:prstGeom>
          <a:noFill/>
          <a:ln/>
        </p:spPr>
        <p:txBody>
          <a:bodyPr wrap="square" lIns="0" tIns="0" rIns="0" bIns="0" rtlCol="0" anchor="t"/>
          <a:lstStyle/>
          <a:p>
            <a:pPr indent="0" marL="0">
              <a:buNone/>
            </a:pPr>
            <a:r>
              <a:rPr lang="en-US" sz="3000" b="1" dirty="0">
                <a:solidFill>
                  <a:schemeClr val="bg1"/>
                </a:solidFill>
              </a:rPr>
              <a:t>9</a:t>
            </a:r>
            <a:endParaRPr lang="en-US" sz="3000" dirty="0"/>
          </a:p>
        </p:txBody>
      </p:sp>
      <p:sp>
        <p:nvSpPr>
          <p:cNvPr id="8" name="text-132"/>
          <p:cNvSpPr txBox="1"/>
          <p:nvPr/>
        </p:nvSpPr>
        <p:spPr>
          <a:xfrm>
            <a:off x="8595360" y="2578608"/>
            <a:ext cx="2590495" cy="365760"/>
          </a:xfrm>
          <a:prstGeom prst="rect">
            <a:avLst/>
          </a:prstGeom>
          <a:noFill/>
          <a:ln/>
        </p:spPr>
        <p:txBody>
          <a:bodyPr wrap="square" lIns="0" tIns="0" rIns="0" bIns="0" rtlCol="0" anchor="t"/>
          <a:lstStyle/>
          <a:p>
            <a:pPr indent="0" marL="0">
              <a:buNone/>
            </a:pPr>
            <a:r>
              <a:rPr lang="en-US" sz="1500" dirty="0">
                <a:solidFill>
                  <a:srgbClr val="C9CDE8"/>
                </a:solidFill>
              </a:rPr>
              <a:t>programs in C, Java and Python</a:t>
            </a:r>
            <a:endParaRPr lang="en-US" sz="1500" dirty="0"/>
          </a:p>
        </p:txBody>
      </p:sp>
      <p:sp>
        <p:nvSpPr>
          <p:cNvPr id="9" name="card-133"/>
          <p:cNvSpPr/>
          <p:nvPr/>
        </p:nvSpPr>
        <p:spPr>
          <a:xfrm>
            <a:off x="8321040" y="3246120"/>
            <a:ext cx="3139135" cy="1143000"/>
          </a:xfrm>
          <a:prstGeom prst="roundRect">
            <a:avLst>
              <a:gd name="adj" fmla="val 9600"/>
            </a:avLst>
          </a:prstGeom>
          <a:solidFill>
            <a:srgbClr val="2A2F55"/>
          </a:solidFill>
          <a:ln/>
        </p:spPr>
      </p:sp>
      <p:sp>
        <p:nvSpPr>
          <p:cNvPr id="10" name="text-134"/>
          <p:cNvSpPr txBox="1"/>
          <p:nvPr/>
        </p:nvSpPr>
        <p:spPr>
          <a:xfrm>
            <a:off x="8595360" y="3355848"/>
            <a:ext cx="2590495" cy="548640"/>
          </a:xfrm>
          <a:prstGeom prst="rect">
            <a:avLst/>
          </a:prstGeom>
          <a:noFill/>
          <a:ln/>
        </p:spPr>
        <p:txBody>
          <a:bodyPr wrap="square" lIns="0" tIns="0" rIns="0" bIns="0" rtlCol="0" anchor="t"/>
          <a:lstStyle/>
          <a:p>
            <a:pPr indent="0" marL="0">
              <a:buNone/>
            </a:pPr>
            <a:r>
              <a:rPr lang="en-US" sz="3000" b="1" dirty="0">
                <a:solidFill>
                  <a:schemeClr val="bg1"/>
                </a:solidFill>
              </a:rPr>
              <a:t>81</a:t>
            </a:r>
            <a:endParaRPr lang="en-US" sz="3000" dirty="0"/>
          </a:p>
        </p:txBody>
      </p:sp>
      <p:sp>
        <p:nvSpPr>
          <p:cNvPr id="11" name="text-135"/>
          <p:cNvSpPr txBox="1"/>
          <p:nvPr/>
        </p:nvSpPr>
        <p:spPr>
          <a:xfrm>
            <a:off x="8595360" y="3904488"/>
            <a:ext cx="2590495" cy="365760"/>
          </a:xfrm>
          <a:prstGeom prst="rect">
            <a:avLst/>
          </a:prstGeom>
          <a:noFill/>
          <a:ln/>
        </p:spPr>
        <p:txBody>
          <a:bodyPr wrap="square" lIns="0" tIns="0" rIns="0" bIns="0" rtlCol="0" anchor="t"/>
          <a:lstStyle/>
          <a:p>
            <a:pPr indent="0" marL="0">
              <a:buNone/>
            </a:pPr>
            <a:r>
              <a:rPr lang="en-US" sz="1500" dirty="0">
                <a:solidFill>
                  <a:srgbClr val="C9CDE8"/>
                </a:solidFill>
              </a:rPr>
              <a:t>injected boundary faults</a:t>
            </a:r>
            <a:endParaRPr lang="en-US" sz="1500" dirty="0"/>
          </a:p>
        </p:txBody>
      </p:sp>
      <p:sp>
        <p:nvSpPr>
          <p:cNvPr id="12" name="card-136"/>
          <p:cNvSpPr/>
          <p:nvPr/>
        </p:nvSpPr>
        <p:spPr>
          <a:xfrm>
            <a:off x="8321040" y="4572000"/>
            <a:ext cx="3139135" cy="1143000"/>
          </a:xfrm>
          <a:prstGeom prst="roundRect">
            <a:avLst>
              <a:gd name="adj" fmla="val 9600"/>
            </a:avLst>
          </a:prstGeom>
          <a:solidFill>
            <a:srgbClr val="2A2F55"/>
          </a:solidFill>
          <a:ln/>
        </p:spPr>
      </p:sp>
      <p:sp>
        <p:nvSpPr>
          <p:cNvPr id="13" name="text-137"/>
          <p:cNvSpPr txBox="1"/>
          <p:nvPr/>
        </p:nvSpPr>
        <p:spPr>
          <a:xfrm>
            <a:off x="8595360" y="4681728"/>
            <a:ext cx="2590495" cy="548640"/>
          </a:xfrm>
          <a:prstGeom prst="rect">
            <a:avLst/>
          </a:prstGeom>
          <a:noFill/>
          <a:ln/>
        </p:spPr>
        <p:txBody>
          <a:bodyPr wrap="square" lIns="0" tIns="0" rIns="0" bIns="0" rtlCol="0" anchor="t"/>
          <a:lstStyle/>
          <a:p>
            <a:pPr indent="0" marL="0">
              <a:buNone/>
            </a:pPr>
            <a:r>
              <a:rPr lang="en-US" sz="3000" b="1" dirty="0">
                <a:solidFill>
                  <a:schemeClr val="bg1"/>
                </a:solidFill>
              </a:rPr>
              <a:t>&lt; 25 ms</a:t>
            </a:r>
            <a:endParaRPr lang="en-US" sz="3000" dirty="0"/>
          </a:p>
        </p:txBody>
      </p:sp>
      <p:sp>
        <p:nvSpPr>
          <p:cNvPr id="14" name="text-138"/>
          <p:cNvSpPr txBox="1"/>
          <p:nvPr/>
        </p:nvSpPr>
        <p:spPr>
          <a:xfrm>
            <a:off x="8595360" y="5230368"/>
            <a:ext cx="2590495" cy="365760"/>
          </a:xfrm>
          <a:prstGeom prst="rect">
            <a:avLst/>
          </a:prstGeom>
          <a:noFill/>
          <a:ln/>
        </p:spPr>
        <p:txBody>
          <a:bodyPr wrap="square" lIns="0" tIns="0" rIns="0" bIns="0" rtlCol="0" anchor="t"/>
          <a:lstStyle/>
          <a:p>
            <a:pPr indent="0" marL="0">
              <a:buNone/>
            </a:pPr>
            <a:r>
              <a:rPr lang="en-US" sz="1500" dirty="0">
                <a:solidFill>
                  <a:srgbClr val="C9CDE8"/>
                </a:solidFill>
              </a:rPr>
              <a:t>to generate each suite</a:t>
            </a:r>
            <a:endParaRPr lang="en-US" sz="1500" dirty="0"/>
          </a:p>
        </p:txBody>
      </p:sp>
      <p:sp>
        <p:nvSpPr>
          <p:cNvPr id="15" name="text-139"/>
          <p:cNvSpPr txBox="1"/>
          <p:nvPr/>
        </p:nvSpPr>
        <p:spPr>
          <a:xfrm>
            <a:off x="8321040" y="5897880"/>
            <a:ext cx="3139135" cy="457200"/>
          </a:xfrm>
          <a:prstGeom prst="rect">
            <a:avLst/>
          </a:prstGeom>
          <a:noFill/>
          <a:ln/>
        </p:spPr>
        <p:txBody>
          <a:bodyPr wrap="square" lIns="0" tIns="0" rIns="0" bIns="0" rtlCol="0" anchor="t"/>
          <a:lstStyle/>
          <a:p>
            <a:pPr indent="0" marL="0">
              <a:buNone/>
            </a:pPr>
            <a:r>
              <a:rPr lang="en-US" sz="1200" dirty="0">
                <a:solidFill>
                  <a:srgbClr val="9AA0C8"/>
                </a:solidFill>
              </a:rPr>
              <a:t>Random: same test count, 3 seeds,</a:t>
            </a:r>
            <a:endParaRPr lang="en-US" sz="1200" dirty="0"/>
          </a:p>
          <a:p>
            <a:pPr indent="0" marL="0">
              <a:buNone/>
            </a:pPr>
            <a:r>
              <a:rPr lang="en-US" sz="1200" dirty="0">
                <a:solidFill>
                  <a:srgbClr val="9AA0C8"/>
                </a:solidFill>
              </a:rPr>
              <a:t>uniform values in [-1000, 1000].</a:t>
            </a:r>
            <a:endParaRPr lang="en-US" sz="12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9AA0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rgbClr val="AAB6FF"/>
                </a:solidFill>
              </a:rPr>
              <a:t>CASE STUDY · BRANCH COVERAGE</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bg1"/>
                </a:solidFill>
              </a:rPr>
              <a:t>A menu-driven bank system in C</a:t>
            </a:r>
            <a:endParaRPr lang="en-US" sz="3400" dirty="0"/>
          </a:p>
        </p:txBody>
      </p:sp>
      <p:sp>
        <p:nvSpPr>
          <p:cNvPr id="5" name="text-140"/>
          <p:cNvSpPr txBox="1"/>
          <p:nvPr/>
        </p:nvSpPr>
        <p:spPr>
          <a:xfrm>
            <a:off x="731520" y="1965960"/>
            <a:ext cx="2743200" cy="1188720"/>
          </a:xfrm>
          <a:prstGeom prst="rect">
            <a:avLst/>
          </a:prstGeom>
          <a:noFill/>
          <a:ln/>
        </p:spPr>
        <p:txBody>
          <a:bodyPr wrap="square" lIns="0" tIns="0" rIns="0" bIns="0" rtlCol="0" anchor="t"/>
          <a:lstStyle/>
          <a:p>
            <a:pPr indent="0" marL="0">
              <a:buNone/>
            </a:pPr>
            <a:r>
              <a:rPr lang="en-US" sz="7200" b="1" dirty="0">
                <a:solidFill>
                  <a:srgbClr val="9AA0C8"/>
                </a:solidFill>
              </a:rPr>
              <a:t>12%</a:t>
            </a:r>
            <a:endParaRPr lang="en-US" sz="7200" dirty="0"/>
          </a:p>
        </p:txBody>
      </p:sp>
      <p:sp>
        <p:nvSpPr>
          <p:cNvPr id="6" name="text-141"/>
          <p:cNvSpPr txBox="1"/>
          <p:nvPr/>
        </p:nvSpPr>
        <p:spPr>
          <a:xfrm>
            <a:off x="731520" y="3200400"/>
            <a:ext cx="2743200" cy="457200"/>
          </a:xfrm>
          <a:prstGeom prst="rect">
            <a:avLst/>
          </a:prstGeom>
          <a:noFill/>
          <a:ln/>
        </p:spPr>
        <p:txBody>
          <a:bodyPr wrap="square" lIns="0" tIns="0" rIns="0" bIns="0" rtlCol="0" anchor="t"/>
          <a:lstStyle/>
          <a:p>
            <a:pPr indent="0" marL="0">
              <a:buNone/>
            </a:pPr>
            <a:r>
              <a:rPr lang="en-US" sz="1700" dirty="0">
                <a:solidFill>
                  <a:srgbClr val="C9CDE8"/>
                </a:solidFill>
              </a:rPr>
              <a:t>before</a:t>
            </a:r>
            <a:endParaRPr lang="en-US" sz="1700" dirty="0"/>
          </a:p>
        </p:txBody>
      </p:sp>
      <p:sp>
        <p:nvSpPr>
          <p:cNvPr id="7" name="arrow-142"/>
          <p:cNvSpPr/>
          <p:nvPr/>
        </p:nvSpPr>
        <p:spPr>
          <a:xfrm>
            <a:off x="3703320" y="2423160"/>
            <a:ext cx="384048" cy="237744"/>
          </a:xfrm>
          <a:prstGeom prst="rightArrow">
            <a:avLst/>
          </a:prstGeom>
          <a:solidFill>
            <a:srgbClr val="AAB6FF"/>
          </a:solidFill>
          <a:ln/>
        </p:spPr>
      </p:sp>
      <p:sp>
        <p:nvSpPr>
          <p:cNvPr id="8" name="text-143"/>
          <p:cNvSpPr txBox="1"/>
          <p:nvPr/>
        </p:nvSpPr>
        <p:spPr>
          <a:xfrm>
            <a:off x="4343400" y="1965960"/>
            <a:ext cx="2743200" cy="1188720"/>
          </a:xfrm>
          <a:prstGeom prst="rect">
            <a:avLst/>
          </a:prstGeom>
          <a:noFill/>
          <a:ln/>
        </p:spPr>
        <p:txBody>
          <a:bodyPr wrap="square" lIns="0" tIns="0" rIns="0" bIns="0" rtlCol="0" anchor="t"/>
          <a:lstStyle/>
          <a:p>
            <a:pPr indent="0" marL="0">
              <a:buNone/>
            </a:pPr>
            <a:r>
              <a:rPr lang="en-US" sz="7200" b="1" dirty="0">
                <a:solidFill>
                  <a:srgbClr val="C6B3FF"/>
                </a:solidFill>
              </a:rPr>
              <a:t>44%</a:t>
            </a:r>
            <a:endParaRPr lang="en-US" sz="7200" dirty="0"/>
          </a:p>
        </p:txBody>
      </p:sp>
      <p:sp>
        <p:nvSpPr>
          <p:cNvPr id="9" name="text-144"/>
          <p:cNvSpPr txBox="1"/>
          <p:nvPr/>
        </p:nvSpPr>
        <p:spPr>
          <a:xfrm>
            <a:off x="4343400" y="3200400"/>
            <a:ext cx="2743200" cy="457200"/>
          </a:xfrm>
          <a:prstGeom prst="rect">
            <a:avLst/>
          </a:prstGeom>
          <a:noFill/>
          <a:ln/>
        </p:spPr>
        <p:txBody>
          <a:bodyPr wrap="square" lIns="0" tIns="0" rIns="0" bIns="0" rtlCol="0" anchor="t"/>
          <a:lstStyle/>
          <a:p>
            <a:pPr indent="0" marL="0">
              <a:buNone/>
            </a:pPr>
            <a:r>
              <a:rPr lang="en-US" sz="1700" dirty="0">
                <a:solidFill>
                  <a:srgbClr val="C9CDE8"/>
                </a:solidFill>
              </a:rPr>
              <a:t>switch cases tested</a:t>
            </a:r>
            <a:endParaRPr lang="en-US" sz="1700" dirty="0"/>
          </a:p>
        </p:txBody>
      </p:sp>
      <p:sp>
        <p:nvSpPr>
          <p:cNvPr id="10" name="arrow-145"/>
          <p:cNvSpPr/>
          <p:nvPr/>
        </p:nvSpPr>
        <p:spPr>
          <a:xfrm>
            <a:off x="7315200" y="2423160"/>
            <a:ext cx="384048" cy="237744"/>
          </a:xfrm>
          <a:prstGeom prst="rightArrow">
            <a:avLst/>
          </a:prstGeom>
          <a:solidFill>
            <a:srgbClr val="AAB6FF"/>
          </a:solidFill>
          <a:ln/>
        </p:spPr>
      </p:sp>
      <p:sp>
        <p:nvSpPr>
          <p:cNvPr id="11" name="text-146"/>
          <p:cNvSpPr txBox="1"/>
          <p:nvPr/>
        </p:nvSpPr>
        <p:spPr>
          <a:xfrm>
            <a:off x="7955280" y="1965960"/>
            <a:ext cx="2743200" cy="1188720"/>
          </a:xfrm>
          <a:prstGeom prst="rect">
            <a:avLst/>
          </a:prstGeom>
          <a:noFill/>
          <a:ln/>
        </p:spPr>
        <p:txBody>
          <a:bodyPr wrap="square" lIns="0" tIns="0" rIns="0" bIns="0" rtlCol="0" anchor="t"/>
          <a:lstStyle/>
          <a:p>
            <a:pPr indent="0" marL="0">
              <a:buNone/>
            </a:pPr>
            <a:r>
              <a:rPr lang="en-US" sz="7200" b="1" dirty="0">
                <a:solidFill>
                  <a:srgbClr val="90E2B6"/>
                </a:solidFill>
              </a:rPr>
              <a:t>58%</a:t>
            </a:r>
            <a:endParaRPr lang="en-US" sz="7200" dirty="0"/>
          </a:p>
        </p:txBody>
      </p:sp>
      <p:sp>
        <p:nvSpPr>
          <p:cNvPr id="12" name="text-147"/>
          <p:cNvSpPr txBox="1"/>
          <p:nvPr/>
        </p:nvSpPr>
        <p:spPr>
          <a:xfrm>
            <a:off x="7955280" y="3200400"/>
            <a:ext cx="2743200" cy="457200"/>
          </a:xfrm>
          <a:prstGeom prst="rect">
            <a:avLst/>
          </a:prstGeom>
          <a:noFill/>
          <a:ln/>
        </p:spPr>
        <p:txBody>
          <a:bodyPr wrap="square" lIns="0" tIns="0" rIns="0" bIns="0" rtlCol="0" anchor="t"/>
          <a:lstStyle/>
          <a:p>
            <a:pPr indent="0" marL="0">
              <a:buNone/>
            </a:pPr>
            <a:r>
              <a:rPr lang="en-US" sz="1700" dirty="0">
                <a:solidFill>
                  <a:srgbClr val="C9CDE8"/>
                </a:solidFill>
              </a:rPr>
              <a:t>each path gets its own inputs</a:t>
            </a:r>
            <a:endParaRPr lang="en-US" sz="1700" dirty="0"/>
          </a:p>
        </p:txBody>
      </p:sp>
      <p:sp>
        <p:nvSpPr>
          <p:cNvPr id="13" name="card-148"/>
          <p:cNvSpPr/>
          <p:nvPr/>
        </p:nvSpPr>
        <p:spPr>
          <a:xfrm>
            <a:off x="731520" y="4069080"/>
            <a:ext cx="3393338" cy="1600200"/>
          </a:xfrm>
          <a:prstGeom prst="roundRect">
            <a:avLst>
              <a:gd name="adj" fmla="val 6857"/>
            </a:avLst>
          </a:prstGeom>
          <a:solidFill>
            <a:srgbClr val="2A2F55"/>
          </a:solidFill>
          <a:ln/>
        </p:spPr>
      </p:sp>
      <p:sp>
        <p:nvSpPr>
          <p:cNvPr id="14" name="text-149"/>
          <p:cNvSpPr txBox="1"/>
          <p:nvPr/>
        </p:nvSpPr>
        <p:spPr>
          <a:xfrm>
            <a:off x="1005840" y="4251960"/>
            <a:ext cx="2844698" cy="548640"/>
          </a:xfrm>
          <a:prstGeom prst="rect">
            <a:avLst/>
          </a:prstGeom>
          <a:noFill/>
          <a:ln/>
        </p:spPr>
        <p:txBody>
          <a:bodyPr wrap="square" lIns="0" tIns="0" rIns="0" bIns="0" rtlCol="0" anchor="t"/>
          <a:lstStyle/>
          <a:p>
            <a:pPr indent="0" marL="0">
              <a:buNone/>
            </a:pPr>
            <a:r>
              <a:rPr lang="en-US" sz="2800" b="1" dirty="0">
                <a:solidFill>
                  <a:schemeClr val="bg1"/>
                </a:solidFill>
              </a:rPr>
              <a:t>22 of 25</a:t>
            </a:r>
            <a:endParaRPr lang="en-US" sz="2800" dirty="0"/>
          </a:p>
        </p:txBody>
      </p:sp>
      <p:sp>
        <p:nvSpPr>
          <p:cNvPr id="15" name="text-150"/>
          <p:cNvSpPr txBox="1"/>
          <p:nvPr/>
        </p:nvSpPr>
        <p:spPr>
          <a:xfrm>
            <a:off x="1005840" y="4846320"/>
            <a:ext cx="2844698" cy="685800"/>
          </a:xfrm>
          <a:prstGeom prst="rect">
            <a:avLst/>
          </a:prstGeom>
          <a:noFill/>
          <a:ln/>
        </p:spPr>
        <p:txBody>
          <a:bodyPr wrap="square" lIns="0" tIns="0" rIns="0" bIns="0" rtlCol="0" anchor="t"/>
          <a:lstStyle/>
          <a:p>
            <a:pPr indent="0" marL="0">
              <a:buNone/>
            </a:pPr>
            <a:r>
              <a:rPr lang="en-US" sz="1500" dirty="0">
                <a:solidFill>
                  <a:srgbClr val="C9CDE8"/>
                </a:solidFill>
              </a:rPr>
              <a:t>conditions saw an outcome (was 3)</a:t>
            </a:r>
            <a:endParaRPr lang="en-US" sz="1500" dirty="0"/>
          </a:p>
        </p:txBody>
      </p:sp>
      <p:sp>
        <p:nvSpPr>
          <p:cNvPr id="16" name="card-151"/>
          <p:cNvSpPr/>
          <p:nvPr/>
        </p:nvSpPr>
        <p:spPr>
          <a:xfrm>
            <a:off x="4399178" y="4069080"/>
            <a:ext cx="3393338" cy="1600200"/>
          </a:xfrm>
          <a:prstGeom prst="roundRect">
            <a:avLst>
              <a:gd name="adj" fmla="val 6857"/>
            </a:avLst>
          </a:prstGeom>
          <a:solidFill>
            <a:srgbClr val="2A2F55"/>
          </a:solidFill>
          <a:ln/>
        </p:spPr>
      </p:sp>
      <p:sp>
        <p:nvSpPr>
          <p:cNvPr id="17" name="text-152"/>
          <p:cNvSpPr txBox="1"/>
          <p:nvPr/>
        </p:nvSpPr>
        <p:spPr>
          <a:xfrm>
            <a:off x="4673498" y="4251960"/>
            <a:ext cx="2844698" cy="548640"/>
          </a:xfrm>
          <a:prstGeom prst="rect">
            <a:avLst/>
          </a:prstGeom>
          <a:noFill/>
          <a:ln/>
        </p:spPr>
        <p:txBody>
          <a:bodyPr wrap="square" lIns="0" tIns="0" rIns="0" bIns="0" rtlCol="0" anchor="t"/>
          <a:lstStyle/>
          <a:p>
            <a:pPr indent="0" marL="0">
              <a:buNone/>
            </a:pPr>
            <a:r>
              <a:rPr lang="en-US" sz="2800" b="1" dirty="0">
                <a:solidFill>
                  <a:schemeClr val="bg1"/>
                </a:solidFill>
              </a:rPr>
              <a:t>All 8 options</a:t>
            </a:r>
            <a:endParaRPr lang="en-US" sz="2800" dirty="0"/>
          </a:p>
        </p:txBody>
      </p:sp>
      <p:sp>
        <p:nvSpPr>
          <p:cNvPr id="18" name="text-153"/>
          <p:cNvSpPr txBox="1"/>
          <p:nvPr/>
        </p:nvSpPr>
        <p:spPr>
          <a:xfrm>
            <a:off x="4673498" y="4846320"/>
            <a:ext cx="2844698" cy="685800"/>
          </a:xfrm>
          <a:prstGeom prst="rect">
            <a:avLst/>
          </a:prstGeom>
          <a:noFill/>
          <a:ln/>
        </p:spPr>
        <p:txBody>
          <a:bodyPr wrap="square" lIns="0" tIns="0" rIns="0" bIns="0" rtlCol="0" anchor="t"/>
          <a:lstStyle/>
          <a:p>
            <a:pPr indent="0" marL="0">
              <a:buNone/>
            </a:pPr>
            <a:r>
              <a:rPr lang="en-US" sz="1500" dirty="0">
                <a:solidFill>
                  <a:srgbClr val="C9CDE8"/>
                </a:solidFill>
              </a:rPr>
              <a:t>of the menu run, plus invalid choices</a:t>
            </a:r>
            <a:endParaRPr lang="en-US" sz="1500" dirty="0"/>
          </a:p>
        </p:txBody>
      </p:sp>
      <p:sp>
        <p:nvSpPr>
          <p:cNvPr id="19" name="card-154"/>
          <p:cNvSpPr/>
          <p:nvPr/>
        </p:nvSpPr>
        <p:spPr>
          <a:xfrm>
            <a:off x="8066837" y="4069080"/>
            <a:ext cx="3393338" cy="1600200"/>
          </a:xfrm>
          <a:prstGeom prst="roundRect">
            <a:avLst>
              <a:gd name="adj" fmla="val 6857"/>
            </a:avLst>
          </a:prstGeom>
          <a:solidFill>
            <a:srgbClr val="2A2F55"/>
          </a:solidFill>
          <a:ln/>
        </p:spPr>
      </p:sp>
      <p:sp>
        <p:nvSpPr>
          <p:cNvPr id="20" name="text-155"/>
          <p:cNvSpPr txBox="1"/>
          <p:nvPr/>
        </p:nvSpPr>
        <p:spPr>
          <a:xfrm>
            <a:off x="8341157" y="4251960"/>
            <a:ext cx="2844698" cy="548640"/>
          </a:xfrm>
          <a:prstGeom prst="rect">
            <a:avLst/>
          </a:prstGeom>
          <a:noFill/>
          <a:ln/>
        </p:spPr>
        <p:txBody>
          <a:bodyPr wrap="square" lIns="0" tIns="0" rIns="0" bIns="0" rtlCol="0" anchor="t"/>
          <a:lstStyle/>
          <a:p>
            <a:pPr indent="0" marL="0">
              <a:buNone/>
            </a:pPr>
            <a:r>
              <a:rPr lang="en-US" sz="2800" b="1" dirty="0">
                <a:solidFill>
                  <a:schemeClr val="bg1"/>
                </a:solidFill>
              </a:rPr>
              <a:t>107 of 145</a:t>
            </a:r>
            <a:endParaRPr lang="en-US" sz="2800" dirty="0"/>
          </a:p>
        </p:txBody>
      </p:sp>
      <p:sp>
        <p:nvSpPr>
          <p:cNvPr id="21" name="text-156"/>
          <p:cNvSpPr txBox="1"/>
          <p:nvPr/>
        </p:nvSpPr>
        <p:spPr>
          <a:xfrm>
            <a:off x="8341157" y="4846320"/>
            <a:ext cx="2844698" cy="685800"/>
          </a:xfrm>
          <a:prstGeom prst="rect">
            <a:avLst/>
          </a:prstGeom>
          <a:noFill/>
          <a:ln/>
        </p:spPr>
        <p:txBody>
          <a:bodyPr wrap="square" lIns="0" tIns="0" rIns="0" bIns="0" rtlCol="0" anchor="t"/>
          <a:lstStyle/>
          <a:p>
            <a:pPr indent="0" marL="0">
              <a:buNone/>
            </a:pPr>
            <a:r>
              <a:rPr lang="en-US" sz="1500" dirty="0">
                <a:solidFill>
                  <a:srgbClr val="C9CDE8"/>
                </a:solidFill>
              </a:rPr>
              <a:t>statements ran: 73.8% statement coverage</a:t>
            </a:r>
            <a:endParaRPr lang="en-US" sz="15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9AA0C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TESTING THE TESTER</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A 100% display is never taken as proof</a:t>
            </a:r>
            <a:endParaRPr lang="en-US" sz="3400" dirty="0"/>
          </a:p>
        </p:txBody>
      </p:sp>
      <p:sp>
        <p:nvSpPr>
          <p:cNvPr id="5" name="card-157"/>
          <p:cNvSpPr/>
          <p:nvPr/>
        </p:nvSpPr>
        <p:spPr>
          <a:xfrm>
            <a:off x="731520" y="1920240"/>
            <a:ext cx="3657600" cy="1554480"/>
          </a:xfrm>
          <a:prstGeom prst="roundRect">
            <a:avLst>
              <a:gd name="adj" fmla="val 7059"/>
            </a:avLst>
          </a:prstGeom>
          <a:solidFill>
            <a:srgbClr val="E6EBFF"/>
          </a:solidFill>
          <a:ln/>
        </p:spPr>
      </p:sp>
      <p:sp>
        <p:nvSpPr>
          <p:cNvPr id="6" name="text-158"/>
          <p:cNvSpPr txBox="1"/>
          <p:nvPr/>
        </p:nvSpPr>
        <p:spPr>
          <a:xfrm>
            <a:off x="1051560" y="2011680"/>
            <a:ext cx="3017520" cy="914400"/>
          </a:xfrm>
          <a:prstGeom prst="rect">
            <a:avLst/>
          </a:prstGeom>
          <a:noFill/>
          <a:ln/>
        </p:spPr>
        <p:txBody>
          <a:bodyPr wrap="square" lIns="0" tIns="0" rIns="0" bIns="0" rtlCol="0" anchor="t"/>
          <a:lstStyle/>
          <a:p>
            <a:pPr indent="0" marL="0">
              <a:buNone/>
            </a:pPr>
            <a:r>
              <a:rPr lang="en-US" sz="6000" b="1" dirty="0">
                <a:solidFill>
                  <a:srgbClr val="3B3F9E"/>
                </a:solidFill>
              </a:rPr>
              <a:t>242</a:t>
            </a:r>
            <a:endParaRPr lang="en-US" sz="6000" dirty="0"/>
          </a:p>
        </p:txBody>
      </p:sp>
      <p:sp>
        <p:nvSpPr>
          <p:cNvPr id="7" name="text-159"/>
          <p:cNvSpPr txBox="1"/>
          <p:nvPr/>
        </p:nvSpPr>
        <p:spPr>
          <a:xfrm>
            <a:off x="1051560" y="2926080"/>
            <a:ext cx="3017520" cy="411480"/>
          </a:xfrm>
          <a:prstGeom prst="rect">
            <a:avLst/>
          </a:prstGeom>
          <a:noFill/>
          <a:ln/>
        </p:spPr>
        <p:txBody>
          <a:bodyPr wrap="square" lIns="0" tIns="0" rIns="0" bIns="0" rtlCol="0" anchor="t"/>
          <a:lstStyle/>
          <a:p>
            <a:pPr indent="0" marL="0">
              <a:buNone/>
            </a:pPr>
            <a:r>
              <a:rPr lang="en-US" sz="1700" dirty="0">
                <a:solidFill>
                  <a:srgbClr val="3B3F9E"/>
                </a:solidFill>
              </a:rPr>
              <a:t>automated tests, all passing</a:t>
            </a:r>
            <a:endParaRPr lang="en-US" sz="1700" dirty="0"/>
          </a:p>
        </p:txBody>
      </p:sp>
      <p:sp>
        <p:nvSpPr>
          <p:cNvPr id="8" name="text-160"/>
          <p:cNvSpPr txBox="1"/>
          <p:nvPr/>
        </p:nvSpPr>
        <p:spPr>
          <a:xfrm>
            <a:off x="731520" y="3749040"/>
            <a:ext cx="3657600" cy="1463040"/>
          </a:xfrm>
          <a:prstGeom prst="rect">
            <a:avLst/>
          </a:prstGeom>
          <a:noFill/>
          <a:ln/>
        </p:spPr>
        <p:txBody>
          <a:bodyPr wrap="square" lIns="0" tIns="0" rIns="0" bIns="0" rtlCol="0" anchor="t"/>
          <a:lstStyle/>
          <a:p>
            <a:pPr indent="0" marL="0">
              <a:buNone/>
            </a:pPr>
            <a:r>
              <a:rPr lang="en-US" sz="1700" dirty="0">
                <a:solidFill>
                  <a:schemeClr val="tx2"/>
                </a:solidFill>
              </a:rPr>
              <a:t>Every output is compared with a reference program, and expected coverage is recomputed from the real inputs.</a:t>
            </a:r>
            <a:endParaRPr lang="en-US" sz="1700" dirty="0"/>
          </a:p>
        </p:txBody>
      </p:sp>
      <p:sp>
        <p:nvSpPr>
          <p:cNvPr id="9" name="card-161"/>
          <p:cNvSpPr/>
          <p:nvPr/>
        </p:nvSpPr>
        <p:spPr>
          <a:xfrm>
            <a:off x="4663440" y="1920240"/>
            <a:ext cx="6796735" cy="3794760"/>
          </a:xfrm>
          <a:prstGeom prst="roundRect">
            <a:avLst>
              <a:gd name="adj" fmla="val 2892"/>
            </a:avLst>
          </a:prstGeom>
          <a:solidFill>
            <a:srgbClr val="FDFDFF"/>
          </a:solidFill>
          <a:ln w="12700">
            <a:solidFill>
              <a:srgbClr val="E1E4F5"/>
            </a:solidFill>
            <a:prstDash val="solid"/>
          </a:ln>
        </p:spPr>
      </p:sp>
      <p:sp>
        <p:nvSpPr>
          <p:cNvPr id="10" name="text-162"/>
          <p:cNvSpPr txBox="1"/>
          <p:nvPr/>
        </p:nvSpPr>
        <p:spPr>
          <a:xfrm>
            <a:off x="4937760" y="2103120"/>
            <a:ext cx="6248095" cy="320040"/>
          </a:xfrm>
          <a:prstGeom prst="rect">
            <a:avLst/>
          </a:prstGeom>
          <a:noFill/>
          <a:ln/>
        </p:spPr>
        <p:txBody>
          <a:bodyPr wrap="square" lIns="0" tIns="0" rIns="0" bIns="0" rtlCol="0" anchor="t"/>
          <a:lstStyle/>
          <a:p>
            <a:pPr indent="0" marL="0">
              <a:buNone/>
            </a:pPr>
            <a:r>
              <a:rPr lang="en-US" sz="1300" b="1" spc="100" kern="0" dirty="0">
                <a:solidFill>
                  <a:srgbClr val="6B7190"/>
                </a:solidFill>
              </a:rPr>
              <a:t>REAL BUGS THESE CHECKS CAUGHT</a:t>
            </a:r>
            <a:endParaRPr lang="en-US" sz="1300" dirty="0"/>
          </a:p>
        </p:txBody>
      </p:sp>
      <p:graphicFrame>
        <p:nvGraphicFramePr>
          <p:cNvPr id="16" name="table-163"/>
          <p:cNvGraphicFramePr>
            <a:graphicFrameLocks noGrp="1"/>
          </p:cNvGraphicFramePr>
          <p:nvPr>
            <p:extLst>
              <p:ext uri="{D42A27DB-BD31-4B8C-83A1-F6EECF244321}">
                <p14:modId xmlns:p14="http://schemas.microsoft.com/office/powerpoint/2010/main" val="1579011935"/>
              </p:ext>
            </p:extLst>
          </p:nvPr>
        </p:nvGraphicFramePr>
        <p:xfrm>
          <a:off x="4937760" y="2560320"/>
          <a:ext cx="6248095" cy="914400"/>
        </p:xfrm>
        <a:graphic>
          <a:graphicData uri="http://schemas.openxmlformats.org/drawingml/2006/table">
            <a:tbl>
              <a:tblPr/>
              <a:tblGrid>
                <a:gridCol w="3931920"/>
                <a:gridCol w="2316175"/>
              </a:tblGrid>
              <a:tr h="566928">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found</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fixed by</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Python values swapped between variables</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read order from the AST</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Java Scanner programs hung on every test</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always supplying stdin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 scanf read garbage yet showed as passed</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values on stdin per path</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56692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Parser library crashed on large switches</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pinned tree-sitter 0.25.2</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LIMITS AND FUTURE WORK</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What BranchLab does not do yet</a:t>
            </a:r>
            <a:endParaRPr lang="en-US" sz="3400" dirty="0"/>
          </a:p>
        </p:txBody>
      </p:sp>
      <p:sp>
        <p:nvSpPr>
          <p:cNvPr id="5" name="card-164"/>
          <p:cNvSpPr/>
          <p:nvPr/>
        </p:nvSpPr>
        <p:spPr>
          <a:xfrm>
            <a:off x="731520" y="1920240"/>
            <a:ext cx="5227168" cy="3154680"/>
          </a:xfrm>
          <a:prstGeom prst="roundRect">
            <a:avLst>
              <a:gd name="adj" fmla="val 3478"/>
            </a:avLst>
          </a:prstGeom>
          <a:solidFill>
            <a:srgbClr val="FDFDFF"/>
          </a:solidFill>
          <a:ln w="12700">
            <a:solidFill>
              <a:srgbClr val="E1E4F5"/>
            </a:solidFill>
            <a:prstDash val="solid"/>
          </a:ln>
        </p:spPr>
      </p:sp>
      <p:sp>
        <p:nvSpPr>
          <p:cNvPr id="6" name="text-165"/>
          <p:cNvSpPr txBox="1"/>
          <p:nvPr/>
        </p:nvSpPr>
        <p:spPr>
          <a:xfrm>
            <a:off x="1051560" y="2103120"/>
            <a:ext cx="4587088" cy="457200"/>
          </a:xfrm>
          <a:prstGeom prst="rect">
            <a:avLst/>
          </a:prstGeom>
          <a:noFill/>
          <a:ln/>
        </p:spPr>
        <p:txBody>
          <a:bodyPr wrap="square" lIns="0" tIns="0" rIns="0" bIns="0" rtlCol="0" anchor="t"/>
          <a:lstStyle/>
          <a:p>
            <a:pPr indent="0" marL="0">
              <a:buNone/>
            </a:pPr>
            <a:r>
              <a:rPr lang="en-US" sz="2200" b="1" dirty="0">
                <a:solidFill>
                  <a:srgbClr val="A1213F"/>
                </a:solidFill>
              </a:rPr>
              <a:t>Today</a:t>
            </a:r>
            <a:endParaRPr lang="en-US" sz="2200" dirty="0"/>
          </a:p>
        </p:txBody>
      </p:sp>
      <p:sp>
        <p:nvSpPr>
          <p:cNvPr id="7" name="text-166"/>
          <p:cNvSpPr txBox="1"/>
          <p:nvPr/>
        </p:nvSpPr>
        <p:spPr>
          <a:xfrm>
            <a:off x="1051560" y="2697480"/>
            <a:ext cx="4587088" cy="22402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2"/>
                </a:solidFill>
              </a:rPr>
              <a:t>One run, one set of values: no multi-step sequences</a:t>
            </a:r>
            <a:endParaRPr lang="en-US" sz="1700" dirty="0"/>
          </a:p>
          <a:p>
            <a:pPr marL="342900" indent="-342900">
              <a:spcAft>
                <a:spcPts val="600"/>
              </a:spcAft>
              <a:buSzPct val="100000"/>
              <a:buChar char="•"/>
            </a:pPr>
            <a:r>
              <a:rPr lang="en-US" sz="1700" dirty="0">
                <a:solidFill>
                  <a:schemeClr val="tx2"/>
                </a:solidFill>
              </a:rPr>
              <a:t>Conditions like x &gt; y or strlen(s) &gt; 5 are not analyzed</a:t>
            </a:r>
            <a:endParaRPr lang="en-US" sz="1700" dirty="0"/>
          </a:p>
          <a:p>
            <a:pPr marL="342900" indent="-342900">
              <a:spcAft>
                <a:spcPts val="600"/>
              </a:spcAft>
              <a:buSzPct val="100000"/>
              <a:buChar char="•"/>
            </a:pPr>
            <a:r>
              <a:rPr lang="en-US" sz="1700" dirty="0">
                <a:solidFill>
                  <a:schemeClr val="tx2"/>
                </a:solidFill>
              </a:rPr>
              <a:t>for, switch and ?: run but are not counted in branch coverage</a:t>
            </a:r>
            <a:endParaRPr lang="en-US" sz="1700" dirty="0"/>
          </a:p>
          <a:p>
            <a:pPr marL="342900" indent="-342900">
              <a:spcAft>
                <a:spcPts val="600"/>
              </a:spcAft>
              <a:buSzPct val="100000"/>
              <a:buChar char="•"/>
            </a:pPr>
            <a:r>
              <a:rPr lang="en-US" sz="1700" dirty="0">
                <a:solidFill>
                  <a:schemeClr val="tx2"/>
                </a:solidFill>
              </a:rPr>
              <a:t>Isolation contains crashes, but is not a security sandbox</a:t>
            </a:r>
            <a:endParaRPr lang="en-US" sz="1700" dirty="0"/>
          </a:p>
        </p:txBody>
      </p:sp>
      <p:sp>
        <p:nvSpPr>
          <p:cNvPr id="8" name="card-167"/>
          <p:cNvSpPr/>
          <p:nvPr/>
        </p:nvSpPr>
        <p:spPr>
          <a:xfrm>
            <a:off x="6233008" y="1920240"/>
            <a:ext cx="5227168" cy="3154680"/>
          </a:xfrm>
          <a:prstGeom prst="roundRect">
            <a:avLst>
              <a:gd name="adj" fmla="val 3478"/>
            </a:avLst>
          </a:prstGeom>
          <a:solidFill>
            <a:srgbClr val="FDFDFF"/>
          </a:solidFill>
          <a:ln w="12700">
            <a:solidFill>
              <a:srgbClr val="E1E4F5"/>
            </a:solidFill>
            <a:prstDash val="solid"/>
          </a:ln>
        </p:spPr>
      </p:sp>
      <p:sp>
        <p:nvSpPr>
          <p:cNvPr id="9" name="text-168"/>
          <p:cNvSpPr txBox="1"/>
          <p:nvPr/>
        </p:nvSpPr>
        <p:spPr>
          <a:xfrm>
            <a:off x="6553048" y="2103120"/>
            <a:ext cx="4587088" cy="457200"/>
          </a:xfrm>
          <a:prstGeom prst="rect">
            <a:avLst/>
          </a:prstGeom>
          <a:noFill/>
          <a:ln/>
        </p:spPr>
        <p:txBody>
          <a:bodyPr wrap="square" lIns="0" tIns="0" rIns="0" bIns="0" rtlCol="0" anchor="t"/>
          <a:lstStyle/>
          <a:p>
            <a:pPr indent="0" marL="0">
              <a:buNone/>
            </a:pPr>
            <a:r>
              <a:rPr lang="en-US" sz="2200" b="1" dirty="0">
                <a:solidFill>
                  <a:srgbClr val="19673F"/>
                </a:solidFill>
              </a:rPr>
              <a:t>Next</a:t>
            </a:r>
            <a:endParaRPr lang="en-US" sz="2200" dirty="0"/>
          </a:p>
        </p:txBody>
      </p:sp>
      <p:sp>
        <p:nvSpPr>
          <p:cNvPr id="10" name="text-169"/>
          <p:cNvSpPr txBox="1"/>
          <p:nvPr/>
        </p:nvSpPr>
        <p:spPr>
          <a:xfrm>
            <a:off x="6553048" y="2697480"/>
            <a:ext cx="4587088" cy="22402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2"/>
                </a:solidFill>
              </a:rPr>
              <a:t>Input sequences for stateful programs</a:t>
            </a:r>
            <a:endParaRPr lang="en-US" sz="1700" dirty="0"/>
          </a:p>
          <a:p>
            <a:pPr marL="342900" indent="-342900">
              <a:spcAft>
                <a:spcPts val="600"/>
              </a:spcAft>
              <a:buSzPct val="100000"/>
              <a:buChar char="•"/>
            </a:pPr>
            <a:r>
              <a:rPr lang="en-US" sz="1700" dirty="0">
                <a:solidFill>
                  <a:schemeClr val="tx2"/>
                </a:solidFill>
              </a:rPr>
              <a:t>Symbolic execution for variable-to-variable conditions</a:t>
            </a:r>
            <a:endParaRPr lang="en-US" sz="1700" dirty="0"/>
          </a:p>
          <a:p>
            <a:pPr marL="342900" indent="-342900">
              <a:spcAft>
                <a:spcPts val="600"/>
              </a:spcAft>
              <a:buSzPct val="100000"/>
              <a:buChar char="•"/>
            </a:pPr>
            <a:r>
              <a:rPr lang="en-US" sz="1700" dirty="0">
                <a:solidFill>
                  <a:schemeClr val="tx2"/>
                </a:solidFill>
              </a:rPr>
              <a:t>Coverage for loops and switch cases</a:t>
            </a:r>
            <a:endParaRPr lang="en-US" sz="1700" dirty="0"/>
          </a:p>
          <a:p>
            <a:pPr marL="342900" indent="-342900">
              <a:spcAft>
                <a:spcPts val="600"/>
              </a:spcAft>
              <a:buSzPct val="100000"/>
              <a:buChar char="•"/>
            </a:pPr>
            <a:r>
              <a:rPr lang="en-US" sz="1700" dirty="0">
                <a:solidFill>
                  <a:schemeClr val="tx2"/>
                </a:solidFill>
              </a:rPr>
              <a:t>Container sandboxing for untrusted code</a:t>
            </a:r>
            <a:endParaRPr lang="en-US" sz="1700" dirty="0"/>
          </a:p>
        </p:txBody>
      </p:sp>
      <p:sp>
        <p:nvSpPr>
          <p:cNvPr id="11" name="text-170"/>
          <p:cNvSpPr txBox="1"/>
          <p:nvPr/>
        </p:nvSpPr>
        <p:spPr>
          <a:xfrm>
            <a:off x="731520" y="5349240"/>
            <a:ext cx="10728655" cy="457200"/>
          </a:xfrm>
          <a:prstGeom prst="rect">
            <a:avLst/>
          </a:prstGeom>
          <a:noFill/>
          <a:ln/>
        </p:spPr>
        <p:txBody>
          <a:bodyPr wrap="square" lIns="0" tIns="0" rIns="0" bIns="0" rtlCol="0" anchor="t"/>
          <a:lstStyle/>
          <a:p>
            <a:pPr indent="0" marL="0">
              <a:buNone/>
            </a:pPr>
            <a:r>
              <a:rPr lang="en-US" sz="1800" dirty="0">
                <a:solidFill>
                  <a:schemeClr val="tx2"/>
                </a:solidFill>
              </a:rPr>
              <a:t>Unreached branches are reported as </a:t>
            </a:r>
            <a:pPr indent="0" marL="0">
              <a:buNone/>
            </a:pPr>
            <a:r>
              <a:rPr lang="en-US" sz="1800" b="1" dirty="0">
                <a:solidFill>
                  <a:schemeClr val="tx1"/>
                </a:solidFill>
              </a:rPr>
              <a:t>missing</a:t>
            </a:r>
            <a:pPr indent="0" marL="0">
              <a:buNone/>
            </a:pPr>
            <a:r>
              <a:rPr lang="en-US" sz="1800" dirty="0">
                <a:solidFill>
                  <a:schemeClr val="tx2"/>
                </a:solidFill>
              </a:rPr>
              <a:t>, never hidden behind a higher number.</a:t>
            </a:r>
            <a:endParaRPr lang="en-US" sz="18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728655" cy="411480"/>
          </a:xfrm>
          <a:prstGeom prst="rect">
            <a:avLst/>
          </a:prstGeom>
          <a:noFill/>
          <a:ln/>
        </p:spPr>
        <p:txBody>
          <a:bodyPr wrap="square" lIns="0" tIns="0" rIns="0" bIns="0" rtlCol="0"/>
          <a:lstStyle/>
          <a:p>
            <a:pPr indent="0" marL="0">
              <a:buNone/>
            </a:pPr>
            <a:r>
              <a:rPr lang="en-US" sz="1600" b="1" spc="200" kern="0" dirty="0">
                <a:solidFill>
                  <a:schemeClr val="accent1"/>
                </a:solidFill>
              </a:rPr>
              <a:t>LIVE DEMO</a:t>
            </a:r>
            <a:endParaRPr lang="en-US" sz="1600" dirty="0"/>
          </a:p>
        </p:txBody>
      </p:sp>
      <p:sp>
        <p:nvSpPr>
          <p:cNvPr id="3" name="Text 0"/>
          <p:cNvSpPr/>
          <p:nvPr>
            <p:ph idx="101" type="title" hasCustomPrompt="1"/>
          </p:nvPr>
        </p:nvSpPr>
        <p:spPr>
          <a:xfrm>
            <a:off x="731520" y="1828800"/>
            <a:ext cx="10728655" cy="1234440"/>
          </a:xfrm>
          <a:prstGeom prst="rect">
            <a:avLst/>
          </a:prstGeom>
          <a:noFill/>
          <a:ln/>
        </p:spPr>
        <p:txBody>
          <a:bodyPr wrap="square" lIns="0" tIns="0" rIns="0" bIns="0" rtlCol="0" anchor="t"/>
          <a:lstStyle/>
          <a:p>
            <a:pPr algn="l" indent="0" marL="0">
              <a:buNone/>
            </a:pPr>
            <a:r>
              <a:rPr lang="en-US" sz="6600" b="1" dirty="0">
                <a:solidFill>
                  <a:schemeClr val="tx1"/>
                </a:solidFill>
              </a:rPr>
              <a:t>Thank you</a:t>
            </a:r>
            <a:endParaRPr lang="en-US" sz="6600" dirty="0"/>
          </a:p>
        </p:txBody>
      </p:sp>
      <p:sp>
        <p:nvSpPr>
          <p:cNvPr id="4" name="Text 0"/>
          <p:cNvSpPr/>
          <p:nvPr>
            <p:ph idx="102" type="body" hasCustomPrompt="1"/>
          </p:nvPr>
        </p:nvSpPr>
        <p:spPr>
          <a:xfrm>
            <a:off x="731520" y="3154680"/>
            <a:ext cx="9601200" cy="960120"/>
          </a:xfrm>
          <a:prstGeom prst="rect">
            <a:avLst/>
          </a:prstGeom>
          <a:noFill/>
          <a:ln/>
        </p:spPr>
        <p:txBody>
          <a:bodyPr wrap="square" lIns="0" tIns="0" rIns="0" bIns="0" rtlCol="0" anchor="t"/>
          <a:lstStyle/>
          <a:p>
            <a:pPr indent="0" marL="0">
              <a:buNone/>
            </a:pPr>
            <a:r>
              <a:rPr lang="en-US" sz="2600" dirty="0">
                <a:solidFill>
                  <a:schemeClr val="tx2"/>
                </a:solidFill>
              </a:rPr>
              <a:t>Questions, then a live run of the bank system in BranchLab.</a:t>
            </a:r>
            <a:endParaRPr lang="en-US" sz="2600" dirty="0"/>
          </a:p>
        </p:txBody>
      </p:sp>
      <p:sp>
        <p:nvSpPr>
          <p:cNvPr id="5" name="card-171"/>
          <p:cNvSpPr/>
          <p:nvPr/>
        </p:nvSpPr>
        <p:spPr>
          <a:xfrm>
            <a:off x="731520" y="4206240"/>
            <a:ext cx="7680960" cy="1874520"/>
          </a:xfrm>
          <a:prstGeom prst="roundRect">
            <a:avLst>
              <a:gd name="adj" fmla="val 5854"/>
            </a:avLst>
          </a:prstGeom>
          <a:solidFill>
            <a:srgbClr val="FDFDFF"/>
          </a:solidFill>
          <a:ln w="12700">
            <a:solidFill>
              <a:srgbClr val="E1E4F5"/>
            </a:solidFill>
            <a:prstDash val="solid"/>
          </a:ln>
        </p:spPr>
      </p:sp>
      <p:sp>
        <p:nvSpPr>
          <p:cNvPr id="6" name="text-172"/>
          <p:cNvSpPr txBox="1"/>
          <p:nvPr/>
        </p:nvSpPr>
        <p:spPr>
          <a:xfrm>
            <a:off x="1051560" y="4389120"/>
            <a:ext cx="7040880" cy="320040"/>
          </a:xfrm>
          <a:prstGeom prst="rect">
            <a:avLst/>
          </a:prstGeom>
          <a:noFill/>
          <a:ln/>
        </p:spPr>
        <p:txBody>
          <a:bodyPr wrap="square" lIns="0" tIns="0" rIns="0" bIns="0" rtlCol="0" anchor="t"/>
          <a:lstStyle/>
          <a:p>
            <a:pPr indent="0" marL="0">
              <a:buNone/>
            </a:pPr>
            <a:r>
              <a:rPr lang="en-US" sz="1300" b="1" spc="100" kern="0" dirty="0">
                <a:solidFill>
                  <a:srgbClr val="6B7190"/>
                </a:solidFill>
              </a:rPr>
              <a:t>RUN IT YOURSELF</a:t>
            </a:r>
            <a:endParaRPr lang="en-US" sz="1300" dirty="0"/>
          </a:p>
        </p:txBody>
      </p:sp>
      <p:sp>
        <p:nvSpPr>
          <p:cNvPr id="7" name="text-173"/>
          <p:cNvSpPr txBox="1"/>
          <p:nvPr/>
        </p:nvSpPr>
        <p:spPr>
          <a:xfrm>
            <a:off x="1051560" y="4754880"/>
            <a:ext cx="7040880" cy="731520"/>
          </a:xfrm>
          <a:prstGeom prst="rect">
            <a:avLst/>
          </a:prstGeom>
          <a:noFill/>
          <a:ln/>
        </p:spPr>
        <p:txBody>
          <a:bodyPr wrap="square" lIns="0" tIns="0" rIns="0" bIns="0" rtlCol="0" anchor="t"/>
          <a:lstStyle/>
          <a:p>
            <a:pPr indent="0" marL="0">
              <a:lnSpc>
                <a:spcPct val="115000"/>
              </a:lnSpc>
              <a:buNone/>
            </a:pPr>
            <a:r>
              <a:rPr lang="en-US" sz="1600" dirty="0">
                <a:solidFill>
                  <a:schemeClr val="tx1"/>
                </a:solidFill>
                <a:latin typeface="Courier New" pitchFamily="34" charset="0"/>
                <a:ea typeface="Courier New" pitchFamily="34" charset="-122"/>
                <a:cs typeface="Courier New" pitchFamily="34" charset="-120"/>
              </a:rPr>
              <a:t>python -m uvicorn api:app --reload</a:t>
            </a:r>
            <a:endParaRPr lang="en-US" sz="1600" dirty="0"/>
          </a:p>
          <a:p>
            <a:pPr indent="0" marL="0">
              <a:lnSpc>
                <a:spcPct val="115000"/>
              </a:lnSpc>
              <a:buNone/>
            </a:pPr>
            <a:r>
              <a:rPr lang="en-US" sz="1600" dirty="0">
                <a:solidFill>
                  <a:schemeClr val="tx1"/>
                </a:solidFill>
                <a:latin typeface="Courier New" pitchFamily="34" charset="0"/>
                <a:ea typeface="Courier New" pitchFamily="34" charset="-122"/>
                <a:cs typeface="Courier New" pitchFamily="34" charset="-120"/>
              </a:rPr>
              <a:t>cd frontend &amp;&amp; npm run dev</a:t>
            </a:r>
            <a:endParaRPr lang="en-US" sz="1600" dirty="0"/>
          </a:p>
        </p:txBody>
      </p:sp>
      <p:sp>
        <p:nvSpPr>
          <p:cNvPr id="8" name="text-174"/>
          <p:cNvSpPr txBox="1"/>
          <p:nvPr/>
        </p:nvSpPr>
        <p:spPr>
          <a:xfrm>
            <a:off x="1051560" y="5532120"/>
            <a:ext cx="7040880" cy="548640"/>
          </a:xfrm>
          <a:prstGeom prst="rect">
            <a:avLst/>
          </a:prstGeom>
          <a:noFill/>
          <a:ln/>
        </p:spPr>
        <p:txBody>
          <a:bodyPr wrap="square" lIns="0" tIns="0" rIns="0" bIns="0" rtlCol="0" anchor="t"/>
          <a:lstStyle/>
          <a:p>
            <a:pPr indent="0" marL="0">
              <a:buNone/>
            </a:pPr>
            <a:r>
              <a:rPr lang="en-US" sz="1600" dirty="0">
                <a:solidFill>
                  <a:schemeClr val="tx2"/>
                </a:solidFill>
              </a:rPr>
              <a:t>Live demo: </a:t>
            </a:r>
            <a:r>
              <a:rPr lang="en-US" sz="1600" dirty="0">
                <a:solidFill>
                  <a:schemeClr val="tx2"/>
                </a:solidFill>
                <a:hlinkClick r:id="rIdBLDemo"/>
              </a:rPr>
              <a:t>branchlab-ggon.onrender.com</a:t>
            </a:r>
          </a:p>
          <a:p>
            <a:pPr indent="0" marL="0">
              <a:buNone/>
            </a:pPr>
            <a:r>
              <a:rPr lang="en-US" sz="1600" dirty="0">
                <a:solidFill>
                  <a:schemeClr val="tx2"/>
                </a:solidFill>
              </a:rPr>
              <a:t>Source: </a:t>
            </a:r>
            <a:r>
              <a:rPr lang="en-US" sz="1600" dirty="0">
                <a:solidFill>
                  <a:schemeClr val="tx2"/>
                </a:solidFill>
                <a:hlinkClick r:id="rIdBLRepo"/>
              </a:rPr>
              <a:t>github.com/SnehaGEE/ast-test-generator</a:t>
            </a:r>
            <a:endParaRPr lang="en-US" sz="1600" dirty="0"/>
          </a:p>
        </p:txBody>
      </p:sp>
    </p:spTree>
  </p:cSld>
  <p:clrMapOvr>
    <a:masterClrMapping/>
  </p:clrMapOvr>
</p:sld>
</file>

<file path=ppt/theme/theme1.xml><?xml version="1.0" encoding="utf-8"?>
<a:theme xmlns:a="http://schemas.openxmlformats.org/drawingml/2006/main" name="BranchLab">
  <a:themeElements>
    <a:clrScheme name="BranchLab">
      <a:dk1>
        <a:srgbClr val="1F2340"/>
      </a:dk1>
      <a:lt1>
        <a:srgbClr val="FFFFFF"/>
      </a:lt1>
      <a:dk2>
        <a:srgbClr val="4A5072"/>
      </a:dk2>
      <a:lt2>
        <a:srgbClr val="F6F7FC"/>
      </a:lt2>
      <a:accent1>
        <a:srgbClr val="4B55C9"/>
      </a:accent1>
      <a:accent2>
        <a:srgbClr val="5B2FAE"/>
      </a:accent2>
      <a:accent3>
        <a:srgbClr val="19673F"/>
      </a:accent3>
      <a:accent4>
        <a:srgbClr val="8A4B0F"/>
      </a:accent4>
      <a:accent5>
        <a:srgbClr val="A1213F"/>
      </a:accent5>
      <a:accent6>
        <a:srgbClr val="6D7CF2"/>
      </a:accent6>
      <a:hlink>
        <a:srgbClr val="4B55C9"/>
      </a:hlink>
      <a:folHlink>
        <a:srgbClr val="5B2FAE"/>
      </a:folHlink>
    </a:clrScheme>
    <a:fontScheme name="BranchLa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BranchLab: AST-Based Targeted Test Case Generation (Project Review II)</dc:title>
  <dc:subject>PptxGenJS Presentation</dc:subject>
  <dc:creator>Sneha Geevargis</dc:creator>
  <cp:lastModifiedBy>Sneha Geevargis</cp:lastModifiedBy>
  <cp:revision>1</cp:revision>
  <dcterms:created xsi:type="dcterms:W3CDTF">2026-10-27T17:33:40Z</dcterms:created>
  <dcterms:modified xsi:type="dcterms:W3CDTF">2026-10-27T17:33:40Z</dcterms:modified>
</cp:coreProperties>
</file>